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74" r:id="rId4"/>
    <p:sldId id="258" r:id="rId5"/>
    <p:sldId id="259" r:id="rId6"/>
    <p:sldId id="260" r:id="rId7"/>
    <p:sldId id="261" r:id="rId8"/>
    <p:sldId id="280" r:id="rId9"/>
    <p:sldId id="264" r:id="rId10"/>
    <p:sldId id="281" r:id="rId11"/>
    <p:sldId id="279" r:id="rId12"/>
    <p:sldId id="282" r:id="rId13"/>
    <p:sldId id="262" r:id="rId14"/>
    <p:sldId id="278" r:id="rId15"/>
    <p:sldId id="283" r:id="rId16"/>
    <p:sldId id="285" r:id="rId17"/>
    <p:sldId id="263" r:id="rId18"/>
    <p:sldId id="284" r:id="rId19"/>
    <p:sldId id="286" r:id="rId20"/>
    <p:sldId id="287" r:id="rId21"/>
    <p:sldId id="265" r:id="rId22"/>
    <p:sldId id="288" r:id="rId23"/>
    <p:sldId id="289" r:id="rId24"/>
    <p:sldId id="266" r:id="rId25"/>
    <p:sldId id="268" r:id="rId26"/>
    <p:sldId id="275"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F59163-F392-DF40-9703-95A058AF5762}" v="155" dt="2025-12-07T20:34:11.9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69"/>
    <p:restoredTop sz="79572"/>
  </p:normalViewPr>
  <p:slideViewPr>
    <p:cSldViewPr snapToGrid="0" snapToObjects="1">
      <p:cViewPr varScale="1">
        <p:scale>
          <a:sx n="105" d="100"/>
          <a:sy n="105" d="100"/>
        </p:scale>
        <p:origin x="2632" y="4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hant Khatiwada" userId="66bdf6dc-2ccf-4464-90a7-7f1c171ab726" providerId="ADAL" clId="{8B3DB927-978C-509C-A0F6-E3D7C26DC3B1}"/>
    <pc:docChg chg="undo custSel addSld delSld modSld sldOrd">
      <pc:chgData name="Prashant Khatiwada" userId="66bdf6dc-2ccf-4464-90a7-7f1c171ab726" providerId="ADAL" clId="{8B3DB927-978C-509C-A0F6-E3D7C26DC3B1}" dt="2025-12-07T20:34:12.161" v="865" actId="20577"/>
      <pc:docMkLst>
        <pc:docMk/>
      </pc:docMkLst>
      <pc:sldChg chg="addSp delSp modSp mod modNotesTx">
        <pc:chgData name="Prashant Khatiwada" userId="66bdf6dc-2ccf-4464-90a7-7f1c171ab726" providerId="ADAL" clId="{8B3DB927-978C-509C-A0F6-E3D7C26DC3B1}" dt="2025-12-07T20:30:09.774" v="835" actId="14100"/>
        <pc:sldMkLst>
          <pc:docMk/>
          <pc:sldMk cId="0" sldId="260"/>
        </pc:sldMkLst>
        <pc:spChg chg="add mod">
          <ac:chgData name="Prashant Khatiwada" userId="66bdf6dc-2ccf-4464-90a7-7f1c171ab726" providerId="ADAL" clId="{8B3DB927-978C-509C-A0F6-E3D7C26DC3B1}" dt="2025-12-07T20:29:02.498" v="823" actId="1076"/>
          <ac:spMkLst>
            <pc:docMk/>
            <pc:sldMk cId="0" sldId="260"/>
            <ac:spMk id="5" creationId="{04730F99-E795-2CEF-B3FC-06BF2F9E0011}"/>
          </ac:spMkLst>
        </pc:spChg>
        <pc:spChg chg="add">
          <ac:chgData name="Prashant Khatiwada" userId="66bdf6dc-2ccf-4464-90a7-7f1c171ab726" providerId="ADAL" clId="{8B3DB927-978C-509C-A0F6-E3D7C26DC3B1}" dt="2025-12-07T20:29:42.137" v="824"/>
          <ac:spMkLst>
            <pc:docMk/>
            <pc:sldMk cId="0" sldId="260"/>
            <ac:spMk id="6" creationId="{9B1AF589-2EAF-6F17-B012-CDA4D59D44DA}"/>
          </ac:spMkLst>
        </pc:spChg>
        <pc:spChg chg="add mod">
          <ac:chgData name="Prashant Khatiwada" userId="66bdf6dc-2ccf-4464-90a7-7f1c171ab726" providerId="ADAL" clId="{8B3DB927-978C-509C-A0F6-E3D7C26DC3B1}" dt="2025-12-07T20:30:09.774" v="835" actId="14100"/>
          <ac:spMkLst>
            <pc:docMk/>
            <pc:sldMk cId="0" sldId="260"/>
            <ac:spMk id="8" creationId="{60A0C010-9891-8815-F7E6-65C4DB634FEF}"/>
          </ac:spMkLst>
        </pc:spChg>
        <pc:spChg chg="add">
          <ac:chgData name="Prashant Khatiwada" userId="66bdf6dc-2ccf-4464-90a7-7f1c171ab726" providerId="ADAL" clId="{8B3DB927-978C-509C-A0F6-E3D7C26DC3B1}" dt="2025-12-07T20:29:44.641" v="826"/>
          <ac:spMkLst>
            <pc:docMk/>
            <pc:sldMk cId="0" sldId="260"/>
            <ac:spMk id="9" creationId="{741D1480-6B74-166F-0BFC-D2DF95E4CA5F}"/>
          </ac:spMkLst>
        </pc:spChg>
        <pc:picChg chg="del">
          <ac:chgData name="Prashant Khatiwada" userId="66bdf6dc-2ccf-4464-90a7-7f1c171ab726" providerId="ADAL" clId="{8B3DB927-978C-509C-A0F6-E3D7C26DC3B1}" dt="2025-12-07T20:28:11.643" v="806" actId="478"/>
          <ac:picMkLst>
            <pc:docMk/>
            <pc:sldMk cId="0" sldId="260"/>
            <ac:picMk id="4" creationId="{5E8E45AA-984C-B8B6-8DF6-37682EEA801A}"/>
          </ac:picMkLst>
        </pc:picChg>
        <pc:picChg chg="del">
          <ac:chgData name="Prashant Khatiwada" userId="66bdf6dc-2ccf-4464-90a7-7f1c171ab726" providerId="ADAL" clId="{8B3DB927-978C-509C-A0F6-E3D7C26DC3B1}" dt="2025-12-07T20:28:12.828" v="807" actId="478"/>
          <ac:picMkLst>
            <pc:docMk/>
            <pc:sldMk cId="0" sldId="260"/>
            <ac:picMk id="7" creationId="{CE976D22-D0A9-382C-024D-D70D9299A3DA}"/>
          </ac:picMkLst>
        </pc:picChg>
      </pc:sldChg>
      <pc:sldChg chg="modSp mod">
        <pc:chgData name="Prashant Khatiwada" userId="66bdf6dc-2ccf-4464-90a7-7f1c171ab726" providerId="ADAL" clId="{8B3DB927-978C-509C-A0F6-E3D7C26DC3B1}" dt="2025-12-07T17:55:33.789" v="3" actId="14100"/>
        <pc:sldMkLst>
          <pc:docMk/>
          <pc:sldMk cId="0" sldId="261"/>
        </pc:sldMkLst>
        <pc:spChg chg="mod">
          <ac:chgData name="Prashant Khatiwada" userId="66bdf6dc-2ccf-4464-90a7-7f1c171ab726" providerId="ADAL" clId="{8B3DB927-978C-509C-A0F6-E3D7C26DC3B1}" dt="2025-12-07T17:55:33.789" v="3" actId="14100"/>
          <ac:spMkLst>
            <pc:docMk/>
            <pc:sldMk cId="0" sldId="261"/>
            <ac:spMk id="3" creationId="{00000000-0000-0000-0000-000000000000}"/>
          </ac:spMkLst>
        </pc:spChg>
        <pc:picChg chg="mod">
          <ac:chgData name="Prashant Khatiwada" userId="66bdf6dc-2ccf-4464-90a7-7f1c171ab726" providerId="ADAL" clId="{8B3DB927-978C-509C-A0F6-E3D7C26DC3B1}" dt="2025-12-07T17:55:28.841" v="1" actId="1076"/>
          <ac:picMkLst>
            <pc:docMk/>
            <pc:sldMk cId="0" sldId="261"/>
            <ac:picMk id="5" creationId="{2A0D9865-22CE-2898-6037-1B4991FBADF4}"/>
          </ac:picMkLst>
        </pc:picChg>
      </pc:sldChg>
      <pc:sldChg chg="addSp modSp mod modNotesTx">
        <pc:chgData name="Prashant Khatiwada" userId="66bdf6dc-2ccf-4464-90a7-7f1c171ab726" providerId="ADAL" clId="{8B3DB927-978C-509C-A0F6-E3D7C26DC3B1}" dt="2025-12-07T19:48:30.935" v="404" actId="1076"/>
        <pc:sldMkLst>
          <pc:docMk/>
          <pc:sldMk cId="0" sldId="263"/>
        </pc:sldMkLst>
        <pc:spChg chg="add mod">
          <ac:chgData name="Prashant Khatiwada" userId="66bdf6dc-2ccf-4464-90a7-7f1c171ab726" providerId="ADAL" clId="{8B3DB927-978C-509C-A0F6-E3D7C26DC3B1}" dt="2025-12-07T19:35:32.259" v="333" actId="20577"/>
          <ac:spMkLst>
            <pc:docMk/>
            <pc:sldMk cId="0" sldId="263"/>
            <ac:spMk id="3" creationId="{D3F1F30A-7802-B293-BF5D-C536AAC27971}"/>
          </ac:spMkLst>
        </pc:spChg>
        <pc:spChg chg="mod">
          <ac:chgData name="Prashant Khatiwada" userId="66bdf6dc-2ccf-4464-90a7-7f1c171ab726" providerId="ADAL" clId="{8B3DB927-978C-509C-A0F6-E3D7C26DC3B1}" dt="2025-12-07T19:48:30.935" v="404" actId="1076"/>
          <ac:spMkLst>
            <pc:docMk/>
            <pc:sldMk cId="0" sldId="263"/>
            <ac:spMk id="8" creationId="{2D3E1EF2-B959-7AE6-F2DB-1799ABE01E3E}"/>
          </ac:spMkLst>
        </pc:spChg>
      </pc:sldChg>
      <pc:sldChg chg="addSp delSp modSp mod modNotesTx">
        <pc:chgData name="Prashant Khatiwada" userId="66bdf6dc-2ccf-4464-90a7-7f1c171ab726" providerId="ADAL" clId="{8B3DB927-978C-509C-A0F6-E3D7C26DC3B1}" dt="2025-12-07T20:31:17.155" v="837" actId="20577"/>
        <pc:sldMkLst>
          <pc:docMk/>
          <pc:sldMk cId="0" sldId="264"/>
        </pc:sldMkLst>
        <pc:spChg chg="add del mod">
          <ac:chgData name="Prashant Khatiwada" userId="66bdf6dc-2ccf-4464-90a7-7f1c171ab726" providerId="ADAL" clId="{8B3DB927-978C-509C-A0F6-E3D7C26DC3B1}" dt="2025-12-07T18:56:49.547" v="24"/>
          <ac:spMkLst>
            <pc:docMk/>
            <pc:sldMk cId="0" sldId="264"/>
            <ac:spMk id="4" creationId="{100E0A41-DD33-C586-3FE9-73972371DE97}"/>
          </ac:spMkLst>
        </pc:spChg>
        <pc:graphicFrameChg chg="add mod modGraphic">
          <ac:chgData name="Prashant Khatiwada" userId="66bdf6dc-2ccf-4464-90a7-7f1c171ab726" providerId="ADAL" clId="{8B3DB927-978C-509C-A0F6-E3D7C26DC3B1}" dt="2025-12-07T18:56:59.204" v="25" actId="12385"/>
          <ac:graphicFrameMkLst>
            <pc:docMk/>
            <pc:sldMk cId="0" sldId="264"/>
            <ac:graphicFrameMk id="3" creationId="{3B1FC75C-B4BB-4827-F642-E2C434A17028}"/>
          </ac:graphicFrameMkLst>
        </pc:graphicFrameChg>
        <pc:graphicFrameChg chg="del">
          <ac:chgData name="Prashant Khatiwada" userId="66bdf6dc-2ccf-4464-90a7-7f1c171ab726" providerId="ADAL" clId="{8B3DB927-978C-509C-A0F6-E3D7C26DC3B1}" dt="2025-12-07T18:55:11.031" v="9" actId="478"/>
          <ac:graphicFrameMkLst>
            <pc:docMk/>
            <pc:sldMk cId="0" sldId="264"/>
            <ac:graphicFrameMk id="13" creationId="{C4F82528-AD60-76BA-146A-5AE57671D8AF}"/>
          </ac:graphicFrameMkLst>
        </pc:graphicFrameChg>
      </pc:sldChg>
      <pc:sldChg chg="addSp delSp modSp mod modNotesTx">
        <pc:chgData name="Prashant Khatiwada" userId="66bdf6dc-2ccf-4464-90a7-7f1c171ab726" providerId="ADAL" clId="{8B3DB927-978C-509C-A0F6-E3D7C26DC3B1}" dt="2025-12-07T20:01:53.181" v="556" actId="12"/>
        <pc:sldMkLst>
          <pc:docMk/>
          <pc:sldMk cId="0" sldId="265"/>
        </pc:sldMkLst>
        <pc:spChg chg="mod">
          <ac:chgData name="Prashant Khatiwada" userId="66bdf6dc-2ccf-4464-90a7-7f1c171ab726" providerId="ADAL" clId="{8B3DB927-978C-509C-A0F6-E3D7C26DC3B1}" dt="2025-12-07T20:01:46.988" v="555" actId="20577"/>
          <ac:spMkLst>
            <pc:docMk/>
            <pc:sldMk cId="0" sldId="265"/>
            <ac:spMk id="2" creationId="{00000000-0000-0000-0000-000000000000}"/>
          </ac:spMkLst>
        </pc:spChg>
        <pc:spChg chg="add mod">
          <ac:chgData name="Prashant Khatiwada" userId="66bdf6dc-2ccf-4464-90a7-7f1c171ab726" providerId="ADAL" clId="{8B3DB927-978C-509C-A0F6-E3D7C26DC3B1}" dt="2025-12-07T20:01:53.181" v="556" actId="12"/>
          <ac:spMkLst>
            <pc:docMk/>
            <pc:sldMk cId="0" sldId="265"/>
            <ac:spMk id="3" creationId="{EA1D06E8-3099-1D33-80D2-6A368987934F}"/>
          </ac:spMkLst>
        </pc:spChg>
        <pc:spChg chg="del">
          <ac:chgData name="Prashant Khatiwada" userId="66bdf6dc-2ccf-4464-90a7-7f1c171ab726" providerId="ADAL" clId="{8B3DB927-978C-509C-A0F6-E3D7C26DC3B1}" dt="2025-12-07T20:01:12.990" v="543" actId="478"/>
          <ac:spMkLst>
            <pc:docMk/>
            <pc:sldMk cId="0" sldId="265"/>
            <ac:spMk id="8" creationId="{57B05BEF-03B5-8287-7976-332882325647}"/>
          </ac:spMkLst>
        </pc:spChg>
        <pc:picChg chg="del">
          <ac:chgData name="Prashant Khatiwada" userId="66bdf6dc-2ccf-4464-90a7-7f1c171ab726" providerId="ADAL" clId="{8B3DB927-978C-509C-A0F6-E3D7C26DC3B1}" dt="2025-12-07T19:59:05.843" v="541" actId="478"/>
          <ac:picMkLst>
            <pc:docMk/>
            <pc:sldMk cId="0" sldId="265"/>
            <ac:picMk id="6" creationId="{5F6C2A9F-62EF-17A2-3871-790D440F6AF3}"/>
          </ac:picMkLst>
        </pc:picChg>
        <pc:picChg chg="del">
          <ac:chgData name="Prashant Khatiwada" userId="66bdf6dc-2ccf-4464-90a7-7f1c171ab726" providerId="ADAL" clId="{8B3DB927-978C-509C-A0F6-E3D7C26DC3B1}" dt="2025-12-07T19:59:04.756" v="540" actId="478"/>
          <ac:picMkLst>
            <pc:docMk/>
            <pc:sldMk cId="0" sldId="265"/>
            <ac:picMk id="7" creationId="{20D45845-847B-EDB8-C614-67B5C1D1B721}"/>
          </ac:picMkLst>
        </pc:picChg>
      </pc:sldChg>
      <pc:sldChg chg="addSp delSp modSp mod delDesignElem chgLayout">
        <pc:chgData name="Prashant Khatiwada" userId="66bdf6dc-2ccf-4464-90a7-7f1c171ab726" providerId="ADAL" clId="{8B3DB927-978C-509C-A0F6-E3D7C26DC3B1}" dt="2025-12-07T20:17:35.216" v="712" actId="13926"/>
        <pc:sldMkLst>
          <pc:docMk/>
          <pc:sldMk cId="0" sldId="266"/>
        </pc:sldMkLst>
        <pc:spChg chg="mod ord">
          <ac:chgData name="Prashant Khatiwada" userId="66bdf6dc-2ccf-4464-90a7-7f1c171ab726" providerId="ADAL" clId="{8B3DB927-978C-509C-A0F6-E3D7C26DC3B1}" dt="2025-12-07T20:13:54.792" v="656" actId="700"/>
          <ac:spMkLst>
            <pc:docMk/>
            <pc:sldMk cId="0" sldId="266"/>
            <ac:spMk id="2" creationId="{00000000-0000-0000-0000-000000000000}"/>
          </ac:spMkLst>
        </pc:spChg>
        <pc:spChg chg="add">
          <ac:chgData name="Prashant Khatiwada" userId="66bdf6dc-2ccf-4464-90a7-7f1c171ab726" providerId="ADAL" clId="{8B3DB927-978C-509C-A0F6-E3D7C26DC3B1}" dt="2025-12-07T20:13:21.087" v="651"/>
          <ac:spMkLst>
            <pc:docMk/>
            <pc:sldMk cId="0" sldId="266"/>
            <ac:spMk id="3" creationId="{5C05B4B8-C9FC-BAC7-D887-2638622A17DD}"/>
          </ac:spMkLst>
        </pc:spChg>
        <pc:spChg chg="del mod">
          <ac:chgData name="Prashant Khatiwada" userId="66bdf6dc-2ccf-4464-90a7-7f1c171ab726" providerId="ADAL" clId="{8B3DB927-978C-509C-A0F6-E3D7C26DC3B1}" dt="2025-12-07T20:13:25.177" v="653"/>
          <ac:spMkLst>
            <pc:docMk/>
            <pc:sldMk cId="0" sldId="266"/>
            <ac:spMk id="4" creationId="{5DDD1CB0-92F4-A3C8-301C-C574B8402939}"/>
          </ac:spMkLst>
        </pc:spChg>
        <pc:spChg chg="add mod ord">
          <ac:chgData name="Prashant Khatiwada" userId="66bdf6dc-2ccf-4464-90a7-7f1c171ab726" providerId="ADAL" clId="{8B3DB927-978C-509C-A0F6-E3D7C26DC3B1}" dt="2025-12-07T20:17:35.216" v="712" actId="13926"/>
          <ac:spMkLst>
            <pc:docMk/>
            <pc:sldMk cId="0" sldId="266"/>
            <ac:spMk id="5" creationId="{1F6D665E-44A9-A0B3-7620-344BCE41801C}"/>
          </ac:spMkLst>
        </pc:spChg>
        <pc:spChg chg="del">
          <ac:chgData name="Prashant Khatiwada" userId="66bdf6dc-2ccf-4464-90a7-7f1c171ab726" providerId="ADAL" clId="{8B3DB927-978C-509C-A0F6-E3D7C26DC3B1}" dt="2025-12-07T20:13:54.792" v="656" actId="700"/>
          <ac:spMkLst>
            <pc:docMk/>
            <pc:sldMk cId="0" sldId="266"/>
            <ac:spMk id="15" creationId="{C9A36457-A5F4-4103-A443-02581C09185B}"/>
          </ac:spMkLst>
        </pc:spChg>
        <pc:spChg chg="del">
          <ac:chgData name="Prashant Khatiwada" userId="66bdf6dc-2ccf-4464-90a7-7f1c171ab726" providerId="ADAL" clId="{8B3DB927-978C-509C-A0F6-E3D7C26DC3B1}" dt="2025-12-07T20:13:54.792" v="656" actId="700"/>
          <ac:spMkLst>
            <pc:docMk/>
            <pc:sldMk cId="0" sldId="266"/>
            <ac:spMk id="16" creationId="{AA5CF486-D9E5-4A66-898A-F3D62B81B15E}"/>
          </ac:spMkLst>
        </pc:spChg>
      </pc:sldChg>
      <pc:sldChg chg="del">
        <pc:chgData name="Prashant Khatiwada" userId="66bdf6dc-2ccf-4464-90a7-7f1c171ab726" providerId="ADAL" clId="{8B3DB927-978C-509C-A0F6-E3D7C26DC3B1}" dt="2025-12-07T20:18:10.721" v="713" actId="2696"/>
        <pc:sldMkLst>
          <pc:docMk/>
          <pc:sldMk cId="0" sldId="267"/>
        </pc:sldMkLst>
      </pc:sldChg>
      <pc:sldChg chg="addSp delSp modSp mod">
        <pc:chgData name="Prashant Khatiwada" userId="66bdf6dc-2ccf-4464-90a7-7f1c171ab726" providerId="ADAL" clId="{8B3DB927-978C-509C-A0F6-E3D7C26DC3B1}" dt="2025-12-07T20:34:12.161" v="865" actId="20577"/>
        <pc:sldMkLst>
          <pc:docMk/>
          <pc:sldMk cId="3122646494" sldId="275"/>
        </pc:sldMkLst>
        <pc:spChg chg="del">
          <ac:chgData name="Prashant Khatiwada" userId="66bdf6dc-2ccf-4464-90a7-7f1c171ab726" providerId="ADAL" clId="{8B3DB927-978C-509C-A0F6-E3D7C26DC3B1}" dt="2025-12-07T20:19:22.283" v="714" actId="478"/>
          <ac:spMkLst>
            <pc:docMk/>
            <pc:sldMk cId="3122646494" sldId="275"/>
            <ac:spMk id="3" creationId="{C88DFCB7-47B7-A1C5-138B-C49CE5E7D406}"/>
          </ac:spMkLst>
        </pc:spChg>
        <pc:spChg chg="add mod">
          <ac:chgData name="Prashant Khatiwada" userId="66bdf6dc-2ccf-4464-90a7-7f1c171ab726" providerId="ADAL" clId="{8B3DB927-978C-509C-A0F6-E3D7C26DC3B1}" dt="2025-12-07T20:34:12.161" v="865" actId="20577"/>
          <ac:spMkLst>
            <pc:docMk/>
            <pc:sldMk cId="3122646494" sldId="275"/>
            <ac:spMk id="4" creationId="{75A64DE2-AD7E-9F31-C2E7-CD459C26F4A2}"/>
          </ac:spMkLst>
        </pc:spChg>
        <pc:spChg chg="mod">
          <ac:chgData name="Prashant Khatiwada" userId="66bdf6dc-2ccf-4464-90a7-7f1c171ab726" providerId="ADAL" clId="{8B3DB927-978C-509C-A0F6-E3D7C26DC3B1}" dt="2025-12-07T20:33:41.635" v="839" actId="1076"/>
          <ac:spMkLst>
            <pc:docMk/>
            <pc:sldMk cId="3122646494" sldId="275"/>
            <ac:spMk id="7" creationId="{5FABF613-4B50-E2C8-0E7D-CC23292A3DE7}"/>
          </ac:spMkLst>
        </pc:spChg>
      </pc:sldChg>
      <pc:sldChg chg="delSp del mod">
        <pc:chgData name="Prashant Khatiwada" userId="66bdf6dc-2ccf-4464-90a7-7f1c171ab726" providerId="ADAL" clId="{8B3DB927-978C-509C-A0F6-E3D7C26DC3B1}" dt="2025-12-07T19:50:29.528" v="418" actId="2696"/>
        <pc:sldMkLst>
          <pc:docMk/>
          <pc:sldMk cId="1005375108" sldId="276"/>
        </pc:sldMkLst>
        <pc:picChg chg="del">
          <ac:chgData name="Prashant Khatiwada" userId="66bdf6dc-2ccf-4464-90a7-7f1c171ab726" providerId="ADAL" clId="{8B3DB927-978C-509C-A0F6-E3D7C26DC3B1}" dt="2025-12-07T19:47:23.499" v="396" actId="478"/>
          <ac:picMkLst>
            <pc:docMk/>
            <pc:sldMk cId="1005375108" sldId="276"/>
            <ac:picMk id="3" creationId="{41B031DA-C0CC-AD0E-5997-19C25019C7AA}"/>
          </ac:picMkLst>
        </pc:picChg>
      </pc:sldChg>
      <pc:sldChg chg="delSp del mod">
        <pc:chgData name="Prashant Khatiwada" userId="66bdf6dc-2ccf-4464-90a7-7f1c171ab726" providerId="ADAL" clId="{8B3DB927-978C-509C-A0F6-E3D7C26DC3B1}" dt="2025-12-07T19:51:33.964" v="422" actId="2696"/>
        <pc:sldMkLst>
          <pc:docMk/>
          <pc:sldMk cId="551112866" sldId="277"/>
        </pc:sldMkLst>
        <pc:picChg chg="del">
          <ac:chgData name="Prashant Khatiwada" userId="66bdf6dc-2ccf-4464-90a7-7f1c171ab726" providerId="ADAL" clId="{8B3DB927-978C-509C-A0F6-E3D7C26DC3B1}" dt="2025-12-07T19:51:20.446" v="419" actId="478"/>
          <ac:picMkLst>
            <pc:docMk/>
            <pc:sldMk cId="551112866" sldId="277"/>
            <ac:picMk id="7" creationId="{BED3A500-D842-4986-EC69-01BD404892BA}"/>
          </ac:picMkLst>
        </pc:picChg>
        <pc:picChg chg="del">
          <ac:chgData name="Prashant Khatiwada" userId="66bdf6dc-2ccf-4464-90a7-7f1c171ab726" providerId="ADAL" clId="{8B3DB927-978C-509C-A0F6-E3D7C26DC3B1}" dt="2025-12-07T19:51:21.709" v="420" actId="478"/>
          <ac:picMkLst>
            <pc:docMk/>
            <pc:sldMk cId="551112866" sldId="277"/>
            <ac:picMk id="8" creationId="{1410C17A-289C-37BC-96E1-8397FF73E6C5}"/>
          </ac:picMkLst>
        </pc:picChg>
      </pc:sldChg>
      <pc:sldChg chg="addSp delSp modSp mod modNotesTx">
        <pc:chgData name="Prashant Khatiwada" userId="66bdf6dc-2ccf-4464-90a7-7f1c171ab726" providerId="ADAL" clId="{8B3DB927-978C-509C-A0F6-E3D7C26DC3B1}" dt="2025-12-07T19:55:09.559" v="467" actId="20577"/>
        <pc:sldMkLst>
          <pc:docMk/>
          <pc:sldMk cId="1621384481" sldId="278"/>
        </pc:sldMkLst>
        <pc:spChg chg="mod">
          <ac:chgData name="Prashant Khatiwada" userId="66bdf6dc-2ccf-4464-90a7-7f1c171ab726" providerId="ADAL" clId="{8B3DB927-978C-509C-A0F6-E3D7C26DC3B1}" dt="2025-12-07T19:55:09.559" v="467" actId="20577"/>
          <ac:spMkLst>
            <pc:docMk/>
            <pc:sldMk cId="1621384481" sldId="278"/>
            <ac:spMk id="2" creationId="{E4A507BF-68FA-66E8-CB42-E1A463116005}"/>
          </ac:spMkLst>
        </pc:spChg>
        <pc:spChg chg="add del">
          <ac:chgData name="Prashant Khatiwada" userId="66bdf6dc-2ccf-4464-90a7-7f1c171ab726" providerId="ADAL" clId="{8B3DB927-978C-509C-A0F6-E3D7C26DC3B1}" dt="2025-12-07T19:23:07.384" v="165" actId="478"/>
          <ac:spMkLst>
            <pc:docMk/>
            <pc:sldMk cId="1621384481" sldId="278"/>
            <ac:spMk id="4" creationId="{EC013ABF-D08A-DFBC-9CCA-BBF9AC69EA03}"/>
          </ac:spMkLst>
        </pc:spChg>
        <pc:spChg chg="add del mod">
          <ac:chgData name="Prashant Khatiwada" userId="66bdf6dc-2ccf-4464-90a7-7f1c171ab726" providerId="ADAL" clId="{8B3DB927-978C-509C-A0F6-E3D7C26DC3B1}" dt="2025-12-07T19:23:09.859" v="166" actId="478"/>
          <ac:spMkLst>
            <pc:docMk/>
            <pc:sldMk cId="1621384481" sldId="278"/>
            <ac:spMk id="6" creationId="{2BE123AE-D90E-4F83-1D99-EC2130870B30}"/>
          </ac:spMkLst>
        </pc:spChg>
        <pc:spChg chg="add del mod">
          <ac:chgData name="Prashant Khatiwada" userId="66bdf6dc-2ccf-4464-90a7-7f1c171ab726" providerId="ADAL" clId="{8B3DB927-978C-509C-A0F6-E3D7C26DC3B1}" dt="2025-12-07T19:23:12.292" v="167" actId="478"/>
          <ac:spMkLst>
            <pc:docMk/>
            <pc:sldMk cId="1621384481" sldId="278"/>
            <ac:spMk id="7" creationId="{598194D0-6A2B-0E86-76BE-17829A9F2E32}"/>
          </ac:spMkLst>
        </pc:spChg>
        <pc:spChg chg="add del mod">
          <ac:chgData name="Prashant Khatiwada" userId="66bdf6dc-2ccf-4464-90a7-7f1c171ab726" providerId="ADAL" clId="{8B3DB927-978C-509C-A0F6-E3D7C26DC3B1}" dt="2025-12-07T19:23:52.208" v="172" actId="478"/>
          <ac:spMkLst>
            <pc:docMk/>
            <pc:sldMk cId="1621384481" sldId="278"/>
            <ac:spMk id="8" creationId="{4C0A6D91-CC73-45D9-9D3A-A108E19E8D16}"/>
          </ac:spMkLst>
        </pc:spChg>
        <pc:spChg chg="add mod">
          <ac:chgData name="Prashant Khatiwada" userId="66bdf6dc-2ccf-4464-90a7-7f1c171ab726" providerId="ADAL" clId="{8B3DB927-978C-509C-A0F6-E3D7C26DC3B1}" dt="2025-12-07T19:25:11.401" v="194" actId="14100"/>
          <ac:spMkLst>
            <pc:docMk/>
            <pc:sldMk cId="1621384481" sldId="278"/>
            <ac:spMk id="9" creationId="{D3F84279-A090-836C-13CC-A5FE1E03FD4C}"/>
          </ac:spMkLst>
        </pc:spChg>
        <pc:spChg chg="add mod">
          <ac:chgData name="Prashant Khatiwada" userId="66bdf6dc-2ccf-4464-90a7-7f1c171ab726" providerId="ADAL" clId="{8B3DB927-978C-509C-A0F6-E3D7C26DC3B1}" dt="2025-12-07T19:25:19.608" v="197" actId="1076"/>
          <ac:spMkLst>
            <pc:docMk/>
            <pc:sldMk cId="1621384481" sldId="278"/>
            <ac:spMk id="11" creationId="{07D18EF2-3F35-A0C2-FF13-7BD66605F55C}"/>
          </ac:spMkLst>
        </pc:spChg>
        <pc:picChg chg="del">
          <ac:chgData name="Prashant Khatiwada" userId="66bdf6dc-2ccf-4464-90a7-7f1c171ab726" providerId="ADAL" clId="{8B3DB927-978C-509C-A0F6-E3D7C26DC3B1}" dt="2025-12-07T19:16:10.785" v="119" actId="478"/>
          <ac:picMkLst>
            <pc:docMk/>
            <pc:sldMk cId="1621384481" sldId="278"/>
            <ac:picMk id="3" creationId="{38199036-A493-7D75-4E3E-8982952E0D45}"/>
          </ac:picMkLst>
        </pc:picChg>
        <pc:picChg chg="del">
          <ac:chgData name="Prashant Khatiwada" userId="66bdf6dc-2ccf-4464-90a7-7f1c171ab726" providerId="ADAL" clId="{8B3DB927-978C-509C-A0F6-E3D7C26DC3B1}" dt="2025-12-07T19:16:12.107" v="120" actId="478"/>
          <ac:picMkLst>
            <pc:docMk/>
            <pc:sldMk cId="1621384481" sldId="278"/>
            <ac:picMk id="4" creationId="{E2D3D8F9-BA36-C553-68C2-DFFA6D75F256}"/>
          </ac:picMkLst>
        </pc:picChg>
        <pc:picChg chg="add mod">
          <ac:chgData name="Prashant Khatiwada" userId="66bdf6dc-2ccf-4464-90a7-7f1c171ab726" providerId="ADAL" clId="{8B3DB927-978C-509C-A0F6-E3D7C26DC3B1}" dt="2025-12-07T19:25:25.032" v="198" actId="1076"/>
          <ac:picMkLst>
            <pc:docMk/>
            <pc:sldMk cId="1621384481" sldId="278"/>
            <ac:picMk id="5" creationId="{1954E2C2-F9E7-8067-B231-207E8592780D}"/>
          </ac:picMkLst>
        </pc:picChg>
      </pc:sldChg>
      <pc:sldChg chg="addSp delSp modSp mod">
        <pc:chgData name="Prashant Khatiwada" userId="66bdf6dc-2ccf-4464-90a7-7f1c171ab726" providerId="ADAL" clId="{8B3DB927-978C-509C-A0F6-E3D7C26DC3B1}" dt="2025-12-07T20:24:48.174" v="804" actId="20577"/>
        <pc:sldMkLst>
          <pc:docMk/>
          <pc:sldMk cId="4067238509" sldId="280"/>
        </pc:sldMkLst>
        <pc:spChg chg="mod">
          <ac:chgData name="Prashant Khatiwada" userId="66bdf6dc-2ccf-4464-90a7-7f1c171ab726" providerId="ADAL" clId="{8B3DB927-978C-509C-A0F6-E3D7C26DC3B1}" dt="2025-12-07T17:56:25.424" v="4" actId="26606"/>
          <ac:spMkLst>
            <pc:docMk/>
            <pc:sldMk cId="4067238509" sldId="280"/>
            <ac:spMk id="2" creationId="{0180B6CC-9AC6-D7EF-F57F-2D384C2E7613}"/>
          </ac:spMkLst>
        </pc:spChg>
        <pc:spChg chg="add mod">
          <ac:chgData name="Prashant Khatiwada" userId="66bdf6dc-2ccf-4464-90a7-7f1c171ab726" providerId="ADAL" clId="{8B3DB927-978C-509C-A0F6-E3D7C26DC3B1}" dt="2025-12-07T20:24:48.174" v="804" actId="20577"/>
          <ac:spMkLst>
            <pc:docMk/>
            <pc:sldMk cId="4067238509" sldId="280"/>
            <ac:spMk id="3" creationId="{2C733012-85D4-686D-E318-8D9D6BF4358E}"/>
          </ac:spMkLst>
        </pc:spChg>
        <pc:spChg chg="del">
          <ac:chgData name="Prashant Khatiwada" userId="66bdf6dc-2ccf-4464-90a7-7f1c171ab726" providerId="ADAL" clId="{8B3DB927-978C-509C-A0F6-E3D7C26DC3B1}" dt="2025-12-07T17:56:25.424" v="4" actId="26606"/>
          <ac:spMkLst>
            <pc:docMk/>
            <pc:sldMk cId="4067238509" sldId="280"/>
            <ac:spMk id="15" creationId="{3C54F4CE-85F0-46ED-80DA-9518C9251AD1}"/>
          </ac:spMkLst>
        </pc:spChg>
        <pc:spChg chg="del">
          <ac:chgData name="Prashant Khatiwada" userId="66bdf6dc-2ccf-4464-90a7-7f1c171ab726" providerId="ADAL" clId="{8B3DB927-978C-509C-A0F6-E3D7C26DC3B1}" dt="2025-12-07T17:56:25.424" v="4" actId="26606"/>
          <ac:spMkLst>
            <pc:docMk/>
            <pc:sldMk cId="4067238509" sldId="280"/>
            <ac:spMk id="17" creationId="{DADD1FCA-8ACB-4958-81DD-4CDD6D3E1921}"/>
          </ac:spMkLst>
        </pc:spChg>
        <pc:spChg chg="add">
          <ac:chgData name="Prashant Khatiwada" userId="66bdf6dc-2ccf-4464-90a7-7f1c171ab726" providerId="ADAL" clId="{8B3DB927-978C-509C-A0F6-E3D7C26DC3B1}" dt="2025-12-07T17:56:25.424" v="4" actId="26606"/>
          <ac:spMkLst>
            <pc:docMk/>
            <pc:sldMk cId="4067238509" sldId="280"/>
            <ac:spMk id="22" creationId="{A4AC5506-6312-4701-8D3C-40187889A947}"/>
          </ac:spMkLst>
        </pc:spChg>
        <pc:graphicFrameChg chg="mod modGraphic">
          <ac:chgData name="Prashant Khatiwada" userId="66bdf6dc-2ccf-4464-90a7-7f1c171ab726" providerId="ADAL" clId="{8B3DB927-978C-509C-A0F6-E3D7C26DC3B1}" dt="2025-12-07T20:21:23.062" v="733" actId="1076"/>
          <ac:graphicFrameMkLst>
            <pc:docMk/>
            <pc:sldMk cId="4067238509" sldId="280"/>
            <ac:graphicFrameMk id="7" creationId="{0E0CCA97-8251-FD0F-1E79-270839B687B4}"/>
          </ac:graphicFrameMkLst>
        </pc:graphicFrameChg>
      </pc:sldChg>
      <pc:sldChg chg="addSp delSp modSp new mod">
        <pc:chgData name="Prashant Khatiwada" userId="66bdf6dc-2ccf-4464-90a7-7f1c171ab726" providerId="ADAL" clId="{8B3DB927-978C-509C-A0F6-E3D7C26DC3B1}" dt="2025-12-07T18:58:24.297" v="42"/>
        <pc:sldMkLst>
          <pc:docMk/>
          <pc:sldMk cId="1570970160" sldId="281"/>
        </pc:sldMkLst>
        <pc:spChg chg="mod">
          <ac:chgData name="Prashant Khatiwada" userId="66bdf6dc-2ccf-4464-90a7-7f1c171ab726" providerId="ADAL" clId="{8B3DB927-978C-509C-A0F6-E3D7C26DC3B1}" dt="2025-12-07T18:58:24.297" v="42"/>
          <ac:spMkLst>
            <pc:docMk/>
            <pc:sldMk cId="1570970160" sldId="281"/>
            <ac:spMk id="2" creationId="{20D9E965-133C-0DFA-DFE2-38F97A2C3F1F}"/>
          </ac:spMkLst>
        </pc:spChg>
        <pc:spChg chg="add del mod">
          <ac:chgData name="Prashant Khatiwada" userId="66bdf6dc-2ccf-4464-90a7-7f1c171ab726" providerId="ADAL" clId="{8B3DB927-978C-509C-A0F6-E3D7C26DC3B1}" dt="2025-12-07T18:57:42.252" v="35" actId="113"/>
          <ac:spMkLst>
            <pc:docMk/>
            <pc:sldMk cId="1570970160" sldId="281"/>
            <ac:spMk id="3" creationId="{368591CE-B97B-E47B-799A-DC7B053AF8A2}"/>
          </ac:spMkLst>
        </pc:spChg>
        <pc:spChg chg="add mod">
          <ac:chgData name="Prashant Khatiwada" userId="66bdf6dc-2ccf-4464-90a7-7f1c171ab726" providerId="ADAL" clId="{8B3DB927-978C-509C-A0F6-E3D7C26DC3B1}" dt="2025-12-07T18:57:28.883" v="28"/>
          <ac:spMkLst>
            <pc:docMk/>
            <pc:sldMk cId="1570970160" sldId="281"/>
            <ac:spMk id="4" creationId="{E7D3B471-CDFB-E72A-392F-63FA72491B14}"/>
          </ac:spMkLst>
        </pc:spChg>
      </pc:sldChg>
      <pc:sldChg chg="addSp delSp modSp new mod">
        <pc:chgData name="Prashant Khatiwada" userId="66bdf6dc-2ccf-4464-90a7-7f1c171ab726" providerId="ADAL" clId="{8B3DB927-978C-509C-A0F6-E3D7C26DC3B1}" dt="2025-12-07T19:05:37.802" v="77" actId="13926"/>
        <pc:sldMkLst>
          <pc:docMk/>
          <pc:sldMk cId="3978165169" sldId="282"/>
        </pc:sldMkLst>
        <pc:spChg chg="mod">
          <ac:chgData name="Prashant Khatiwada" userId="66bdf6dc-2ccf-4464-90a7-7f1c171ab726" providerId="ADAL" clId="{8B3DB927-978C-509C-A0F6-E3D7C26DC3B1}" dt="2025-12-07T19:03:28.638" v="50" actId="20577"/>
          <ac:spMkLst>
            <pc:docMk/>
            <pc:sldMk cId="3978165169" sldId="282"/>
            <ac:spMk id="2" creationId="{9F90F923-01F6-176D-ADBC-5E3F09BB02C1}"/>
          </ac:spMkLst>
        </pc:spChg>
        <pc:spChg chg="del mod">
          <ac:chgData name="Prashant Khatiwada" userId="66bdf6dc-2ccf-4464-90a7-7f1c171ab726" providerId="ADAL" clId="{8B3DB927-978C-509C-A0F6-E3D7C26DC3B1}" dt="2025-12-07T19:03:05.245" v="45"/>
          <ac:spMkLst>
            <pc:docMk/>
            <pc:sldMk cId="3978165169" sldId="282"/>
            <ac:spMk id="3" creationId="{87C6358B-EAEE-7C28-6004-AF7AA032F726}"/>
          </ac:spMkLst>
        </pc:spChg>
        <pc:graphicFrameChg chg="add mod modGraphic">
          <ac:chgData name="Prashant Khatiwada" userId="66bdf6dc-2ccf-4464-90a7-7f1c171ab726" providerId="ADAL" clId="{8B3DB927-978C-509C-A0F6-E3D7C26DC3B1}" dt="2025-12-07T19:05:37.802" v="77" actId="13926"/>
          <ac:graphicFrameMkLst>
            <pc:docMk/>
            <pc:sldMk cId="3978165169" sldId="282"/>
            <ac:graphicFrameMk id="4" creationId="{02B58533-EFBA-1292-14F8-6C988EA4EBF7}"/>
          </ac:graphicFrameMkLst>
        </pc:graphicFrameChg>
      </pc:sldChg>
      <pc:sldChg chg="addSp delSp modSp new mod">
        <pc:chgData name="Prashant Khatiwada" userId="66bdf6dc-2ccf-4464-90a7-7f1c171ab726" providerId="ADAL" clId="{8B3DB927-978C-509C-A0F6-E3D7C26DC3B1}" dt="2025-12-07T19:27:11.454" v="216" actId="20577"/>
        <pc:sldMkLst>
          <pc:docMk/>
          <pc:sldMk cId="2013852633" sldId="283"/>
        </pc:sldMkLst>
        <pc:spChg chg="mod">
          <ac:chgData name="Prashant Khatiwada" userId="66bdf6dc-2ccf-4464-90a7-7f1c171ab726" providerId="ADAL" clId="{8B3DB927-978C-509C-A0F6-E3D7C26DC3B1}" dt="2025-12-07T19:27:11.454" v="216" actId="20577"/>
          <ac:spMkLst>
            <pc:docMk/>
            <pc:sldMk cId="2013852633" sldId="283"/>
            <ac:spMk id="2" creationId="{1F865DE9-78EC-76D2-4CD0-9B87741158B6}"/>
          </ac:spMkLst>
        </pc:spChg>
        <pc:spChg chg="del">
          <ac:chgData name="Prashant Khatiwada" userId="66bdf6dc-2ccf-4464-90a7-7f1c171ab726" providerId="ADAL" clId="{8B3DB927-978C-509C-A0F6-E3D7C26DC3B1}" dt="2025-12-07T19:26:01.592" v="200" actId="478"/>
          <ac:spMkLst>
            <pc:docMk/>
            <pc:sldMk cId="2013852633" sldId="283"/>
            <ac:spMk id="3" creationId="{1F85A037-226C-D5D3-5054-FF14395DE975}"/>
          </ac:spMkLst>
        </pc:spChg>
        <pc:picChg chg="add mod">
          <ac:chgData name="Prashant Khatiwada" userId="66bdf6dc-2ccf-4464-90a7-7f1c171ab726" providerId="ADAL" clId="{8B3DB927-978C-509C-A0F6-E3D7C26DC3B1}" dt="2025-12-07T19:26:10.878" v="205" actId="14100"/>
          <ac:picMkLst>
            <pc:docMk/>
            <pc:sldMk cId="2013852633" sldId="283"/>
            <ac:picMk id="4" creationId="{1A16A4F3-8034-9D4B-BF05-BE9B846688B7}"/>
          </ac:picMkLst>
        </pc:picChg>
      </pc:sldChg>
      <pc:sldChg chg="addSp delSp modSp add del mod">
        <pc:chgData name="Prashant Khatiwada" userId="66bdf6dc-2ccf-4464-90a7-7f1c171ab726" providerId="ADAL" clId="{8B3DB927-978C-509C-A0F6-E3D7C26DC3B1}" dt="2025-12-07T19:05:50.903" v="80" actId="2696"/>
        <pc:sldMkLst>
          <pc:docMk/>
          <pc:sldMk cId="3788132075" sldId="283"/>
        </pc:sldMkLst>
        <pc:spChg chg="add mod">
          <ac:chgData name="Prashant Khatiwada" userId="66bdf6dc-2ccf-4464-90a7-7f1c171ab726" providerId="ADAL" clId="{8B3DB927-978C-509C-A0F6-E3D7C26DC3B1}" dt="2025-12-07T19:05:43.283" v="79" actId="27636"/>
          <ac:spMkLst>
            <pc:docMk/>
            <pc:sldMk cId="3788132075" sldId="283"/>
            <ac:spMk id="5" creationId="{FDB1A316-08CB-B59D-BB50-CF37B121E707}"/>
          </ac:spMkLst>
        </pc:spChg>
        <pc:spChg chg="add">
          <ac:chgData name="Prashant Khatiwada" userId="66bdf6dc-2ccf-4464-90a7-7f1c171ab726" providerId="ADAL" clId="{8B3DB927-978C-509C-A0F6-E3D7C26DC3B1}" dt="2025-12-07T19:04:54.596" v="68"/>
          <ac:spMkLst>
            <pc:docMk/>
            <pc:sldMk cId="3788132075" sldId="283"/>
            <ac:spMk id="6" creationId="{DFAF9052-9F44-E68D-2EAA-B80D1534D00C}"/>
          </ac:spMkLst>
        </pc:spChg>
        <pc:graphicFrameChg chg="del">
          <ac:chgData name="Prashant Khatiwada" userId="66bdf6dc-2ccf-4464-90a7-7f1c171ab726" providerId="ADAL" clId="{8B3DB927-978C-509C-A0F6-E3D7C26DC3B1}" dt="2025-12-07T19:04:31.409" v="63" actId="478"/>
          <ac:graphicFrameMkLst>
            <pc:docMk/>
            <pc:sldMk cId="3788132075" sldId="283"/>
            <ac:graphicFrameMk id="4" creationId="{A647C234-5757-5F5A-536E-3680643F8F7B}"/>
          </ac:graphicFrameMkLst>
        </pc:graphicFrameChg>
      </pc:sldChg>
      <pc:sldChg chg="addSp delSp modSp new mod">
        <pc:chgData name="Prashant Khatiwada" userId="66bdf6dc-2ccf-4464-90a7-7f1c171ab726" providerId="ADAL" clId="{8B3DB927-978C-509C-A0F6-E3D7C26DC3B1}" dt="2025-12-07T19:39:02.110" v="338" actId="1076"/>
        <pc:sldMkLst>
          <pc:docMk/>
          <pc:sldMk cId="3037621781" sldId="284"/>
        </pc:sldMkLst>
        <pc:spChg chg="mod">
          <ac:chgData name="Prashant Khatiwada" userId="66bdf6dc-2ccf-4464-90a7-7f1c171ab726" providerId="ADAL" clId="{8B3DB927-978C-509C-A0F6-E3D7C26DC3B1}" dt="2025-12-07T19:29:17.156" v="232" actId="20577"/>
          <ac:spMkLst>
            <pc:docMk/>
            <pc:sldMk cId="3037621781" sldId="284"/>
            <ac:spMk id="2" creationId="{8B2B798E-D782-E580-9E19-7A352785B126}"/>
          </ac:spMkLst>
        </pc:spChg>
        <pc:spChg chg="del">
          <ac:chgData name="Prashant Khatiwada" userId="66bdf6dc-2ccf-4464-90a7-7f1c171ab726" providerId="ADAL" clId="{8B3DB927-978C-509C-A0F6-E3D7C26DC3B1}" dt="2025-12-07T19:29:04.790" v="218" actId="478"/>
          <ac:spMkLst>
            <pc:docMk/>
            <pc:sldMk cId="3037621781" sldId="284"/>
            <ac:spMk id="3" creationId="{0A9730D1-6A7C-63B2-5306-30D5DD2F7F14}"/>
          </ac:spMkLst>
        </pc:spChg>
        <pc:picChg chg="add mod">
          <ac:chgData name="Prashant Khatiwada" userId="66bdf6dc-2ccf-4464-90a7-7f1c171ab726" providerId="ADAL" clId="{8B3DB927-978C-509C-A0F6-E3D7C26DC3B1}" dt="2025-12-07T19:39:02.110" v="338" actId="1076"/>
          <ac:picMkLst>
            <pc:docMk/>
            <pc:sldMk cId="3037621781" sldId="284"/>
            <ac:picMk id="4" creationId="{202C0D4D-F8D1-C9F2-3DB4-25B78BB8D2B2}"/>
          </ac:picMkLst>
        </pc:picChg>
      </pc:sldChg>
      <pc:sldChg chg="addSp delSp modSp add mod ord modNotesTx">
        <pc:chgData name="Prashant Khatiwada" userId="66bdf6dc-2ccf-4464-90a7-7f1c171ab726" providerId="ADAL" clId="{8B3DB927-978C-509C-A0F6-E3D7C26DC3B1}" dt="2025-12-07T19:55:14.988" v="469" actId="20577"/>
        <pc:sldMkLst>
          <pc:docMk/>
          <pc:sldMk cId="73782403" sldId="285"/>
        </pc:sldMkLst>
        <pc:spChg chg="mod">
          <ac:chgData name="Prashant Khatiwada" userId="66bdf6dc-2ccf-4464-90a7-7f1c171ab726" providerId="ADAL" clId="{8B3DB927-978C-509C-A0F6-E3D7C26DC3B1}" dt="2025-12-07T19:55:14.988" v="469" actId="20577"/>
          <ac:spMkLst>
            <pc:docMk/>
            <pc:sldMk cId="73782403" sldId="285"/>
            <ac:spMk id="2" creationId="{6E26C584-9629-AE47-78AA-ECB7C793DCC9}"/>
          </ac:spMkLst>
        </pc:spChg>
        <pc:spChg chg="add">
          <ac:chgData name="Prashant Khatiwada" userId="66bdf6dc-2ccf-4464-90a7-7f1c171ab726" providerId="ADAL" clId="{8B3DB927-978C-509C-A0F6-E3D7C26DC3B1}" dt="2025-12-07T19:30:58.624" v="281"/>
          <ac:spMkLst>
            <pc:docMk/>
            <pc:sldMk cId="73782403" sldId="285"/>
            <ac:spMk id="3" creationId="{09CB8C84-2925-FCB8-FF67-388E744D4B3F}"/>
          </ac:spMkLst>
        </pc:spChg>
        <pc:spChg chg="add">
          <ac:chgData name="Prashant Khatiwada" userId="66bdf6dc-2ccf-4464-90a7-7f1c171ab726" providerId="ADAL" clId="{8B3DB927-978C-509C-A0F6-E3D7C26DC3B1}" dt="2025-12-07T19:31:48.333" v="289"/>
          <ac:spMkLst>
            <pc:docMk/>
            <pc:sldMk cId="73782403" sldId="285"/>
            <ac:spMk id="6" creationId="{02631D74-9EB6-11D2-C469-C541ADDC12E0}"/>
          </ac:spMkLst>
        </pc:spChg>
        <pc:spChg chg="add mod">
          <ac:chgData name="Prashant Khatiwada" userId="66bdf6dc-2ccf-4464-90a7-7f1c171ab726" providerId="ADAL" clId="{8B3DB927-978C-509C-A0F6-E3D7C26DC3B1}" dt="2025-12-07T19:49:04.054" v="416" actId="1076"/>
          <ac:spMkLst>
            <pc:docMk/>
            <pc:sldMk cId="73782403" sldId="285"/>
            <ac:spMk id="7" creationId="{F2EE4C62-059A-6052-705B-25479514B5C2}"/>
          </ac:spMkLst>
        </pc:spChg>
        <pc:spChg chg="mod">
          <ac:chgData name="Prashant Khatiwada" userId="66bdf6dc-2ccf-4464-90a7-7f1c171ab726" providerId="ADAL" clId="{8B3DB927-978C-509C-A0F6-E3D7C26DC3B1}" dt="2025-12-07T19:31:04.054" v="284" actId="20577"/>
          <ac:spMkLst>
            <pc:docMk/>
            <pc:sldMk cId="73782403" sldId="285"/>
            <ac:spMk id="9" creationId="{B09A5DC0-6C82-4693-4E41-12173C9EED38}"/>
          </ac:spMkLst>
        </pc:spChg>
        <pc:spChg chg="mod">
          <ac:chgData name="Prashant Khatiwada" userId="66bdf6dc-2ccf-4464-90a7-7f1c171ab726" providerId="ADAL" clId="{8B3DB927-978C-509C-A0F6-E3D7C26DC3B1}" dt="2025-12-07T19:49:07.254" v="417" actId="1076"/>
          <ac:spMkLst>
            <pc:docMk/>
            <pc:sldMk cId="73782403" sldId="285"/>
            <ac:spMk id="11" creationId="{73BC9FCC-F22E-D234-0826-028276030147}"/>
          </ac:spMkLst>
        </pc:spChg>
        <pc:picChg chg="add mod">
          <ac:chgData name="Prashant Khatiwada" userId="66bdf6dc-2ccf-4464-90a7-7f1c171ab726" providerId="ADAL" clId="{8B3DB927-978C-509C-A0F6-E3D7C26DC3B1}" dt="2025-12-07T19:48:51.143" v="413" actId="1076"/>
          <ac:picMkLst>
            <pc:docMk/>
            <pc:sldMk cId="73782403" sldId="285"/>
            <ac:picMk id="4" creationId="{225DDC5D-B0C3-A814-C580-1FC3D2450A08}"/>
          </ac:picMkLst>
        </pc:picChg>
        <pc:picChg chg="del">
          <ac:chgData name="Prashant Khatiwada" userId="66bdf6dc-2ccf-4464-90a7-7f1c171ab726" providerId="ADAL" clId="{8B3DB927-978C-509C-A0F6-E3D7C26DC3B1}" dt="2025-12-07T19:31:17.967" v="285" actId="478"/>
          <ac:picMkLst>
            <pc:docMk/>
            <pc:sldMk cId="73782403" sldId="285"/>
            <ac:picMk id="5" creationId="{B876140A-14B0-AA61-BCFF-B3441DBF7BBE}"/>
          </ac:picMkLst>
        </pc:picChg>
      </pc:sldChg>
      <pc:sldChg chg="addSp delSp modSp add mod ord">
        <pc:chgData name="Prashant Khatiwada" userId="66bdf6dc-2ccf-4464-90a7-7f1c171ab726" providerId="ADAL" clId="{8B3DB927-978C-509C-A0F6-E3D7C26DC3B1}" dt="2025-12-07T19:55:21.945" v="471" actId="20577"/>
        <pc:sldMkLst>
          <pc:docMk/>
          <pc:sldMk cId="105708127" sldId="286"/>
        </pc:sldMkLst>
        <pc:spChg chg="mod">
          <ac:chgData name="Prashant Khatiwada" userId="66bdf6dc-2ccf-4464-90a7-7f1c171ab726" providerId="ADAL" clId="{8B3DB927-978C-509C-A0F6-E3D7C26DC3B1}" dt="2025-12-07T19:55:21.945" v="471" actId="20577"/>
          <ac:spMkLst>
            <pc:docMk/>
            <pc:sldMk cId="105708127" sldId="286"/>
            <ac:spMk id="2" creationId="{F3AE553F-8DC0-746D-4E99-259F541534FA}"/>
          </ac:spMkLst>
        </pc:spChg>
        <pc:spChg chg="add">
          <ac:chgData name="Prashant Khatiwada" userId="66bdf6dc-2ccf-4464-90a7-7f1c171ab726" providerId="ADAL" clId="{8B3DB927-978C-509C-A0F6-E3D7C26DC3B1}" dt="2025-12-07T19:39:54.792" v="347"/>
          <ac:spMkLst>
            <pc:docMk/>
            <pc:sldMk cId="105708127" sldId="286"/>
            <ac:spMk id="3" creationId="{1F46D6E9-7323-8874-4A42-1D1BA58FE4AF}"/>
          </ac:spMkLst>
        </pc:spChg>
        <pc:spChg chg="add mod">
          <ac:chgData name="Prashant Khatiwada" userId="66bdf6dc-2ccf-4464-90a7-7f1c171ab726" providerId="ADAL" clId="{8B3DB927-978C-509C-A0F6-E3D7C26DC3B1}" dt="2025-12-07T19:47:09.369" v="394" actId="1076"/>
          <ac:spMkLst>
            <pc:docMk/>
            <pc:sldMk cId="105708127" sldId="286"/>
            <ac:spMk id="6" creationId="{17686A96-371C-B0B6-0BAE-E1E8AF919323}"/>
          </ac:spMkLst>
        </pc:spChg>
        <pc:spChg chg="add">
          <ac:chgData name="Prashant Khatiwada" userId="66bdf6dc-2ccf-4464-90a7-7f1c171ab726" providerId="ADAL" clId="{8B3DB927-978C-509C-A0F6-E3D7C26DC3B1}" dt="2025-12-07T19:41:51.098" v="363"/>
          <ac:spMkLst>
            <pc:docMk/>
            <pc:sldMk cId="105708127" sldId="286"/>
            <ac:spMk id="7" creationId="{ABFA6A61-A68D-14A7-B53E-09861FDDD9EF}"/>
          </ac:spMkLst>
        </pc:spChg>
        <pc:spChg chg="add">
          <ac:chgData name="Prashant Khatiwada" userId="66bdf6dc-2ccf-4464-90a7-7f1c171ab726" providerId="ADAL" clId="{8B3DB927-978C-509C-A0F6-E3D7C26DC3B1}" dt="2025-12-07T19:46:47.817" v="387"/>
          <ac:spMkLst>
            <pc:docMk/>
            <pc:sldMk cId="105708127" sldId="286"/>
            <ac:spMk id="8" creationId="{8ED6B5E5-1622-AB41-CCD8-299C835E2881}"/>
          </ac:spMkLst>
        </pc:spChg>
        <pc:spChg chg="mod">
          <ac:chgData name="Prashant Khatiwada" userId="66bdf6dc-2ccf-4464-90a7-7f1c171ab726" providerId="ADAL" clId="{8B3DB927-978C-509C-A0F6-E3D7C26DC3B1}" dt="2025-12-07T19:39:58.474" v="349"/>
          <ac:spMkLst>
            <pc:docMk/>
            <pc:sldMk cId="105708127" sldId="286"/>
            <ac:spMk id="9" creationId="{B223C604-8E56-4ABA-E309-1EA9482CAB73}"/>
          </ac:spMkLst>
        </pc:spChg>
        <pc:spChg chg="mod">
          <ac:chgData name="Prashant Khatiwada" userId="66bdf6dc-2ccf-4464-90a7-7f1c171ab726" providerId="ADAL" clId="{8B3DB927-978C-509C-A0F6-E3D7C26DC3B1}" dt="2025-12-07T19:47:12.363" v="395" actId="1076"/>
          <ac:spMkLst>
            <pc:docMk/>
            <pc:sldMk cId="105708127" sldId="286"/>
            <ac:spMk id="11" creationId="{3E3120F9-8AB8-3235-3EAA-1B66547DD7DE}"/>
          </ac:spMkLst>
        </pc:spChg>
        <pc:picChg chg="del">
          <ac:chgData name="Prashant Khatiwada" userId="66bdf6dc-2ccf-4464-90a7-7f1c171ab726" providerId="ADAL" clId="{8B3DB927-978C-509C-A0F6-E3D7C26DC3B1}" dt="2025-12-07T19:40:00.751" v="350" actId="478"/>
          <ac:picMkLst>
            <pc:docMk/>
            <pc:sldMk cId="105708127" sldId="286"/>
            <ac:picMk id="4" creationId="{30E23D75-B31F-4015-BBE5-57CBAA34F947}"/>
          </ac:picMkLst>
        </pc:picChg>
        <pc:picChg chg="add mod">
          <ac:chgData name="Prashant Khatiwada" userId="66bdf6dc-2ccf-4464-90a7-7f1c171ab726" providerId="ADAL" clId="{8B3DB927-978C-509C-A0F6-E3D7C26DC3B1}" dt="2025-12-07T19:40:17.283" v="352" actId="1076"/>
          <ac:picMkLst>
            <pc:docMk/>
            <pc:sldMk cId="105708127" sldId="286"/>
            <ac:picMk id="5" creationId="{9F0492B5-2BDA-55E1-C069-DBB93F9DEA89}"/>
          </ac:picMkLst>
        </pc:picChg>
      </pc:sldChg>
      <pc:sldChg chg="addSp delSp modSp add mod modNotesTx">
        <pc:chgData name="Prashant Khatiwada" userId="66bdf6dc-2ccf-4464-90a7-7f1c171ab726" providerId="ADAL" clId="{8B3DB927-978C-509C-A0F6-E3D7C26DC3B1}" dt="2025-12-07T19:58:34.468" v="539" actId="1076"/>
        <pc:sldMkLst>
          <pc:docMk/>
          <pc:sldMk cId="1325967455" sldId="287"/>
        </pc:sldMkLst>
        <pc:spChg chg="mod">
          <ac:chgData name="Prashant Khatiwada" userId="66bdf6dc-2ccf-4464-90a7-7f1c171ab726" providerId="ADAL" clId="{8B3DB927-978C-509C-A0F6-E3D7C26DC3B1}" dt="2025-12-07T19:55:28.586" v="475" actId="20577"/>
          <ac:spMkLst>
            <pc:docMk/>
            <pc:sldMk cId="1325967455" sldId="287"/>
            <ac:spMk id="2" creationId="{094EBABC-9890-3078-AF6C-5589A3AA4F8C}"/>
          </ac:spMkLst>
        </pc:spChg>
        <pc:spChg chg="add">
          <ac:chgData name="Prashant Khatiwada" userId="66bdf6dc-2ccf-4464-90a7-7f1c171ab726" providerId="ADAL" clId="{8B3DB927-978C-509C-A0F6-E3D7C26DC3B1}" dt="2025-12-07T19:52:05.514" v="433"/>
          <ac:spMkLst>
            <pc:docMk/>
            <pc:sldMk cId="1325967455" sldId="287"/>
            <ac:spMk id="3" creationId="{391B9F68-A3AB-E684-5187-ABD0D427E8B0}"/>
          </ac:spMkLst>
        </pc:spChg>
        <pc:spChg chg="mod">
          <ac:chgData name="Prashant Khatiwada" userId="66bdf6dc-2ccf-4464-90a7-7f1c171ab726" providerId="ADAL" clId="{8B3DB927-978C-509C-A0F6-E3D7C26DC3B1}" dt="2025-12-07T19:58:34.468" v="539" actId="1076"/>
          <ac:spMkLst>
            <pc:docMk/>
            <pc:sldMk cId="1325967455" sldId="287"/>
            <ac:spMk id="6" creationId="{CAD99F2D-93F9-B401-316A-20AC788674E1}"/>
          </ac:spMkLst>
        </pc:spChg>
        <pc:spChg chg="add">
          <ac:chgData name="Prashant Khatiwada" userId="66bdf6dc-2ccf-4464-90a7-7f1c171ab726" providerId="ADAL" clId="{8B3DB927-978C-509C-A0F6-E3D7C26DC3B1}" dt="2025-12-07T19:53:45.152" v="452"/>
          <ac:spMkLst>
            <pc:docMk/>
            <pc:sldMk cId="1325967455" sldId="287"/>
            <ac:spMk id="8" creationId="{03287720-5180-5EE0-8D5E-5544B5A85029}"/>
          </ac:spMkLst>
        </pc:spChg>
        <pc:spChg chg="mod">
          <ac:chgData name="Prashant Khatiwada" userId="66bdf6dc-2ccf-4464-90a7-7f1c171ab726" providerId="ADAL" clId="{8B3DB927-978C-509C-A0F6-E3D7C26DC3B1}" dt="2025-12-07T19:52:09.488" v="435"/>
          <ac:spMkLst>
            <pc:docMk/>
            <pc:sldMk cId="1325967455" sldId="287"/>
            <ac:spMk id="9" creationId="{528D64B5-CB73-BF8D-9170-401C65D9402A}"/>
          </ac:spMkLst>
        </pc:spChg>
        <pc:spChg chg="add">
          <ac:chgData name="Prashant Khatiwada" userId="66bdf6dc-2ccf-4464-90a7-7f1c171ab726" providerId="ADAL" clId="{8B3DB927-978C-509C-A0F6-E3D7C26DC3B1}" dt="2025-12-07T19:56:03.346" v="476"/>
          <ac:spMkLst>
            <pc:docMk/>
            <pc:sldMk cId="1325967455" sldId="287"/>
            <ac:spMk id="10" creationId="{081ADBE1-501E-F872-2085-3D16F00A13F2}"/>
          </ac:spMkLst>
        </pc:spChg>
        <pc:spChg chg="mod">
          <ac:chgData name="Prashant Khatiwada" userId="66bdf6dc-2ccf-4464-90a7-7f1c171ab726" providerId="ADAL" clId="{8B3DB927-978C-509C-A0F6-E3D7C26DC3B1}" dt="2025-12-07T19:53:54.703" v="456" actId="1076"/>
          <ac:spMkLst>
            <pc:docMk/>
            <pc:sldMk cId="1325967455" sldId="287"/>
            <ac:spMk id="11" creationId="{BF9FF4D4-275D-014F-B8F8-7797FC31A875}"/>
          </ac:spMkLst>
        </pc:spChg>
        <pc:spChg chg="add mod">
          <ac:chgData name="Prashant Khatiwada" userId="66bdf6dc-2ccf-4464-90a7-7f1c171ab726" providerId="ADAL" clId="{8B3DB927-978C-509C-A0F6-E3D7C26DC3B1}" dt="2025-12-07T19:56:14.989" v="480"/>
          <ac:spMkLst>
            <pc:docMk/>
            <pc:sldMk cId="1325967455" sldId="287"/>
            <ac:spMk id="12" creationId="{FA4B9276-FAF5-DEBD-4644-778F4EB23CEE}"/>
          </ac:spMkLst>
        </pc:spChg>
        <pc:spChg chg="add">
          <ac:chgData name="Prashant Khatiwada" userId="66bdf6dc-2ccf-4464-90a7-7f1c171ab726" providerId="ADAL" clId="{8B3DB927-978C-509C-A0F6-E3D7C26DC3B1}" dt="2025-12-07T19:56:50.440" v="490"/>
          <ac:spMkLst>
            <pc:docMk/>
            <pc:sldMk cId="1325967455" sldId="287"/>
            <ac:spMk id="13" creationId="{F8422E10-FAC4-49F8-9BC0-5AA713012F37}"/>
          </ac:spMkLst>
        </pc:spChg>
        <pc:picChg chg="add mod">
          <ac:chgData name="Prashant Khatiwada" userId="66bdf6dc-2ccf-4464-90a7-7f1c171ab726" providerId="ADAL" clId="{8B3DB927-978C-509C-A0F6-E3D7C26DC3B1}" dt="2025-12-07T19:52:38.642" v="438" actId="1076"/>
          <ac:picMkLst>
            <pc:docMk/>
            <pc:sldMk cId="1325967455" sldId="287"/>
            <ac:picMk id="4" creationId="{CD5BA302-DAF5-8D16-A520-2701BD84DD61}"/>
          </ac:picMkLst>
        </pc:picChg>
        <pc:picChg chg="del">
          <ac:chgData name="Prashant Khatiwada" userId="66bdf6dc-2ccf-4464-90a7-7f1c171ab726" providerId="ADAL" clId="{8B3DB927-978C-509C-A0F6-E3D7C26DC3B1}" dt="2025-12-07T19:52:34.757" v="436" actId="478"/>
          <ac:picMkLst>
            <pc:docMk/>
            <pc:sldMk cId="1325967455" sldId="287"/>
            <ac:picMk id="5" creationId="{3DC055BB-93C5-19FB-CE2E-800A6E7D67E7}"/>
          </ac:picMkLst>
        </pc:picChg>
        <pc:picChg chg="add mod">
          <ac:chgData name="Prashant Khatiwada" userId="66bdf6dc-2ccf-4464-90a7-7f1c171ab726" providerId="ADAL" clId="{8B3DB927-978C-509C-A0F6-E3D7C26DC3B1}" dt="2025-12-07T19:52:58.812" v="441" actId="1076"/>
          <ac:picMkLst>
            <pc:docMk/>
            <pc:sldMk cId="1325967455" sldId="287"/>
            <ac:picMk id="7" creationId="{10F82F6B-438B-7DD1-B0FA-37CC80C053F8}"/>
          </ac:picMkLst>
        </pc:picChg>
      </pc:sldChg>
      <pc:sldChg chg="addSp delSp modSp add mod ord modNotesTx">
        <pc:chgData name="Prashant Khatiwada" userId="66bdf6dc-2ccf-4464-90a7-7f1c171ab726" providerId="ADAL" clId="{8B3DB927-978C-509C-A0F6-E3D7C26DC3B1}" dt="2025-12-07T20:09:20.571" v="638" actId="20577"/>
        <pc:sldMkLst>
          <pc:docMk/>
          <pc:sldMk cId="4148108463" sldId="288"/>
        </pc:sldMkLst>
        <pc:spChg chg="add del mod">
          <ac:chgData name="Prashant Khatiwada" userId="66bdf6dc-2ccf-4464-90a7-7f1c171ab726" providerId="ADAL" clId="{8B3DB927-978C-509C-A0F6-E3D7C26DC3B1}" dt="2025-12-07T20:03:36.465" v="564" actId="20577"/>
          <ac:spMkLst>
            <pc:docMk/>
            <pc:sldMk cId="4148108463" sldId="288"/>
            <ac:spMk id="2" creationId="{60DC1A50-6693-E878-ED70-C4071E6D2C92}"/>
          </ac:spMkLst>
        </pc:spChg>
        <pc:spChg chg="add mod">
          <ac:chgData name="Prashant Khatiwada" userId="66bdf6dc-2ccf-4464-90a7-7f1c171ab726" providerId="ADAL" clId="{8B3DB927-978C-509C-A0F6-E3D7C26DC3B1}" dt="2025-12-07T20:03:33.200" v="561"/>
          <ac:spMkLst>
            <pc:docMk/>
            <pc:sldMk cId="4148108463" sldId="288"/>
            <ac:spMk id="3" creationId="{1BF0259C-51DE-224C-CF72-E3C2701D2988}"/>
          </ac:spMkLst>
        </pc:spChg>
        <pc:spChg chg="add">
          <ac:chgData name="Prashant Khatiwada" userId="66bdf6dc-2ccf-4464-90a7-7f1c171ab726" providerId="ADAL" clId="{8B3DB927-978C-509C-A0F6-E3D7C26DC3B1}" dt="2025-12-07T20:03:48.899" v="568"/>
          <ac:spMkLst>
            <pc:docMk/>
            <pc:sldMk cId="4148108463" sldId="288"/>
            <ac:spMk id="4" creationId="{495DD45D-3896-66A1-163C-CE0A1D6C867B}"/>
          </ac:spMkLst>
        </pc:spChg>
        <pc:spChg chg="mod">
          <ac:chgData name="Prashant Khatiwada" userId="66bdf6dc-2ccf-4464-90a7-7f1c171ab726" providerId="ADAL" clId="{8B3DB927-978C-509C-A0F6-E3D7C26DC3B1}" dt="2025-12-07T20:09:20.571" v="638" actId="20577"/>
          <ac:spMkLst>
            <pc:docMk/>
            <pc:sldMk cId="4148108463" sldId="288"/>
            <ac:spMk id="6" creationId="{8461981F-8B79-2307-C0C2-C0AADBD21353}"/>
          </ac:spMkLst>
        </pc:spChg>
        <pc:spChg chg="mod">
          <ac:chgData name="Prashant Khatiwada" userId="66bdf6dc-2ccf-4464-90a7-7f1c171ab726" providerId="ADAL" clId="{8B3DB927-978C-509C-A0F6-E3D7C26DC3B1}" dt="2025-12-07T20:03:57.533" v="573" actId="20577"/>
          <ac:spMkLst>
            <pc:docMk/>
            <pc:sldMk cId="4148108463" sldId="288"/>
            <ac:spMk id="9" creationId="{28F9177C-2D91-A96D-42F4-EFBB19129DBD}"/>
          </ac:spMkLst>
        </pc:spChg>
        <pc:spChg chg="del">
          <ac:chgData name="Prashant Khatiwada" userId="66bdf6dc-2ccf-4464-90a7-7f1c171ab726" providerId="ADAL" clId="{8B3DB927-978C-509C-A0F6-E3D7C26DC3B1}" dt="2025-12-07T20:05:13.997" v="577" actId="478"/>
          <ac:spMkLst>
            <pc:docMk/>
            <pc:sldMk cId="4148108463" sldId="288"/>
            <ac:spMk id="11" creationId="{4A067AD6-5856-0842-9DD9-7D058434F536}"/>
          </ac:spMkLst>
        </pc:spChg>
        <pc:picChg chg="del">
          <ac:chgData name="Prashant Khatiwada" userId="66bdf6dc-2ccf-4464-90a7-7f1c171ab726" providerId="ADAL" clId="{8B3DB927-978C-509C-A0F6-E3D7C26DC3B1}" dt="2025-12-07T20:04:32.984" v="574" actId="478"/>
          <ac:picMkLst>
            <pc:docMk/>
            <pc:sldMk cId="4148108463" sldId="288"/>
            <ac:picMk id="5" creationId="{E5010F22-707D-773B-AA62-46300282EF7A}"/>
          </ac:picMkLst>
        </pc:picChg>
        <pc:picChg chg="add mod">
          <ac:chgData name="Prashant Khatiwada" userId="66bdf6dc-2ccf-4464-90a7-7f1c171ab726" providerId="ADAL" clId="{8B3DB927-978C-509C-A0F6-E3D7C26DC3B1}" dt="2025-12-07T20:04:38.230" v="576" actId="1076"/>
          <ac:picMkLst>
            <pc:docMk/>
            <pc:sldMk cId="4148108463" sldId="288"/>
            <ac:picMk id="7" creationId="{CC8CBF52-219C-8A80-CE49-D625C429F402}"/>
          </ac:picMkLst>
        </pc:picChg>
      </pc:sldChg>
      <pc:sldChg chg="addSp delSp modSp new mod modNotesTx">
        <pc:chgData name="Prashant Khatiwada" userId="66bdf6dc-2ccf-4464-90a7-7f1c171ab726" providerId="ADAL" clId="{8B3DB927-978C-509C-A0F6-E3D7C26DC3B1}" dt="2025-12-07T20:10:27.227" v="649" actId="1076"/>
        <pc:sldMkLst>
          <pc:docMk/>
          <pc:sldMk cId="824026780" sldId="289"/>
        </pc:sldMkLst>
        <pc:spChg chg="mod">
          <ac:chgData name="Prashant Khatiwada" userId="66bdf6dc-2ccf-4464-90a7-7f1c171ab726" providerId="ADAL" clId="{8B3DB927-978C-509C-A0F6-E3D7C26DC3B1}" dt="2025-12-07T20:08:59.907" v="635"/>
          <ac:spMkLst>
            <pc:docMk/>
            <pc:sldMk cId="824026780" sldId="289"/>
            <ac:spMk id="2" creationId="{8EFEB2D3-9B79-6198-8D7A-D3CAA8EE6307}"/>
          </ac:spMkLst>
        </pc:spChg>
        <pc:spChg chg="del mod">
          <ac:chgData name="Prashant Khatiwada" userId="66bdf6dc-2ccf-4464-90a7-7f1c171ab726" providerId="ADAL" clId="{8B3DB927-978C-509C-A0F6-E3D7C26DC3B1}" dt="2025-12-07T20:06:38.238" v="594"/>
          <ac:spMkLst>
            <pc:docMk/>
            <pc:sldMk cId="824026780" sldId="289"/>
            <ac:spMk id="3" creationId="{7D1B7322-6434-3BEF-9E7D-663BEB92DBE7}"/>
          </ac:spMkLst>
        </pc:spChg>
        <pc:spChg chg="add mod">
          <ac:chgData name="Prashant Khatiwada" userId="66bdf6dc-2ccf-4464-90a7-7f1c171ab726" providerId="ADAL" clId="{8B3DB927-978C-509C-A0F6-E3D7C26DC3B1}" dt="2025-12-07T20:10:27.227" v="649" actId="1076"/>
          <ac:spMkLst>
            <pc:docMk/>
            <pc:sldMk cId="824026780" sldId="289"/>
            <ac:spMk id="6" creationId="{D7493860-A300-4497-5CC5-44F9D43E729A}"/>
          </ac:spMkLst>
        </pc:spChg>
        <pc:picChg chg="add mod">
          <ac:chgData name="Prashant Khatiwada" userId="66bdf6dc-2ccf-4464-90a7-7f1c171ab726" providerId="ADAL" clId="{8B3DB927-978C-509C-A0F6-E3D7C26DC3B1}" dt="2025-12-07T20:09:38.144" v="642" actId="1076"/>
          <ac:picMkLst>
            <pc:docMk/>
            <pc:sldMk cId="824026780" sldId="289"/>
            <ac:picMk id="4" creationId="{70BC75B1-2FB5-F567-B960-9BF66C0C2D23}"/>
          </ac:picMkLst>
        </pc:picChg>
      </pc:sldChg>
      <pc:sldChg chg="modSp new del mod">
        <pc:chgData name="Prashant Khatiwada" userId="66bdf6dc-2ccf-4464-90a7-7f1c171ab726" providerId="ADAL" clId="{8B3DB927-978C-509C-A0F6-E3D7C26DC3B1}" dt="2025-12-07T20:10:44.973" v="650" actId="2696"/>
        <pc:sldMkLst>
          <pc:docMk/>
          <pc:sldMk cId="166401895" sldId="290"/>
        </pc:sldMkLst>
        <pc:spChg chg="mod">
          <ac:chgData name="Prashant Khatiwada" userId="66bdf6dc-2ccf-4464-90a7-7f1c171ab726" providerId="ADAL" clId="{8B3DB927-978C-509C-A0F6-E3D7C26DC3B1}" dt="2025-12-07T20:08:36.871" v="634" actId="20577"/>
          <ac:spMkLst>
            <pc:docMk/>
            <pc:sldMk cId="166401895" sldId="290"/>
            <ac:spMk id="2" creationId="{E7F36F1C-DD40-DDE1-C913-0E4BAC05E811}"/>
          </ac:spMkLst>
        </pc:spChg>
      </pc:sldChg>
    </pc:docChg>
  </pc:docChgLst>
  <pc:docChgLst>
    <pc:chgData name="Prashant Khatiwada" userId="66bdf6dc-2ccf-4464-90a7-7f1c171ab726" providerId="ADAL" clId="{845BA1FE-250B-5BA5-83A0-B8B774EC2B2A}"/>
    <pc:docChg chg="undo custSel addSld delSld modSld sldOrd">
      <pc:chgData name="Prashant Khatiwada" userId="66bdf6dc-2ccf-4464-90a7-7f1c171ab726" providerId="ADAL" clId="{845BA1FE-250B-5BA5-83A0-B8B774EC2B2A}" dt="2025-12-05T17:18:33.420" v="1458" actId="1076"/>
      <pc:docMkLst>
        <pc:docMk/>
      </pc:docMkLst>
      <pc:sldChg chg="addSp delSp modSp mod modClrScheme chgLayout">
        <pc:chgData name="Prashant Khatiwada" userId="66bdf6dc-2ccf-4464-90a7-7f1c171ab726" providerId="ADAL" clId="{845BA1FE-250B-5BA5-83A0-B8B774EC2B2A}" dt="2025-12-05T16:52:04.345" v="1351" actId="1076"/>
        <pc:sldMkLst>
          <pc:docMk/>
          <pc:sldMk cId="0" sldId="256"/>
        </pc:sldMkLst>
        <pc:spChg chg="add mod">
          <ac:chgData name="Prashant Khatiwada" userId="66bdf6dc-2ccf-4464-90a7-7f1c171ab726" providerId="ADAL" clId="{845BA1FE-250B-5BA5-83A0-B8B774EC2B2A}" dt="2025-12-05T16:52:04.345" v="1351" actId="1076"/>
          <ac:spMkLst>
            <pc:docMk/>
            <pc:sldMk cId="0" sldId="256"/>
            <ac:spMk id="2" creationId="{026E3F6D-33AA-4FF6-2200-2AB62F030E76}"/>
          </ac:spMkLst>
        </pc:spChg>
        <pc:spChg chg="mod ord">
          <ac:chgData name="Prashant Khatiwada" userId="66bdf6dc-2ccf-4464-90a7-7f1c171ab726" providerId="ADAL" clId="{845BA1FE-250B-5BA5-83A0-B8B774EC2B2A}" dt="2025-12-05T16:51:56.458" v="1350" actId="207"/>
          <ac:spMkLst>
            <pc:docMk/>
            <pc:sldMk cId="0" sldId="256"/>
            <ac:spMk id="3" creationId="{00000000-0000-0000-0000-000000000000}"/>
          </ac:spMkLst>
        </pc:spChg>
        <pc:spChg chg="add mod">
          <ac:chgData name="Prashant Khatiwada" userId="66bdf6dc-2ccf-4464-90a7-7f1c171ab726" providerId="ADAL" clId="{845BA1FE-250B-5BA5-83A0-B8B774EC2B2A}" dt="2025-12-05T15:22:48.418" v="198" actId="113"/>
          <ac:spMkLst>
            <pc:docMk/>
            <pc:sldMk cId="0" sldId="256"/>
            <ac:spMk id="4" creationId="{CD338E7C-8719-EBA8-2F75-ACAABEDABC15}"/>
          </ac:spMkLst>
        </pc:spChg>
        <pc:spChg chg="add mod">
          <ac:chgData name="Prashant Khatiwada" userId="66bdf6dc-2ccf-4464-90a7-7f1c171ab726" providerId="ADAL" clId="{845BA1FE-250B-5BA5-83A0-B8B774EC2B2A}" dt="2025-12-05T15:22:50.246" v="199" actId="113"/>
          <ac:spMkLst>
            <pc:docMk/>
            <pc:sldMk cId="0" sldId="256"/>
            <ac:spMk id="5" creationId="{04A58769-463F-0104-C1E4-9E6EABE05B65}"/>
          </ac:spMkLst>
        </pc:spChg>
        <pc:spChg chg="add mod">
          <ac:chgData name="Prashant Khatiwada" userId="66bdf6dc-2ccf-4464-90a7-7f1c171ab726" providerId="ADAL" clId="{845BA1FE-250B-5BA5-83A0-B8B774EC2B2A}" dt="2025-12-05T14:58:01.742" v="75" actId="20577"/>
          <ac:spMkLst>
            <pc:docMk/>
            <pc:sldMk cId="0" sldId="256"/>
            <ac:spMk id="6" creationId="{BED06765-7380-459E-1C49-866F74A914F7}"/>
          </ac:spMkLst>
        </pc:spChg>
        <pc:spChg chg="add mod">
          <ac:chgData name="Prashant Khatiwada" userId="66bdf6dc-2ccf-4464-90a7-7f1c171ab726" providerId="ADAL" clId="{845BA1FE-250B-5BA5-83A0-B8B774EC2B2A}" dt="2025-12-05T15:23:00.360" v="201" actId="20577"/>
          <ac:spMkLst>
            <pc:docMk/>
            <pc:sldMk cId="0" sldId="256"/>
            <ac:spMk id="8" creationId="{6DA5A1AE-2B33-4922-CB19-AC14EBEDD43C}"/>
          </ac:spMkLst>
        </pc:spChg>
        <pc:spChg chg="add mod">
          <ac:chgData name="Prashant Khatiwada" userId="66bdf6dc-2ccf-4464-90a7-7f1c171ab726" providerId="ADAL" clId="{845BA1FE-250B-5BA5-83A0-B8B774EC2B2A}" dt="2025-12-05T15:22:40.041" v="195" actId="14100"/>
          <ac:spMkLst>
            <pc:docMk/>
            <pc:sldMk cId="0" sldId="256"/>
            <ac:spMk id="9" creationId="{3CB9C750-CB8E-F1A1-F34C-6ACA65CAA7EF}"/>
          </ac:spMkLst>
        </pc:spChg>
      </pc:sldChg>
      <pc:sldChg chg="addSp delSp modSp mod setBg modClrScheme chgLayout">
        <pc:chgData name="Prashant Khatiwada" userId="66bdf6dc-2ccf-4464-90a7-7f1c171ab726" providerId="ADAL" clId="{845BA1FE-250B-5BA5-83A0-B8B774EC2B2A}" dt="2025-12-05T16:40:42.863" v="1178"/>
        <pc:sldMkLst>
          <pc:docMk/>
          <pc:sldMk cId="0" sldId="257"/>
        </pc:sldMkLst>
        <pc:spChg chg="mod ord">
          <ac:chgData name="Prashant Khatiwada" userId="66bdf6dc-2ccf-4464-90a7-7f1c171ab726" providerId="ADAL" clId="{845BA1FE-250B-5BA5-83A0-B8B774EC2B2A}" dt="2025-12-05T16:27:40.601" v="979" actId="26606"/>
          <ac:spMkLst>
            <pc:docMk/>
            <pc:sldMk cId="0" sldId="257"/>
            <ac:spMk id="2" creationId="{00000000-0000-0000-0000-000000000000}"/>
          </ac:spMkLst>
        </pc:spChg>
        <pc:spChg chg="add">
          <ac:chgData name="Prashant Khatiwada" userId="66bdf6dc-2ccf-4464-90a7-7f1c171ab726" providerId="ADAL" clId="{845BA1FE-250B-5BA5-83A0-B8B774EC2B2A}" dt="2025-12-05T16:27:40.637" v="980" actId="26606"/>
          <ac:spMkLst>
            <pc:docMk/>
            <pc:sldMk cId="0" sldId="257"/>
            <ac:spMk id="27" creationId="{7FF47CB7-972F-479F-A36D-9E72D26EC8DA}"/>
          </ac:spMkLst>
        </pc:spChg>
        <pc:spChg chg="add">
          <ac:chgData name="Prashant Khatiwada" userId="66bdf6dc-2ccf-4464-90a7-7f1c171ab726" providerId="ADAL" clId="{845BA1FE-250B-5BA5-83A0-B8B774EC2B2A}" dt="2025-12-05T16:27:40.637" v="980" actId="26606"/>
          <ac:spMkLst>
            <pc:docMk/>
            <pc:sldMk cId="0" sldId="257"/>
            <ac:spMk id="28" creationId="{0D153B68-5844-490D-8E67-F616D6D721CA}"/>
          </ac:spMkLst>
        </pc:spChg>
        <pc:spChg chg="add">
          <ac:chgData name="Prashant Khatiwada" userId="66bdf6dc-2ccf-4464-90a7-7f1c171ab726" providerId="ADAL" clId="{845BA1FE-250B-5BA5-83A0-B8B774EC2B2A}" dt="2025-12-05T16:27:40.637" v="980" actId="26606"/>
          <ac:spMkLst>
            <pc:docMk/>
            <pc:sldMk cId="0" sldId="257"/>
            <ac:spMk id="29" creationId="{9A0D773F-7A7D-4DBB-9DEA-86BB8B8F4BC8}"/>
          </ac:spMkLst>
        </pc:spChg>
        <pc:graphicFrameChg chg="add mod modGraphic">
          <ac:chgData name="Prashant Khatiwada" userId="66bdf6dc-2ccf-4464-90a7-7f1c171ab726" providerId="ADAL" clId="{845BA1FE-250B-5BA5-83A0-B8B774EC2B2A}" dt="2025-12-05T16:40:42.863" v="1178"/>
          <ac:graphicFrameMkLst>
            <pc:docMk/>
            <pc:sldMk cId="0" sldId="257"/>
            <ac:graphicFrameMk id="20" creationId="{005F4E27-E2D1-C62E-139A-87821F713DF0}"/>
          </ac:graphicFrameMkLst>
        </pc:graphicFrameChg>
        <pc:picChg chg="add mod modCrop">
          <ac:chgData name="Prashant Khatiwada" userId="66bdf6dc-2ccf-4464-90a7-7f1c171ab726" providerId="ADAL" clId="{845BA1FE-250B-5BA5-83A0-B8B774EC2B2A}" dt="2025-12-05T16:36:13.570" v="1139" actId="1076"/>
          <ac:picMkLst>
            <pc:docMk/>
            <pc:sldMk cId="0" sldId="257"/>
            <ac:picMk id="9" creationId="{E4B4C360-E38C-4B3A-D19F-918303973DB7}"/>
          </ac:picMkLst>
        </pc:picChg>
      </pc:sldChg>
      <pc:sldChg chg="addSp modSp mod setBg">
        <pc:chgData name="Prashant Khatiwada" userId="66bdf6dc-2ccf-4464-90a7-7f1c171ab726" providerId="ADAL" clId="{845BA1FE-250B-5BA5-83A0-B8B774EC2B2A}" dt="2025-12-05T16:47:03.045" v="1274" actId="207"/>
        <pc:sldMkLst>
          <pc:docMk/>
          <pc:sldMk cId="0" sldId="258"/>
        </pc:sldMkLst>
        <pc:spChg chg="mod">
          <ac:chgData name="Prashant Khatiwada" userId="66bdf6dc-2ccf-4464-90a7-7f1c171ab726" providerId="ADAL" clId="{845BA1FE-250B-5BA5-83A0-B8B774EC2B2A}" dt="2025-12-05T16:36:38.080" v="1140" actId="26606"/>
          <ac:spMkLst>
            <pc:docMk/>
            <pc:sldMk cId="0" sldId="258"/>
            <ac:spMk id="2" creationId="{00000000-0000-0000-0000-000000000000}"/>
          </ac:spMkLst>
        </pc:spChg>
        <pc:spChg chg="mod">
          <ac:chgData name="Prashant Khatiwada" userId="66bdf6dc-2ccf-4464-90a7-7f1c171ab726" providerId="ADAL" clId="{845BA1FE-250B-5BA5-83A0-B8B774EC2B2A}" dt="2025-12-05T16:46:34.416" v="1267" actId="14100"/>
          <ac:spMkLst>
            <pc:docMk/>
            <pc:sldMk cId="0" sldId="258"/>
            <ac:spMk id="3" creationId="{00000000-0000-0000-0000-000000000000}"/>
          </ac:spMkLst>
        </pc:spChg>
        <pc:spChg chg="add mod">
          <ac:chgData name="Prashant Khatiwada" userId="66bdf6dc-2ccf-4464-90a7-7f1c171ab726" providerId="ADAL" clId="{845BA1FE-250B-5BA5-83A0-B8B774EC2B2A}" dt="2025-12-05T16:47:03.045" v="1274" actId="207"/>
          <ac:spMkLst>
            <pc:docMk/>
            <pc:sldMk cId="0" sldId="258"/>
            <ac:spMk id="5" creationId="{AA005676-57F9-7534-CA98-6BDB53A033C9}"/>
          </ac:spMkLst>
        </pc:spChg>
        <pc:spChg chg="add">
          <ac:chgData name="Prashant Khatiwada" userId="66bdf6dc-2ccf-4464-90a7-7f1c171ab726" providerId="ADAL" clId="{845BA1FE-250B-5BA5-83A0-B8B774EC2B2A}" dt="2025-12-05T16:36:38.080" v="1140" actId="26606"/>
          <ac:spMkLst>
            <pc:docMk/>
            <pc:sldMk cId="0" sldId="258"/>
            <ac:spMk id="8" creationId="{C9A36457-A5F4-4103-A443-02581C09185B}"/>
          </ac:spMkLst>
        </pc:spChg>
        <pc:spChg chg="add">
          <ac:chgData name="Prashant Khatiwada" userId="66bdf6dc-2ccf-4464-90a7-7f1c171ab726" providerId="ADAL" clId="{845BA1FE-250B-5BA5-83A0-B8B774EC2B2A}" dt="2025-12-05T16:36:38.080" v="1140" actId="26606"/>
          <ac:spMkLst>
            <pc:docMk/>
            <pc:sldMk cId="0" sldId="258"/>
            <ac:spMk id="10" creationId="{DC5FB7E8-B636-40FA-BE8D-48145C0F5C57}"/>
          </ac:spMkLst>
        </pc:spChg>
        <pc:spChg chg="add">
          <ac:chgData name="Prashant Khatiwada" userId="66bdf6dc-2ccf-4464-90a7-7f1c171ab726" providerId="ADAL" clId="{845BA1FE-250B-5BA5-83A0-B8B774EC2B2A}" dt="2025-12-05T16:36:38.080" v="1140" actId="26606"/>
          <ac:spMkLst>
            <pc:docMk/>
            <pc:sldMk cId="0" sldId="258"/>
            <ac:spMk id="12" creationId="{142DCE2C-2863-46FA-9BE7-24365A24D9BA}"/>
          </ac:spMkLst>
        </pc:spChg>
      </pc:sldChg>
      <pc:sldChg chg="addSp delSp modSp mod setBg">
        <pc:chgData name="Prashant Khatiwada" userId="66bdf6dc-2ccf-4464-90a7-7f1c171ab726" providerId="ADAL" clId="{845BA1FE-250B-5BA5-83A0-B8B774EC2B2A}" dt="2025-12-05T16:42:30.144" v="1214" actId="20577"/>
        <pc:sldMkLst>
          <pc:docMk/>
          <pc:sldMk cId="0" sldId="259"/>
        </pc:sldMkLst>
        <pc:spChg chg="mod">
          <ac:chgData name="Prashant Khatiwada" userId="66bdf6dc-2ccf-4464-90a7-7f1c171ab726" providerId="ADAL" clId="{845BA1FE-250B-5BA5-83A0-B8B774EC2B2A}" dt="2025-12-05T16:36:50.076" v="1143" actId="26606"/>
          <ac:spMkLst>
            <pc:docMk/>
            <pc:sldMk cId="0" sldId="259"/>
            <ac:spMk id="2" creationId="{00000000-0000-0000-0000-000000000000}"/>
          </ac:spMkLst>
        </pc:spChg>
        <pc:spChg chg="add del mod">
          <ac:chgData name="Prashant Khatiwada" userId="66bdf6dc-2ccf-4464-90a7-7f1c171ab726" providerId="ADAL" clId="{845BA1FE-250B-5BA5-83A0-B8B774EC2B2A}" dt="2025-12-05T16:42:30.144" v="1214" actId="20577"/>
          <ac:spMkLst>
            <pc:docMk/>
            <pc:sldMk cId="0" sldId="259"/>
            <ac:spMk id="5" creationId="{1363E04A-A0B2-E48A-6B9F-C1CB4567E6B7}"/>
          </ac:spMkLst>
        </pc:spChg>
        <pc:spChg chg="add">
          <ac:chgData name="Prashant Khatiwada" userId="66bdf6dc-2ccf-4464-90a7-7f1c171ab726" providerId="ADAL" clId="{845BA1FE-250B-5BA5-83A0-B8B774EC2B2A}" dt="2025-12-05T16:36:50.076" v="1143" actId="26606"/>
          <ac:spMkLst>
            <pc:docMk/>
            <pc:sldMk cId="0" sldId="259"/>
            <ac:spMk id="27" creationId="{142DCE2C-2863-46FA-9BE7-24365A24D9BA}"/>
          </ac:spMkLst>
        </pc:spChg>
        <pc:spChg chg="add">
          <ac:chgData name="Prashant Khatiwada" userId="66bdf6dc-2ccf-4464-90a7-7f1c171ab726" providerId="ADAL" clId="{845BA1FE-250B-5BA5-83A0-B8B774EC2B2A}" dt="2025-12-05T16:36:50.076" v="1143" actId="26606"/>
          <ac:spMkLst>
            <pc:docMk/>
            <pc:sldMk cId="0" sldId="259"/>
            <ac:spMk id="28" creationId="{C9A36457-A5F4-4103-A443-02581C09185B}"/>
          </ac:spMkLst>
        </pc:spChg>
        <pc:spChg chg="add">
          <ac:chgData name="Prashant Khatiwada" userId="66bdf6dc-2ccf-4464-90a7-7f1c171ab726" providerId="ADAL" clId="{845BA1FE-250B-5BA5-83A0-B8B774EC2B2A}" dt="2025-12-05T16:36:50.076" v="1143" actId="26606"/>
          <ac:spMkLst>
            <pc:docMk/>
            <pc:sldMk cId="0" sldId="259"/>
            <ac:spMk id="29" creationId="{DC5FB7E8-B636-40FA-BE8D-48145C0F5C57}"/>
          </ac:spMkLst>
        </pc:spChg>
      </pc:sldChg>
      <pc:sldChg chg="addSp delSp modSp mod">
        <pc:chgData name="Prashant Khatiwada" userId="66bdf6dc-2ccf-4464-90a7-7f1c171ab726" providerId="ADAL" clId="{845BA1FE-250B-5BA5-83A0-B8B774EC2B2A}" dt="2025-12-05T16:03:20.756" v="446" actId="1076"/>
        <pc:sldMkLst>
          <pc:docMk/>
          <pc:sldMk cId="0" sldId="260"/>
        </pc:sldMkLst>
        <pc:spChg chg="mod">
          <ac:chgData name="Prashant Khatiwada" userId="66bdf6dc-2ccf-4464-90a7-7f1c171ab726" providerId="ADAL" clId="{845BA1FE-250B-5BA5-83A0-B8B774EC2B2A}" dt="2025-12-05T16:01:00.941" v="434" actId="20577"/>
          <ac:spMkLst>
            <pc:docMk/>
            <pc:sldMk cId="0" sldId="260"/>
            <ac:spMk id="2" creationId="{00000000-0000-0000-0000-000000000000}"/>
          </ac:spMkLst>
        </pc:spChg>
      </pc:sldChg>
      <pc:sldChg chg="addSp modSp mod">
        <pc:chgData name="Prashant Khatiwada" userId="66bdf6dc-2ccf-4464-90a7-7f1c171ab726" providerId="ADAL" clId="{845BA1FE-250B-5BA5-83A0-B8B774EC2B2A}" dt="2025-12-05T16:49:16.879" v="1307" actId="1076"/>
        <pc:sldMkLst>
          <pc:docMk/>
          <pc:sldMk cId="0" sldId="261"/>
        </pc:sldMkLst>
        <pc:spChg chg="mod">
          <ac:chgData name="Prashant Khatiwada" userId="66bdf6dc-2ccf-4464-90a7-7f1c171ab726" providerId="ADAL" clId="{845BA1FE-250B-5BA5-83A0-B8B774EC2B2A}" dt="2025-12-05T16:04:31.353" v="474" actId="20577"/>
          <ac:spMkLst>
            <pc:docMk/>
            <pc:sldMk cId="0" sldId="261"/>
            <ac:spMk id="2" creationId="{00000000-0000-0000-0000-000000000000}"/>
          </ac:spMkLst>
        </pc:spChg>
        <pc:spChg chg="mod">
          <ac:chgData name="Prashant Khatiwada" userId="66bdf6dc-2ccf-4464-90a7-7f1c171ab726" providerId="ADAL" clId="{845BA1FE-250B-5BA5-83A0-B8B774EC2B2A}" dt="2025-12-05T16:48:13.998" v="1300" actId="20577"/>
          <ac:spMkLst>
            <pc:docMk/>
            <pc:sldMk cId="0" sldId="261"/>
            <ac:spMk id="3" creationId="{00000000-0000-0000-0000-000000000000}"/>
          </ac:spMkLst>
        </pc:spChg>
        <pc:picChg chg="add mod">
          <ac:chgData name="Prashant Khatiwada" userId="66bdf6dc-2ccf-4464-90a7-7f1c171ab726" providerId="ADAL" clId="{845BA1FE-250B-5BA5-83A0-B8B774EC2B2A}" dt="2025-12-05T16:49:16.879" v="1307" actId="1076"/>
          <ac:picMkLst>
            <pc:docMk/>
            <pc:sldMk cId="0" sldId="261"/>
            <ac:picMk id="5" creationId="{2A0D9865-22CE-2898-6037-1B4991FBADF4}"/>
          </ac:picMkLst>
        </pc:picChg>
      </pc:sldChg>
      <pc:sldChg chg="addSp delSp modSp mod">
        <pc:chgData name="Prashant Khatiwada" userId="66bdf6dc-2ccf-4464-90a7-7f1c171ab726" providerId="ADAL" clId="{845BA1FE-250B-5BA5-83A0-B8B774EC2B2A}" dt="2025-12-05T16:44:55.543" v="1265" actId="255"/>
        <pc:sldMkLst>
          <pc:docMk/>
          <pc:sldMk cId="0" sldId="262"/>
        </pc:sldMkLst>
        <pc:spChg chg="mod">
          <ac:chgData name="Prashant Khatiwada" userId="66bdf6dc-2ccf-4464-90a7-7f1c171ab726" providerId="ADAL" clId="{845BA1FE-250B-5BA5-83A0-B8B774EC2B2A}" dt="2025-12-05T16:12:49.512" v="667" actId="20577"/>
          <ac:spMkLst>
            <pc:docMk/>
            <pc:sldMk cId="0" sldId="262"/>
            <ac:spMk id="2" creationId="{00000000-0000-0000-0000-000000000000}"/>
          </ac:spMkLst>
        </pc:spChg>
        <pc:spChg chg="add del mod">
          <ac:chgData name="Prashant Khatiwada" userId="66bdf6dc-2ccf-4464-90a7-7f1c171ab726" providerId="ADAL" clId="{845BA1FE-250B-5BA5-83A0-B8B774EC2B2A}" dt="2025-12-05T16:07:32.277" v="533" actId="27636"/>
          <ac:spMkLst>
            <pc:docMk/>
            <pc:sldMk cId="0" sldId="262"/>
            <ac:spMk id="5" creationId="{B9705C58-FB6E-AD5B-5D4E-3C79D4A2E02F}"/>
          </ac:spMkLst>
        </pc:spChg>
        <pc:spChg chg="add mod">
          <ac:chgData name="Prashant Khatiwada" userId="66bdf6dc-2ccf-4464-90a7-7f1c171ab726" providerId="ADAL" clId="{845BA1FE-250B-5BA5-83A0-B8B774EC2B2A}" dt="2025-12-05T16:44:55.543" v="1265" actId="255"/>
          <ac:spMkLst>
            <pc:docMk/>
            <pc:sldMk cId="0" sldId="262"/>
            <ac:spMk id="8" creationId="{800894CD-5E1E-42A4-661C-6A81F0F83D85}"/>
          </ac:spMkLst>
        </pc:spChg>
        <pc:picChg chg="add mod modCrop">
          <ac:chgData name="Prashant Khatiwada" userId="66bdf6dc-2ccf-4464-90a7-7f1c171ab726" providerId="ADAL" clId="{845BA1FE-250B-5BA5-83A0-B8B774EC2B2A}" dt="2025-12-05T16:44:47.400" v="1263" actId="1076"/>
          <ac:picMkLst>
            <pc:docMk/>
            <pc:sldMk cId="0" sldId="262"/>
            <ac:picMk id="7" creationId="{48D0CDEA-46C7-9475-6643-FBB25F648C12}"/>
          </ac:picMkLst>
        </pc:picChg>
      </pc:sldChg>
      <pc:sldChg chg="addSp delSp modSp mod modNotesTx">
        <pc:chgData name="Prashant Khatiwada" userId="66bdf6dc-2ccf-4464-90a7-7f1c171ab726" providerId="ADAL" clId="{845BA1FE-250B-5BA5-83A0-B8B774EC2B2A}" dt="2025-12-05T17:10:47.466" v="1426" actId="12"/>
        <pc:sldMkLst>
          <pc:docMk/>
          <pc:sldMk cId="0" sldId="263"/>
        </pc:sldMkLst>
        <pc:spChg chg="mod">
          <ac:chgData name="Prashant Khatiwada" userId="66bdf6dc-2ccf-4464-90a7-7f1c171ab726" providerId="ADAL" clId="{845BA1FE-250B-5BA5-83A0-B8B774EC2B2A}" dt="2025-12-05T16:10:07.480" v="614" actId="20577"/>
          <ac:spMkLst>
            <pc:docMk/>
            <pc:sldMk cId="0" sldId="263"/>
            <ac:spMk id="2" creationId="{00000000-0000-0000-0000-000000000000}"/>
          </ac:spMkLst>
        </pc:spChg>
        <pc:spChg chg="add mod">
          <ac:chgData name="Prashant Khatiwada" userId="66bdf6dc-2ccf-4464-90a7-7f1c171ab726" providerId="ADAL" clId="{845BA1FE-250B-5BA5-83A0-B8B774EC2B2A}" dt="2025-12-05T16:25:02.144" v="956" actId="14100"/>
          <ac:spMkLst>
            <pc:docMk/>
            <pc:sldMk cId="0" sldId="263"/>
            <ac:spMk id="8" creationId="{2D3E1EF2-B959-7AE6-F2DB-1799ABE01E3E}"/>
          </ac:spMkLst>
        </pc:spChg>
        <pc:picChg chg="add mod">
          <ac:chgData name="Prashant Khatiwada" userId="66bdf6dc-2ccf-4464-90a7-7f1c171ab726" providerId="ADAL" clId="{845BA1FE-250B-5BA5-83A0-B8B774EC2B2A}" dt="2025-12-05T16:24:50.322" v="953" actId="14100"/>
          <ac:picMkLst>
            <pc:docMk/>
            <pc:sldMk cId="0" sldId="263"/>
            <ac:picMk id="6" creationId="{8C3D67CD-6C9D-FC4A-1079-635A0D5AF678}"/>
          </ac:picMkLst>
        </pc:picChg>
      </pc:sldChg>
      <pc:sldChg chg="addSp delSp modSp mod ord">
        <pc:chgData name="Prashant Khatiwada" userId="66bdf6dc-2ccf-4464-90a7-7f1c171ab726" providerId="ADAL" clId="{845BA1FE-250B-5BA5-83A0-B8B774EC2B2A}" dt="2025-12-05T16:57:52.302" v="1396" actId="113"/>
        <pc:sldMkLst>
          <pc:docMk/>
          <pc:sldMk cId="0" sldId="264"/>
        </pc:sldMkLst>
        <pc:spChg chg="mod">
          <ac:chgData name="Prashant Khatiwada" userId="66bdf6dc-2ccf-4464-90a7-7f1c171ab726" providerId="ADAL" clId="{845BA1FE-250B-5BA5-83A0-B8B774EC2B2A}" dt="2025-12-05T16:55:59.731" v="1375" actId="1076"/>
          <ac:spMkLst>
            <pc:docMk/>
            <pc:sldMk cId="0" sldId="264"/>
            <ac:spMk id="2" creationId="{00000000-0000-0000-0000-000000000000}"/>
          </ac:spMkLst>
        </pc:spChg>
      </pc:sldChg>
      <pc:sldChg chg="addSp delSp modSp mod modNotesTx">
        <pc:chgData name="Prashant Khatiwada" userId="66bdf6dc-2ccf-4464-90a7-7f1c171ab726" providerId="ADAL" clId="{845BA1FE-250B-5BA5-83A0-B8B774EC2B2A}" dt="2025-12-05T17:07:05.316" v="1414" actId="12"/>
        <pc:sldMkLst>
          <pc:docMk/>
          <pc:sldMk cId="0" sldId="265"/>
        </pc:sldMkLst>
        <pc:spChg chg="mod">
          <ac:chgData name="Prashant Khatiwada" userId="66bdf6dc-2ccf-4464-90a7-7f1c171ab726" providerId="ADAL" clId="{845BA1FE-250B-5BA5-83A0-B8B774EC2B2A}" dt="2025-12-05T16:13:35.463" v="714" actId="20577"/>
          <ac:spMkLst>
            <pc:docMk/>
            <pc:sldMk cId="0" sldId="265"/>
            <ac:spMk id="2" creationId="{00000000-0000-0000-0000-000000000000}"/>
          </ac:spMkLst>
        </pc:spChg>
      </pc:sldChg>
      <pc:sldChg chg="addSp delSp modSp mod setBg modNotesTx">
        <pc:chgData name="Prashant Khatiwada" userId="66bdf6dc-2ccf-4464-90a7-7f1c171ab726" providerId="ADAL" clId="{845BA1FE-250B-5BA5-83A0-B8B774EC2B2A}" dt="2025-12-05T17:07:19.455" v="1415" actId="12"/>
        <pc:sldMkLst>
          <pc:docMk/>
          <pc:sldMk cId="0" sldId="266"/>
        </pc:sldMkLst>
        <pc:spChg chg="mod">
          <ac:chgData name="Prashant Khatiwada" userId="66bdf6dc-2ccf-4464-90a7-7f1c171ab726" providerId="ADAL" clId="{845BA1FE-250B-5BA5-83A0-B8B774EC2B2A}" dt="2025-12-05T16:39:24.323" v="1174" actId="26606"/>
          <ac:spMkLst>
            <pc:docMk/>
            <pc:sldMk cId="0" sldId="266"/>
            <ac:spMk id="2" creationId="{00000000-0000-0000-0000-000000000000}"/>
          </ac:spMkLst>
        </pc:spChg>
      </pc:sldChg>
      <pc:sldChg chg="addSp modSp mod modNotesTx">
        <pc:chgData name="Prashant Khatiwada" userId="66bdf6dc-2ccf-4464-90a7-7f1c171ab726" providerId="ADAL" clId="{845BA1FE-250B-5BA5-83A0-B8B774EC2B2A}" dt="2025-12-05T17:07:44.384" v="1416" actId="12"/>
        <pc:sldMkLst>
          <pc:docMk/>
          <pc:sldMk cId="0" sldId="268"/>
        </pc:sldMkLst>
        <pc:spChg chg="mod">
          <ac:chgData name="Prashant Khatiwada" userId="66bdf6dc-2ccf-4464-90a7-7f1c171ab726" providerId="ADAL" clId="{845BA1FE-250B-5BA5-83A0-B8B774EC2B2A}" dt="2025-12-05T16:18:51.949" v="865" actId="20577"/>
          <ac:spMkLst>
            <pc:docMk/>
            <pc:sldMk cId="0" sldId="268"/>
            <ac:spMk id="2" creationId="{00000000-0000-0000-0000-000000000000}"/>
          </ac:spMkLst>
        </pc:spChg>
        <pc:spChg chg="mod">
          <ac:chgData name="Prashant Khatiwada" userId="66bdf6dc-2ccf-4464-90a7-7f1c171ab726" providerId="ADAL" clId="{845BA1FE-250B-5BA5-83A0-B8B774EC2B2A}" dt="2025-12-05T16:22:10.714" v="931" actId="14100"/>
          <ac:spMkLst>
            <pc:docMk/>
            <pc:sldMk cId="0" sldId="268"/>
            <ac:spMk id="3" creationId="{00000000-0000-0000-0000-000000000000}"/>
          </ac:spMkLst>
        </pc:spChg>
        <pc:spChg chg="add mod">
          <ac:chgData name="Prashant Khatiwada" userId="66bdf6dc-2ccf-4464-90a7-7f1c171ab726" providerId="ADAL" clId="{845BA1FE-250B-5BA5-83A0-B8B774EC2B2A}" dt="2025-12-05T16:22:12.742" v="932" actId="14100"/>
          <ac:spMkLst>
            <pc:docMk/>
            <pc:sldMk cId="0" sldId="268"/>
            <ac:spMk id="5" creationId="{E1BEEDC9-8B94-E586-93E5-4B18B8741E0E}"/>
          </ac:spMkLst>
        </pc:spChg>
      </pc:sldChg>
      <pc:sldChg chg="addSp delSp modSp new mod setBg modClrScheme chgLayout">
        <pc:chgData name="Prashant Khatiwada" userId="66bdf6dc-2ccf-4464-90a7-7f1c171ab726" providerId="ADAL" clId="{845BA1FE-250B-5BA5-83A0-B8B774EC2B2A}" dt="2025-12-05T16:41:39.180" v="1195" actId="400"/>
        <pc:sldMkLst>
          <pc:docMk/>
          <pc:sldMk cId="1084786516" sldId="274"/>
        </pc:sldMkLst>
        <pc:spChg chg="add mod ord">
          <ac:chgData name="Prashant Khatiwada" userId="66bdf6dc-2ccf-4464-90a7-7f1c171ab726" providerId="ADAL" clId="{845BA1FE-250B-5BA5-83A0-B8B774EC2B2A}" dt="2025-12-05T16:32:15.845" v="1056" actId="26606"/>
          <ac:spMkLst>
            <pc:docMk/>
            <pc:sldMk cId="1084786516" sldId="274"/>
            <ac:spMk id="5" creationId="{6FECB16B-1185-1047-45C5-13ACBE5F28E1}"/>
          </ac:spMkLst>
        </pc:spChg>
        <pc:spChg chg="add">
          <ac:chgData name="Prashant Khatiwada" userId="66bdf6dc-2ccf-4464-90a7-7f1c171ab726" providerId="ADAL" clId="{845BA1FE-250B-5BA5-83A0-B8B774EC2B2A}" dt="2025-12-05T16:32:15.845" v="1056" actId="26606"/>
          <ac:spMkLst>
            <pc:docMk/>
            <pc:sldMk cId="1084786516" sldId="274"/>
            <ac:spMk id="39" creationId="{955A2079-FA98-4876-80F0-72364A7D2EA4}"/>
          </ac:spMkLst>
        </pc:spChg>
        <pc:graphicFrameChg chg="add mod modGraphic">
          <ac:chgData name="Prashant Khatiwada" userId="66bdf6dc-2ccf-4464-90a7-7f1c171ab726" providerId="ADAL" clId="{845BA1FE-250B-5BA5-83A0-B8B774EC2B2A}" dt="2025-12-05T16:41:39.180" v="1195" actId="400"/>
          <ac:graphicFrameMkLst>
            <pc:docMk/>
            <pc:sldMk cId="1084786516" sldId="274"/>
            <ac:graphicFrameMk id="20" creationId="{92BAB611-CED7-82C0-A624-BCC467E8321C}"/>
          </ac:graphicFrameMkLst>
        </pc:graphicFrameChg>
      </pc:sldChg>
      <pc:sldChg chg="addSp delSp modSp new mod modClrScheme chgLayout">
        <pc:chgData name="Prashant Khatiwada" userId="66bdf6dc-2ccf-4464-90a7-7f1c171ab726" providerId="ADAL" clId="{845BA1FE-250B-5BA5-83A0-B8B774EC2B2A}" dt="2025-12-05T16:51:03.951" v="1338" actId="13926"/>
        <pc:sldMkLst>
          <pc:docMk/>
          <pc:sldMk cId="3122646494" sldId="275"/>
        </pc:sldMkLst>
        <pc:spChg chg="add del mod ord">
          <ac:chgData name="Prashant Khatiwada" userId="66bdf6dc-2ccf-4464-90a7-7f1c171ab726" providerId="ADAL" clId="{845BA1FE-250B-5BA5-83A0-B8B774EC2B2A}" dt="2025-12-05T16:50:38.205" v="1329" actId="1076"/>
          <ac:spMkLst>
            <pc:docMk/>
            <pc:sldMk cId="3122646494" sldId="275"/>
            <ac:spMk id="5" creationId="{2065508A-5663-A066-B797-6BE529F09F6C}"/>
          </ac:spMkLst>
        </pc:spChg>
        <pc:spChg chg="add mod">
          <ac:chgData name="Prashant Khatiwada" userId="66bdf6dc-2ccf-4464-90a7-7f1c171ab726" providerId="ADAL" clId="{845BA1FE-250B-5BA5-83A0-B8B774EC2B2A}" dt="2025-12-05T16:23:06.004" v="939" actId="13926"/>
          <ac:spMkLst>
            <pc:docMk/>
            <pc:sldMk cId="3122646494" sldId="275"/>
            <ac:spMk id="7" creationId="{5FABF613-4B50-E2C8-0E7D-CC23292A3DE7}"/>
          </ac:spMkLst>
        </pc:spChg>
      </pc:sldChg>
      <pc:sldChg chg="addSp modSp add mod ord modNotesTx">
        <pc:chgData name="Prashant Khatiwada" userId="66bdf6dc-2ccf-4464-90a7-7f1c171ab726" providerId="ADAL" clId="{845BA1FE-250B-5BA5-83A0-B8B774EC2B2A}" dt="2025-12-05T17:10:31.327" v="1422" actId="12"/>
        <pc:sldMkLst>
          <pc:docMk/>
          <pc:sldMk cId="1621384481" sldId="278"/>
        </pc:sldMkLst>
      </pc:sldChg>
      <pc:sldChg chg="addSp modSp add mod">
        <pc:chgData name="Prashant Khatiwada" userId="66bdf6dc-2ccf-4464-90a7-7f1c171ab726" providerId="ADAL" clId="{845BA1FE-250B-5BA5-83A0-B8B774EC2B2A}" dt="2025-12-05T16:43:37.239" v="1252" actId="1076"/>
        <pc:sldMkLst>
          <pc:docMk/>
          <pc:sldMk cId="407817861" sldId="279"/>
        </pc:sldMkLst>
        <pc:spChg chg="add mod">
          <ac:chgData name="Prashant Khatiwada" userId="66bdf6dc-2ccf-4464-90a7-7f1c171ab726" providerId="ADAL" clId="{845BA1FE-250B-5BA5-83A0-B8B774EC2B2A}" dt="2025-12-05T16:43:37.239" v="1252" actId="1076"/>
          <ac:spMkLst>
            <pc:docMk/>
            <pc:sldMk cId="407817861" sldId="279"/>
            <ac:spMk id="3" creationId="{145DDAD8-4E2F-A00C-5312-05D1FAB93BCE}"/>
          </ac:spMkLst>
        </pc:spChg>
      </pc:sldChg>
      <pc:sldChg chg="addSp delSp modSp new mod setBg modNotesTx">
        <pc:chgData name="Prashant Khatiwada" userId="66bdf6dc-2ccf-4464-90a7-7f1c171ab726" providerId="ADAL" clId="{845BA1FE-250B-5BA5-83A0-B8B774EC2B2A}" dt="2025-12-05T17:04:53.890" v="1413" actId="12"/>
        <pc:sldMkLst>
          <pc:docMk/>
          <pc:sldMk cId="4067238509" sldId="280"/>
        </pc:sldMkLst>
        <pc:spChg chg="mod">
          <ac:chgData name="Prashant Khatiwada" userId="66bdf6dc-2ccf-4464-90a7-7f1c171ab726" providerId="ADAL" clId="{845BA1FE-250B-5BA5-83A0-B8B774EC2B2A}" dt="2025-12-05T16:54:47.265" v="1362" actId="26606"/>
          <ac:spMkLst>
            <pc:docMk/>
            <pc:sldMk cId="4067238509" sldId="280"/>
            <ac:spMk id="2" creationId="{0180B6CC-9AC6-D7EF-F57F-2D384C2E7613}"/>
          </ac:spMkLst>
        </pc:spChg>
        <pc:graphicFrameChg chg="add mod modGraphic">
          <ac:chgData name="Prashant Khatiwada" userId="66bdf6dc-2ccf-4464-90a7-7f1c171ab726" providerId="ADAL" clId="{845BA1FE-250B-5BA5-83A0-B8B774EC2B2A}" dt="2025-12-05T16:55:19.358" v="1371" actId="13926"/>
          <ac:graphicFrameMkLst>
            <pc:docMk/>
            <pc:sldMk cId="4067238509" sldId="280"/>
            <ac:graphicFrameMk id="7" creationId="{0E0CCA97-8251-FD0F-1E79-270839B687B4}"/>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4715EF-9995-4F56-93FA-6E510F47422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E12D087-8F24-48DB-9FDE-4FD0FB65F658}">
      <dgm:prSet/>
      <dgm:spPr/>
      <dgm:t>
        <a:bodyPr/>
        <a:lstStyle/>
        <a:p>
          <a:pPr>
            <a:lnSpc>
              <a:spcPct val="100000"/>
            </a:lnSpc>
          </a:pPr>
          <a:r>
            <a:rPr lang="en-US" b="1" dirty="0"/>
            <a:t>The COVID-19 Surge: </a:t>
          </a:r>
          <a:r>
            <a:rPr lang="en-US" dirty="0"/>
            <a:t>Telehealth usage skyrocketed during the acute phase of the pandemic.</a:t>
          </a:r>
        </a:p>
      </dgm:t>
    </dgm:pt>
    <dgm:pt modelId="{ACA1B549-9CA1-4AF1-A54D-DC3DB5FC72F0}" type="parTrans" cxnId="{02F6F506-D642-4E52-B0E8-70D793F4F27F}">
      <dgm:prSet/>
      <dgm:spPr/>
      <dgm:t>
        <a:bodyPr/>
        <a:lstStyle/>
        <a:p>
          <a:endParaRPr lang="en-US"/>
        </a:p>
      </dgm:t>
    </dgm:pt>
    <dgm:pt modelId="{68730D53-B69C-411F-8EB8-C31B2CFACE81}" type="sibTrans" cxnId="{02F6F506-D642-4E52-B0E8-70D793F4F27F}">
      <dgm:prSet/>
      <dgm:spPr/>
      <dgm:t>
        <a:bodyPr/>
        <a:lstStyle/>
        <a:p>
          <a:endParaRPr lang="en-US"/>
        </a:p>
      </dgm:t>
    </dgm:pt>
    <dgm:pt modelId="{212164EC-6F8B-44E0-BF8B-7C4F74EE2BAE}">
      <dgm:prSet/>
      <dgm:spPr/>
      <dgm:t>
        <a:bodyPr/>
        <a:lstStyle/>
        <a:p>
          <a:pPr>
            <a:lnSpc>
              <a:spcPct val="100000"/>
            </a:lnSpc>
          </a:pPr>
          <a:r>
            <a:rPr lang="en-US" b="1"/>
            <a:t>The Post-Pandemic Question:</a:t>
          </a:r>
          <a:r>
            <a:rPr lang="en-US"/>
            <a:t> What is the role of telehealth in the "recovery" years (2021-2023)?</a:t>
          </a:r>
        </a:p>
      </dgm:t>
    </dgm:pt>
    <dgm:pt modelId="{64B370DD-6EB6-4D9D-8242-B001C515A67E}" type="parTrans" cxnId="{1A10C854-0C64-4B73-9567-7A738E501E57}">
      <dgm:prSet/>
      <dgm:spPr/>
      <dgm:t>
        <a:bodyPr/>
        <a:lstStyle/>
        <a:p>
          <a:endParaRPr lang="en-US"/>
        </a:p>
      </dgm:t>
    </dgm:pt>
    <dgm:pt modelId="{CC870689-09DA-4746-9B7D-26444697DACE}" type="sibTrans" cxnId="{1A10C854-0C64-4B73-9567-7A738E501E57}">
      <dgm:prSet/>
      <dgm:spPr/>
      <dgm:t>
        <a:bodyPr/>
        <a:lstStyle/>
        <a:p>
          <a:endParaRPr lang="en-US"/>
        </a:p>
      </dgm:t>
    </dgm:pt>
    <dgm:pt modelId="{93167C11-08C2-452B-99CE-04C460F3403F}">
      <dgm:prSet/>
      <dgm:spPr/>
      <dgm:t>
        <a:bodyPr/>
        <a:lstStyle/>
        <a:p>
          <a:pPr>
            <a:lnSpc>
              <a:spcPct val="100000"/>
            </a:lnSpc>
          </a:pPr>
          <a:r>
            <a:rPr lang="en-US" b="1"/>
            <a:t>Equity Concerns: </a:t>
          </a:r>
          <a:r>
            <a:rPr lang="en-US"/>
            <a:t>Did telehealth expand access for disadvantaged children, or primarily supplement care for the wealthy?</a:t>
          </a:r>
        </a:p>
      </dgm:t>
    </dgm:pt>
    <dgm:pt modelId="{3AA84593-3F7F-40D8-B30C-291CFE22E75B}" type="parTrans" cxnId="{8BF9E099-85C6-4F2B-A58F-59A5BBF7A7A5}">
      <dgm:prSet/>
      <dgm:spPr/>
      <dgm:t>
        <a:bodyPr/>
        <a:lstStyle/>
        <a:p>
          <a:endParaRPr lang="en-US"/>
        </a:p>
      </dgm:t>
    </dgm:pt>
    <dgm:pt modelId="{09B1EAB5-4BB6-4AFF-ADFE-838FC87261AB}" type="sibTrans" cxnId="{8BF9E099-85C6-4F2B-A58F-59A5BBF7A7A5}">
      <dgm:prSet/>
      <dgm:spPr/>
      <dgm:t>
        <a:bodyPr/>
        <a:lstStyle/>
        <a:p>
          <a:endParaRPr lang="en-US"/>
        </a:p>
      </dgm:t>
    </dgm:pt>
    <dgm:pt modelId="{C573830A-5F41-4809-B123-6871EAE00BAD}" type="pres">
      <dgm:prSet presAssocID="{D74715EF-9995-4F56-93FA-6E510F474222}" presName="root" presStyleCnt="0">
        <dgm:presLayoutVars>
          <dgm:dir/>
          <dgm:resizeHandles val="exact"/>
        </dgm:presLayoutVars>
      </dgm:prSet>
      <dgm:spPr/>
    </dgm:pt>
    <dgm:pt modelId="{0197C6D8-6388-4C26-A8D2-CC81967A5EAD}" type="pres">
      <dgm:prSet presAssocID="{7E12D087-8F24-48DB-9FDE-4FD0FB65F658}" presName="compNode" presStyleCnt="0"/>
      <dgm:spPr/>
    </dgm:pt>
    <dgm:pt modelId="{5F6BFF04-5587-4BEF-8482-242C15C7CDB0}" type="pres">
      <dgm:prSet presAssocID="{7E12D087-8F24-48DB-9FDE-4FD0FB65F658}" presName="bgRect" presStyleLbl="bgShp" presStyleIdx="0" presStyleCnt="3" custScaleY="104067"/>
      <dgm:spPr/>
    </dgm:pt>
    <dgm:pt modelId="{680F828A-EF30-4B47-935D-3510BFFE0464}" type="pres">
      <dgm:prSet presAssocID="{7E12D087-8F24-48DB-9FDE-4FD0FB65F65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mbulance"/>
        </a:ext>
      </dgm:extLst>
    </dgm:pt>
    <dgm:pt modelId="{3FE7D743-0F93-49FA-A8EF-6274DC49F964}" type="pres">
      <dgm:prSet presAssocID="{7E12D087-8F24-48DB-9FDE-4FD0FB65F658}" presName="spaceRect" presStyleCnt="0"/>
      <dgm:spPr/>
    </dgm:pt>
    <dgm:pt modelId="{CA8700F1-121E-407F-BE0A-A38DD4A7000F}" type="pres">
      <dgm:prSet presAssocID="{7E12D087-8F24-48DB-9FDE-4FD0FB65F658}" presName="parTx" presStyleLbl="revTx" presStyleIdx="0" presStyleCnt="3">
        <dgm:presLayoutVars>
          <dgm:chMax val="0"/>
          <dgm:chPref val="0"/>
        </dgm:presLayoutVars>
      </dgm:prSet>
      <dgm:spPr/>
    </dgm:pt>
    <dgm:pt modelId="{99F20397-9EB6-44EC-95A1-5D9FB8257E31}" type="pres">
      <dgm:prSet presAssocID="{68730D53-B69C-411F-8EB8-C31B2CFACE81}" presName="sibTrans" presStyleCnt="0"/>
      <dgm:spPr/>
    </dgm:pt>
    <dgm:pt modelId="{D8EA5C4A-7120-4B62-99A5-3EB56FB5B643}" type="pres">
      <dgm:prSet presAssocID="{212164EC-6F8B-44E0-BF8B-7C4F74EE2BAE}" presName="compNode" presStyleCnt="0"/>
      <dgm:spPr/>
    </dgm:pt>
    <dgm:pt modelId="{52D19110-527C-4D96-9358-CBD761E2DA4F}" type="pres">
      <dgm:prSet presAssocID="{212164EC-6F8B-44E0-BF8B-7C4F74EE2BAE}" presName="bgRect" presStyleLbl="bgShp" presStyleIdx="1" presStyleCnt="3"/>
      <dgm:spPr/>
    </dgm:pt>
    <dgm:pt modelId="{D05A93C8-E18C-464A-B622-2EFA67E89699}" type="pres">
      <dgm:prSet presAssocID="{212164EC-6F8B-44E0-BF8B-7C4F74EE2BA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ethoscope"/>
        </a:ext>
      </dgm:extLst>
    </dgm:pt>
    <dgm:pt modelId="{87C7AFFF-CA26-4B46-B282-40C5F6342D07}" type="pres">
      <dgm:prSet presAssocID="{212164EC-6F8B-44E0-BF8B-7C4F74EE2BAE}" presName="spaceRect" presStyleCnt="0"/>
      <dgm:spPr/>
    </dgm:pt>
    <dgm:pt modelId="{19CE8780-D6CA-497B-AEBB-FD7CE8A53104}" type="pres">
      <dgm:prSet presAssocID="{212164EC-6F8B-44E0-BF8B-7C4F74EE2BAE}" presName="parTx" presStyleLbl="revTx" presStyleIdx="1" presStyleCnt="3">
        <dgm:presLayoutVars>
          <dgm:chMax val="0"/>
          <dgm:chPref val="0"/>
        </dgm:presLayoutVars>
      </dgm:prSet>
      <dgm:spPr/>
    </dgm:pt>
    <dgm:pt modelId="{1BC36F8D-ED30-49C7-A0F8-BEFE57ED7195}" type="pres">
      <dgm:prSet presAssocID="{CC870689-09DA-4746-9B7D-26444697DACE}" presName="sibTrans" presStyleCnt="0"/>
      <dgm:spPr/>
    </dgm:pt>
    <dgm:pt modelId="{23E49230-5095-46BA-99C1-14DB5DCAB81E}" type="pres">
      <dgm:prSet presAssocID="{93167C11-08C2-452B-99CE-04C460F3403F}" presName="compNode" presStyleCnt="0"/>
      <dgm:spPr/>
    </dgm:pt>
    <dgm:pt modelId="{D84F32E5-670A-4D1E-84E9-0CF218A0A911}" type="pres">
      <dgm:prSet presAssocID="{93167C11-08C2-452B-99CE-04C460F3403F}" presName="bgRect" presStyleLbl="bgShp" presStyleIdx="2" presStyleCnt="3"/>
      <dgm:spPr/>
    </dgm:pt>
    <dgm:pt modelId="{01354633-6FE3-49D6-B7F9-AE8EC1828029}" type="pres">
      <dgm:prSet presAssocID="{93167C11-08C2-452B-99CE-04C460F3403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ctor"/>
        </a:ext>
      </dgm:extLst>
    </dgm:pt>
    <dgm:pt modelId="{2862B375-5BA8-4BA4-B7AB-1643D188B35C}" type="pres">
      <dgm:prSet presAssocID="{93167C11-08C2-452B-99CE-04C460F3403F}" presName="spaceRect" presStyleCnt="0"/>
      <dgm:spPr/>
    </dgm:pt>
    <dgm:pt modelId="{10F8115A-375C-4CFC-8811-F29D9EDD0283}" type="pres">
      <dgm:prSet presAssocID="{93167C11-08C2-452B-99CE-04C460F3403F}" presName="parTx" presStyleLbl="revTx" presStyleIdx="2" presStyleCnt="3">
        <dgm:presLayoutVars>
          <dgm:chMax val="0"/>
          <dgm:chPref val="0"/>
        </dgm:presLayoutVars>
      </dgm:prSet>
      <dgm:spPr/>
    </dgm:pt>
  </dgm:ptLst>
  <dgm:cxnLst>
    <dgm:cxn modelId="{02F6F506-D642-4E52-B0E8-70D793F4F27F}" srcId="{D74715EF-9995-4F56-93FA-6E510F474222}" destId="{7E12D087-8F24-48DB-9FDE-4FD0FB65F658}" srcOrd="0" destOrd="0" parTransId="{ACA1B549-9CA1-4AF1-A54D-DC3DB5FC72F0}" sibTransId="{68730D53-B69C-411F-8EB8-C31B2CFACE81}"/>
    <dgm:cxn modelId="{30FD9B0D-7631-9A4C-A3DB-4F17E6743464}" type="presOf" srcId="{212164EC-6F8B-44E0-BF8B-7C4F74EE2BAE}" destId="{19CE8780-D6CA-497B-AEBB-FD7CE8A53104}" srcOrd="0" destOrd="0" presId="urn:microsoft.com/office/officeart/2018/2/layout/IconVerticalSolidList"/>
    <dgm:cxn modelId="{6B35CF1B-B8F1-2F42-B561-2EDAEB25D4DB}" type="presOf" srcId="{93167C11-08C2-452B-99CE-04C460F3403F}" destId="{10F8115A-375C-4CFC-8811-F29D9EDD0283}" srcOrd="0" destOrd="0" presId="urn:microsoft.com/office/officeart/2018/2/layout/IconVerticalSolidList"/>
    <dgm:cxn modelId="{1A10C854-0C64-4B73-9567-7A738E501E57}" srcId="{D74715EF-9995-4F56-93FA-6E510F474222}" destId="{212164EC-6F8B-44E0-BF8B-7C4F74EE2BAE}" srcOrd="1" destOrd="0" parTransId="{64B370DD-6EB6-4D9D-8242-B001C515A67E}" sibTransId="{CC870689-09DA-4746-9B7D-26444697DACE}"/>
    <dgm:cxn modelId="{5BB7BA5D-78DF-4847-8D2E-8CB1C641DE60}" type="presOf" srcId="{D74715EF-9995-4F56-93FA-6E510F474222}" destId="{C573830A-5F41-4809-B123-6871EAE00BAD}" srcOrd="0" destOrd="0" presId="urn:microsoft.com/office/officeart/2018/2/layout/IconVerticalSolidList"/>
    <dgm:cxn modelId="{8BF9E099-85C6-4F2B-A58F-59A5BBF7A7A5}" srcId="{D74715EF-9995-4F56-93FA-6E510F474222}" destId="{93167C11-08C2-452B-99CE-04C460F3403F}" srcOrd="2" destOrd="0" parTransId="{3AA84593-3F7F-40D8-B30C-291CFE22E75B}" sibTransId="{09B1EAB5-4BB6-4AFF-ADFE-838FC87261AB}"/>
    <dgm:cxn modelId="{FD49BAB3-74C8-8845-A7A2-14FFB6FF11BE}" type="presOf" srcId="{7E12D087-8F24-48DB-9FDE-4FD0FB65F658}" destId="{CA8700F1-121E-407F-BE0A-A38DD4A7000F}" srcOrd="0" destOrd="0" presId="urn:microsoft.com/office/officeart/2018/2/layout/IconVerticalSolidList"/>
    <dgm:cxn modelId="{2407EFCE-A397-3442-AC85-5FECB0CBADFF}" type="presParOf" srcId="{C573830A-5F41-4809-B123-6871EAE00BAD}" destId="{0197C6D8-6388-4C26-A8D2-CC81967A5EAD}" srcOrd="0" destOrd="0" presId="urn:microsoft.com/office/officeart/2018/2/layout/IconVerticalSolidList"/>
    <dgm:cxn modelId="{8B91F3D7-62B4-314D-B019-38F88F869671}" type="presParOf" srcId="{0197C6D8-6388-4C26-A8D2-CC81967A5EAD}" destId="{5F6BFF04-5587-4BEF-8482-242C15C7CDB0}" srcOrd="0" destOrd="0" presId="urn:microsoft.com/office/officeart/2018/2/layout/IconVerticalSolidList"/>
    <dgm:cxn modelId="{C76D9F32-2E10-B046-87E3-BD655AF735F2}" type="presParOf" srcId="{0197C6D8-6388-4C26-A8D2-CC81967A5EAD}" destId="{680F828A-EF30-4B47-935D-3510BFFE0464}" srcOrd="1" destOrd="0" presId="urn:microsoft.com/office/officeart/2018/2/layout/IconVerticalSolidList"/>
    <dgm:cxn modelId="{999EFE42-E7A6-4148-AEA1-4863673944B0}" type="presParOf" srcId="{0197C6D8-6388-4C26-A8D2-CC81967A5EAD}" destId="{3FE7D743-0F93-49FA-A8EF-6274DC49F964}" srcOrd="2" destOrd="0" presId="urn:microsoft.com/office/officeart/2018/2/layout/IconVerticalSolidList"/>
    <dgm:cxn modelId="{C8546BF1-402F-704B-A475-62224948CB6C}" type="presParOf" srcId="{0197C6D8-6388-4C26-A8D2-CC81967A5EAD}" destId="{CA8700F1-121E-407F-BE0A-A38DD4A7000F}" srcOrd="3" destOrd="0" presId="urn:microsoft.com/office/officeart/2018/2/layout/IconVerticalSolidList"/>
    <dgm:cxn modelId="{8A1DF6FE-FB2D-4346-BF42-AF52C1E909ED}" type="presParOf" srcId="{C573830A-5F41-4809-B123-6871EAE00BAD}" destId="{99F20397-9EB6-44EC-95A1-5D9FB8257E31}" srcOrd="1" destOrd="0" presId="urn:microsoft.com/office/officeart/2018/2/layout/IconVerticalSolidList"/>
    <dgm:cxn modelId="{4C04F8CD-B3F8-A44E-B9F4-AB4F23C66C93}" type="presParOf" srcId="{C573830A-5F41-4809-B123-6871EAE00BAD}" destId="{D8EA5C4A-7120-4B62-99A5-3EB56FB5B643}" srcOrd="2" destOrd="0" presId="urn:microsoft.com/office/officeart/2018/2/layout/IconVerticalSolidList"/>
    <dgm:cxn modelId="{0F03E0C9-BD1B-1547-84E9-663C4342987B}" type="presParOf" srcId="{D8EA5C4A-7120-4B62-99A5-3EB56FB5B643}" destId="{52D19110-527C-4D96-9358-CBD761E2DA4F}" srcOrd="0" destOrd="0" presId="urn:microsoft.com/office/officeart/2018/2/layout/IconVerticalSolidList"/>
    <dgm:cxn modelId="{EBFDCFD3-D2E3-1049-A281-0DD6729F2884}" type="presParOf" srcId="{D8EA5C4A-7120-4B62-99A5-3EB56FB5B643}" destId="{D05A93C8-E18C-464A-B622-2EFA67E89699}" srcOrd="1" destOrd="0" presId="urn:microsoft.com/office/officeart/2018/2/layout/IconVerticalSolidList"/>
    <dgm:cxn modelId="{B043E9D2-B9D2-8E4F-B43B-0885D330CAC4}" type="presParOf" srcId="{D8EA5C4A-7120-4B62-99A5-3EB56FB5B643}" destId="{87C7AFFF-CA26-4B46-B282-40C5F6342D07}" srcOrd="2" destOrd="0" presId="urn:microsoft.com/office/officeart/2018/2/layout/IconVerticalSolidList"/>
    <dgm:cxn modelId="{8315E554-CA57-F74C-8F02-24EC68B996FA}" type="presParOf" srcId="{D8EA5C4A-7120-4B62-99A5-3EB56FB5B643}" destId="{19CE8780-D6CA-497B-AEBB-FD7CE8A53104}" srcOrd="3" destOrd="0" presId="urn:microsoft.com/office/officeart/2018/2/layout/IconVerticalSolidList"/>
    <dgm:cxn modelId="{BF2BBE9B-D0B9-F64E-978B-6ACC3F58684D}" type="presParOf" srcId="{C573830A-5F41-4809-B123-6871EAE00BAD}" destId="{1BC36F8D-ED30-49C7-A0F8-BEFE57ED7195}" srcOrd="3" destOrd="0" presId="urn:microsoft.com/office/officeart/2018/2/layout/IconVerticalSolidList"/>
    <dgm:cxn modelId="{58E0DA86-323F-8541-A511-C30229829ED2}" type="presParOf" srcId="{C573830A-5F41-4809-B123-6871EAE00BAD}" destId="{23E49230-5095-46BA-99C1-14DB5DCAB81E}" srcOrd="4" destOrd="0" presId="urn:microsoft.com/office/officeart/2018/2/layout/IconVerticalSolidList"/>
    <dgm:cxn modelId="{EBFBBFC0-4176-3841-8AA6-A4E95ACE65C8}" type="presParOf" srcId="{23E49230-5095-46BA-99C1-14DB5DCAB81E}" destId="{D84F32E5-670A-4D1E-84E9-0CF218A0A911}" srcOrd="0" destOrd="0" presId="urn:microsoft.com/office/officeart/2018/2/layout/IconVerticalSolidList"/>
    <dgm:cxn modelId="{36ADFD4A-8321-BF4F-A284-2E0F66C6BA79}" type="presParOf" srcId="{23E49230-5095-46BA-99C1-14DB5DCAB81E}" destId="{01354633-6FE3-49D6-B7F9-AE8EC1828029}" srcOrd="1" destOrd="0" presId="urn:microsoft.com/office/officeart/2018/2/layout/IconVerticalSolidList"/>
    <dgm:cxn modelId="{CC370777-46A2-124C-B4EF-D89737AFEFE8}" type="presParOf" srcId="{23E49230-5095-46BA-99C1-14DB5DCAB81E}" destId="{2862B375-5BA8-4BA4-B7AB-1643D188B35C}" srcOrd="2" destOrd="0" presId="urn:microsoft.com/office/officeart/2018/2/layout/IconVerticalSolidList"/>
    <dgm:cxn modelId="{7B825758-60A0-DE44-846D-734BEA26817A}" type="presParOf" srcId="{23E49230-5095-46BA-99C1-14DB5DCAB81E}" destId="{10F8115A-375C-4CFC-8811-F29D9EDD028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DFAED1-B4DD-432B-AB04-FD7431BACF4C}"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5BBF9BD4-28DF-4C92-87E8-C79457DD37E6}">
      <dgm:prSet/>
      <dgm:spPr/>
      <dgm:t>
        <a:bodyPr/>
        <a:lstStyle/>
        <a:p>
          <a:r>
            <a:rPr lang="en-US" b="1"/>
            <a:t>1. Data Currency - </a:t>
          </a:r>
          <a:r>
            <a:rPr lang="en-US"/>
            <a:t>Existing national analyses stop at 2021. This study extends analysis to 2023 to test persistence.</a:t>
          </a:r>
        </a:p>
      </dgm:t>
    </dgm:pt>
    <dgm:pt modelId="{8077B7FA-70BA-4C9A-B1A4-B4052B3EAB87}" type="parTrans" cxnId="{24ED3E00-E283-40AB-9AD8-50724660B00C}">
      <dgm:prSet/>
      <dgm:spPr/>
      <dgm:t>
        <a:bodyPr/>
        <a:lstStyle/>
        <a:p>
          <a:endParaRPr lang="en-US"/>
        </a:p>
      </dgm:t>
    </dgm:pt>
    <dgm:pt modelId="{45656276-1DCE-4E91-AC44-7BBC735C19A1}" type="sibTrans" cxnId="{24ED3E00-E283-40AB-9AD8-50724660B00C}">
      <dgm:prSet/>
      <dgm:spPr/>
      <dgm:t>
        <a:bodyPr/>
        <a:lstStyle/>
        <a:p>
          <a:endParaRPr lang="en-US"/>
        </a:p>
      </dgm:t>
    </dgm:pt>
    <dgm:pt modelId="{E333FC18-634E-4D4F-9F1E-3FBC34FE299A}">
      <dgm:prSet/>
      <dgm:spPr/>
      <dgm:t>
        <a:bodyPr/>
        <a:lstStyle/>
        <a:p>
          <a:r>
            <a:rPr lang="en-US" b="1"/>
            <a:t>3. Supplement vs. Substitute - </a:t>
          </a:r>
          <a:r>
            <a:rPr lang="en-US"/>
            <a:t>Prior work counts encounters but rarely tests the mechanism. We model both visit types simultaneously.</a:t>
          </a:r>
        </a:p>
      </dgm:t>
    </dgm:pt>
    <dgm:pt modelId="{39F7DB48-78FA-4515-8525-AEC0D2F1C492}" type="parTrans" cxnId="{4001E3A9-2778-4F17-846F-1E0CAD8601FD}">
      <dgm:prSet/>
      <dgm:spPr/>
      <dgm:t>
        <a:bodyPr/>
        <a:lstStyle/>
        <a:p>
          <a:endParaRPr lang="en-US"/>
        </a:p>
      </dgm:t>
    </dgm:pt>
    <dgm:pt modelId="{4178CC82-06D9-45AE-B1C9-540C425AE0FC}" type="sibTrans" cxnId="{4001E3A9-2778-4F17-846F-1E0CAD8601FD}">
      <dgm:prSet/>
      <dgm:spPr/>
      <dgm:t>
        <a:bodyPr/>
        <a:lstStyle/>
        <a:p>
          <a:endParaRPr lang="en-US"/>
        </a:p>
      </dgm:t>
    </dgm:pt>
    <dgm:pt modelId="{F5F513BA-03D5-42B5-BC69-3E2C0266B633}">
      <dgm:prSet/>
      <dgm:spPr/>
      <dgm:t>
        <a:bodyPr/>
        <a:lstStyle/>
        <a:p>
          <a:r>
            <a:rPr lang="en-US" b="1"/>
            <a:t>4. Telehealth Share - </a:t>
          </a:r>
          <a:r>
            <a:rPr lang="en-US"/>
            <a:t>Few national studies evaluate the proportion (0-1) of care delivered via telehealth using Tobit models.</a:t>
          </a:r>
        </a:p>
      </dgm:t>
    </dgm:pt>
    <dgm:pt modelId="{C62CC719-3E2F-4350-895B-2FB430D99E3B}" type="parTrans" cxnId="{1B82EE66-31DE-44B7-80BC-FFC2295C4826}">
      <dgm:prSet/>
      <dgm:spPr/>
      <dgm:t>
        <a:bodyPr/>
        <a:lstStyle/>
        <a:p>
          <a:endParaRPr lang="en-US"/>
        </a:p>
      </dgm:t>
    </dgm:pt>
    <dgm:pt modelId="{B28745A0-E01C-4A81-B73C-6C12FB428DC6}" type="sibTrans" cxnId="{1B82EE66-31DE-44B7-80BC-FFC2295C4826}">
      <dgm:prSet/>
      <dgm:spPr/>
      <dgm:t>
        <a:bodyPr/>
        <a:lstStyle/>
        <a:p>
          <a:endParaRPr lang="en-US"/>
        </a:p>
      </dgm:t>
    </dgm:pt>
    <dgm:pt modelId="{34766B47-D254-CE49-8E89-B82B61AF5DB6}">
      <dgm:prSet/>
      <dgm:spPr/>
      <dgm:t>
        <a:bodyPr/>
        <a:lstStyle/>
        <a:p>
          <a:r>
            <a:rPr lang="en-US" b="1" dirty="0"/>
            <a:t>2. Pediatric Focus – </a:t>
          </a:r>
          <a:r>
            <a:rPr lang="en-US" strike="sngStrike" dirty="0">
              <a:solidFill>
                <a:srgbClr val="FF0000"/>
              </a:solidFill>
            </a:rPr>
            <a:t>Most</a:t>
          </a:r>
          <a:r>
            <a:rPr lang="en-US" dirty="0">
              <a:solidFill>
                <a:srgbClr val="FF0000"/>
              </a:solidFill>
            </a:rPr>
            <a:t> (3 papers) studies* </a:t>
          </a:r>
          <a:r>
            <a:rPr lang="en-US" dirty="0"/>
            <a:t>combine adults and children, masking specific pediatric disparities. This study isolates ages 6-17.</a:t>
          </a:r>
        </a:p>
      </dgm:t>
    </dgm:pt>
    <dgm:pt modelId="{CE8B0569-26FD-DE4E-865A-35CA12B61A6E}" type="parTrans" cxnId="{D7C797C5-1207-E240-A0BA-077911AA0C13}">
      <dgm:prSet/>
      <dgm:spPr/>
      <dgm:t>
        <a:bodyPr/>
        <a:lstStyle/>
        <a:p>
          <a:endParaRPr lang="en-US"/>
        </a:p>
      </dgm:t>
    </dgm:pt>
    <dgm:pt modelId="{1662AA44-3BB2-8D46-95FA-549745A6AB35}" type="sibTrans" cxnId="{D7C797C5-1207-E240-A0BA-077911AA0C13}">
      <dgm:prSet/>
      <dgm:spPr/>
      <dgm:t>
        <a:bodyPr/>
        <a:lstStyle/>
        <a:p>
          <a:endParaRPr lang="en-US"/>
        </a:p>
      </dgm:t>
    </dgm:pt>
    <dgm:pt modelId="{C8EEABAE-EC19-4699-80AB-01B909839EB9}" type="pres">
      <dgm:prSet presAssocID="{41DFAED1-B4DD-432B-AB04-FD7431BACF4C}" presName="root" presStyleCnt="0">
        <dgm:presLayoutVars>
          <dgm:dir/>
          <dgm:resizeHandles val="exact"/>
        </dgm:presLayoutVars>
      </dgm:prSet>
      <dgm:spPr/>
    </dgm:pt>
    <dgm:pt modelId="{0903EDD6-E492-4C3B-986F-6D4D748B4DC4}" type="pres">
      <dgm:prSet presAssocID="{5BBF9BD4-28DF-4C92-87E8-C79457DD37E6}" presName="compNode" presStyleCnt="0"/>
      <dgm:spPr/>
    </dgm:pt>
    <dgm:pt modelId="{7BFA400E-6F43-401E-B534-9CE183E7C0EB}" type="pres">
      <dgm:prSet presAssocID="{5BBF9BD4-28DF-4C92-87E8-C79457DD37E6}" presName="bgRect" presStyleLbl="bgShp" presStyleIdx="0" presStyleCnt="4"/>
      <dgm:spPr/>
    </dgm:pt>
    <dgm:pt modelId="{ACF5E85E-42D5-4DA2-9955-E707820F71D1}" type="pres">
      <dgm:prSet presAssocID="{5BBF9BD4-28DF-4C92-87E8-C79457DD37E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502B5003-8D04-49AB-989A-4BA2037EB678}" type="pres">
      <dgm:prSet presAssocID="{5BBF9BD4-28DF-4C92-87E8-C79457DD37E6}" presName="spaceRect" presStyleCnt="0"/>
      <dgm:spPr/>
    </dgm:pt>
    <dgm:pt modelId="{BCDCF32E-9BFC-4013-B6FF-BC9923F1D8C1}" type="pres">
      <dgm:prSet presAssocID="{5BBF9BD4-28DF-4C92-87E8-C79457DD37E6}" presName="parTx" presStyleLbl="revTx" presStyleIdx="0" presStyleCnt="4">
        <dgm:presLayoutVars>
          <dgm:chMax val="0"/>
          <dgm:chPref val="0"/>
        </dgm:presLayoutVars>
      </dgm:prSet>
      <dgm:spPr/>
    </dgm:pt>
    <dgm:pt modelId="{407369AB-CB9F-46D3-9CE4-21DEB66A71E8}" type="pres">
      <dgm:prSet presAssocID="{45656276-1DCE-4E91-AC44-7BBC735C19A1}" presName="sibTrans" presStyleCnt="0"/>
      <dgm:spPr/>
    </dgm:pt>
    <dgm:pt modelId="{6F5988AD-632B-4244-BF39-F46F387C6ED1}" type="pres">
      <dgm:prSet presAssocID="{34766B47-D254-CE49-8E89-B82B61AF5DB6}" presName="compNode" presStyleCnt="0"/>
      <dgm:spPr/>
    </dgm:pt>
    <dgm:pt modelId="{52CBE76D-E16B-47B6-AEBD-FEDD0F299148}" type="pres">
      <dgm:prSet presAssocID="{34766B47-D254-CE49-8E89-B82B61AF5DB6}" presName="bgRect" presStyleLbl="bgShp" presStyleIdx="1" presStyleCnt="4"/>
      <dgm:spPr/>
    </dgm:pt>
    <dgm:pt modelId="{B9453030-07BA-46FB-8939-89B2FA67F10B}" type="pres">
      <dgm:prSet presAssocID="{34766B47-D254-CE49-8E89-B82B61AF5DB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1EACE68F-FFBA-462D-A33F-5261B41F79D6}" type="pres">
      <dgm:prSet presAssocID="{34766B47-D254-CE49-8E89-B82B61AF5DB6}" presName="spaceRect" presStyleCnt="0"/>
      <dgm:spPr/>
    </dgm:pt>
    <dgm:pt modelId="{43BF4FC1-F64B-4E8A-8323-D651EAFD0BDF}" type="pres">
      <dgm:prSet presAssocID="{34766B47-D254-CE49-8E89-B82B61AF5DB6}" presName="parTx" presStyleLbl="revTx" presStyleIdx="1" presStyleCnt="4">
        <dgm:presLayoutVars>
          <dgm:chMax val="0"/>
          <dgm:chPref val="0"/>
        </dgm:presLayoutVars>
      </dgm:prSet>
      <dgm:spPr/>
    </dgm:pt>
    <dgm:pt modelId="{9DDB126A-D7ED-4C13-85BB-437978407E76}" type="pres">
      <dgm:prSet presAssocID="{1662AA44-3BB2-8D46-95FA-549745A6AB35}" presName="sibTrans" presStyleCnt="0"/>
      <dgm:spPr/>
    </dgm:pt>
    <dgm:pt modelId="{43700D4C-DBA9-4D80-9E9E-D2A417480A57}" type="pres">
      <dgm:prSet presAssocID="{E333FC18-634E-4D4F-9F1E-3FBC34FE299A}" presName="compNode" presStyleCnt="0"/>
      <dgm:spPr/>
    </dgm:pt>
    <dgm:pt modelId="{8DB2BE6F-81E9-4612-AEFF-70E57957777E}" type="pres">
      <dgm:prSet presAssocID="{E333FC18-634E-4D4F-9F1E-3FBC34FE299A}" presName="bgRect" presStyleLbl="bgShp" presStyleIdx="2" presStyleCnt="4"/>
      <dgm:spPr/>
    </dgm:pt>
    <dgm:pt modelId="{4347CEBB-C440-4751-9503-470749D49484}" type="pres">
      <dgm:prSet presAssocID="{E333FC18-634E-4D4F-9F1E-3FBC34FE299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ospital"/>
        </a:ext>
      </dgm:extLst>
    </dgm:pt>
    <dgm:pt modelId="{B2E1335B-5A3E-45D6-93FC-ABFF8E11E87D}" type="pres">
      <dgm:prSet presAssocID="{E333FC18-634E-4D4F-9F1E-3FBC34FE299A}" presName="spaceRect" presStyleCnt="0"/>
      <dgm:spPr/>
    </dgm:pt>
    <dgm:pt modelId="{C53D1ED6-9E62-400B-A934-1F6143B87CC1}" type="pres">
      <dgm:prSet presAssocID="{E333FC18-634E-4D4F-9F1E-3FBC34FE299A}" presName="parTx" presStyleLbl="revTx" presStyleIdx="2" presStyleCnt="4">
        <dgm:presLayoutVars>
          <dgm:chMax val="0"/>
          <dgm:chPref val="0"/>
        </dgm:presLayoutVars>
      </dgm:prSet>
      <dgm:spPr/>
    </dgm:pt>
    <dgm:pt modelId="{1D28DF5A-D209-4453-B915-916F69A80E0A}" type="pres">
      <dgm:prSet presAssocID="{4178CC82-06D9-45AE-B1C9-540C425AE0FC}" presName="sibTrans" presStyleCnt="0"/>
      <dgm:spPr/>
    </dgm:pt>
    <dgm:pt modelId="{C7D62085-F92D-43CF-9613-588B75CE677C}" type="pres">
      <dgm:prSet presAssocID="{F5F513BA-03D5-42B5-BC69-3E2C0266B633}" presName="compNode" presStyleCnt="0"/>
      <dgm:spPr/>
    </dgm:pt>
    <dgm:pt modelId="{7A82BA85-D1CB-4457-95D3-C9B746511BFC}" type="pres">
      <dgm:prSet presAssocID="{F5F513BA-03D5-42B5-BC69-3E2C0266B633}" presName="bgRect" presStyleLbl="bgShp" presStyleIdx="3" presStyleCnt="4"/>
      <dgm:spPr/>
    </dgm:pt>
    <dgm:pt modelId="{32BA5BBC-E60C-4BAE-A0D4-9A667D674D1D}" type="pres">
      <dgm:prSet presAssocID="{F5F513BA-03D5-42B5-BC69-3E2C0266B63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arty Mask"/>
        </a:ext>
      </dgm:extLst>
    </dgm:pt>
    <dgm:pt modelId="{D1906C90-3324-4C7C-90AC-9FAAD88B946B}" type="pres">
      <dgm:prSet presAssocID="{F5F513BA-03D5-42B5-BC69-3E2C0266B633}" presName="spaceRect" presStyleCnt="0"/>
      <dgm:spPr/>
    </dgm:pt>
    <dgm:pt modelId="{C9EE54ED-C023-4BFE-B748-E9315412116A}" type="pres">
      <dgm:prSet presAssocID="{F5F513BA-03D5-42B5-BC69-3E2C0266B633}" presName="parTx" presStyleLbl="revTx" presStyleIdx="3" presStyleCnt="4">
        <dgm:presLayoutVars>
          <dgm:chMax val="0"/>
          <dgm:chPref val="0"/>
        </dgm:presLayoutVars>
      </dgm:prSet>
      <dgm:spPr/>
    </dgm:pt>
  </dgm:ptLst>
  <dgm:cxnLst>
    <dgm:cxn modelId="{24ED3E00-E283-40AB-9AD8-50724660B00C}" srcId="{41DFAED1-B4DD-432B-AB04-FD7431BACF4C}" destId="{5BBF9BD4-28DF-4C92-87E8-C79457DD37E6}" srcOrd="0" destOrd="0" parTransId="{8077B7FA-70BA-4C9A-B1A4-B4052B3EAB87}" sibTransId="{45656276-1DCE-4E91-AC44-7BBC735C19A1}"/>
    <dgm:cxn modelId="{7C251F1F-859E-0C44-AE54-23CBD827EFA6}" type="presOf" srcId="{34766B47-D254-CE49-8E89-B82B61AF5DB6}" destId="{43BF4FC1-F64B-4E8A-8323-D651EAFD0BDF}" srcOrd="0" destOrd="0" presId="urn:microsoft.com/office/officeart/2018/2/layout/IconVerticalSolidList"/>
    <dgm:cxn modelId="{2C0F7943-326B-4D4C-BB12-81C5B009DBCA}" type="presOf" srcId="{F5F513BA-03D5-42B5-BC69-3E2C0266B633}" destId="{C9EE54ED-C023-4BFE-B748-E9315412116A}" srcOrd="0" destOrd="0" presId="urn:microsoft.com/office/officeart/2018/2/layout/IconVerticalSolidList"/>
    <dgm:cxn modelId="{3A40BE52-6A5E-2D4C-9676-D32F5685CCAC}" type="presOf" srcId="{41DFAED1-B4DD-432B-AB04-FD7431BACF4C}" destId="{C8EEABAE-EC19-4699-80AB-01B909839EB9}" srcOrd="0" destOrd="0" presId="urn:microsoft.com/office/officeart/2018/2/layout/IconVerticalSolidList"/>
    <dgm:cxn modelId="{1B82EE66-31DE-44B7-80BC-FFC2295C4826}" srcId="{41DFAED1-B4DD-432B-AB04-FD7431BACF4C}" destId="{F5F513BA-03D5-42B5-BC69-3E2C0266B633}" srcOrd="3" destOrd="0" parTransId="{C62CC719-3E2F-4350-895B-2FB430D99E3B}" sibTransId="{B28745A0-E01C-4A81-B73C-6C12FB428DC6}"/>
    <dgm:cxn modelId="{749DFC6E-41EF-4048-8388-986F23E9B9C9}" type="presOf" srcId="{5BBF9BD4-28DF-4C92-87E8-C79457DD37E6}" destId="{BCDCF32E-9BFC-4013-B6FF-BC9923F1D8C1}" srcOrd="0" destOrd="0" presId="urn:microsoft.com/office/officeart/2018/2/layout/IconVerticalSolidList"/>
    <dgm:cxn modelId="{3A9A169F-C39C-B54C-AE09-645079E92E85}" type="presOf" srcId="{E333FC18-634E-4D4F-9F1E-3FBC34FE299A}" destId="{C53D1ED6-9E62-400B-A934-1F6143B87CC1}" srcOrd="0" destOrd="0" presId="urn:microsoft.com/office/officeart/2018/2/layout/IconVerticalSolidList"/>
    <dgm:cxn modelId="{4001E3A9-2778-4F17-846F-1E0CAD8601FD}" srcId="{41DFAED1-B4DD-432B-AB04-FD7431BACF4C}" destId="{E333FC18-634E-4D4F-9F1E-3FBC34FE299A}" srcOrd="2" destOrd="0" parTransId="{39F7DB48-78FA-4515-8525-AEC0D2F1C492}" sibTransId="{4178CC82-06D9-45AE-B1C9-540C425AE0FC}"/>
    <dgm:cxn modelId="{D7C797C5-1207-E240-A0BA-077911AA0C13}" srcId="{41DFAED1-B4DD-432B-AB04-FD7431BACF4C}" destId="{34766B47-D254-CE49-8E89-B82B61AF5DB6}" srcOrd="1" destOrd="0" parTransId="{CE8B0569-26FD-DE4E-865A-35CA12B61A6E}" sibTransId="{1662AA44-3BB2-8D46-95FA-549745A6AB35}"/>
    <dgm:cxn modelId="{B1300949-2EE3-D549-B4FB-7DF53A1A3194}" type="presParOf" srcId="{C8EEABAE-EC19-4699-80AB-01B909839EB9}" destId="{0903EDD6-E492-4C3B-986F-6D4D748B4DC4}" srcOrd="0" destOrd="0" presId="urn:microsoft.com/office/officeart/2018/2/layout/IconVerticalSolidList"/>
    <dgm:cxn modelId="{F047C18B-E6D9-904A-9B44-69E3F90C9D0A}" type="presParOf" srcId="{0903EDD6-E492-4C3B-986F-6D4D748B4DC4}" destId="{7BFA400E-6F43-401E-B534-9CE183E7C0EB}" srcOrd="0" destOrd="0" presId="urn:microsoft.com/office/officeart/2018/2/layout/IconVerticalSolidList"/>
    <dgm:cxn modelId="{C3184811-EC59-714C-B519-E8663341DFF9}" type="presParOf" srcId="{0903EDD6-E492-4C3B-986F-6D4D748B4DC4}" destId="{ACF5E85E-42D5-4DA2-9955-E707820F71D1}" srcOrd="1" destOrd="0" presId="urn:microsoft.com/office/officeart/2018/2/layout/IconVerticalSolidList"/>
    <dgm:cxn modelId="{4639D8E0-17F3-3A4F-9F2D-9FDC0CFCD823}" type="presParOf" srcId="{0903EDD6-E492-4C3B-986F-6D4D748B4DC4}" destId="{502B5003-8D04-49AB-989A-4BA2037EB678}" srcOrd="2" destOrd="0" presId="urn:microsoft.com/office/officeart/2018/2/layout/IconVerticalSolidList"/>
    <dgm:cxn modelId="{E650AD3F-3A64-6941-B4FF-51FF44EE74B9}" type="presParOf" srcId="{0903EDD6-E492-4C3B-986F-6D4D748B4DC4}" destId="{BCDCF32E-9BFC-4013-B6FF-BC9923F1D8C1}" srcOrd="3" destOrd="0" presId="urn:microsoft.com/office/officeart/2018/2/layout/IconVerticalSolidList"/>
    <dgm:cxn modelId="{E56A19CB-A125-714A-B745-3B6D8AD797A7}" type="presParOf" srcId="{C8EEABAE-EC19-4699-80AB-01B909839EB9}" destId="{407369AB-CB9F-46D3-9CE4-21DEB66A71E8}" srcOrd="1" destOrd="0" presId="urn:microsoft.com/office/officeart/2018/2/layout/IconVerticalSolidList"/>
    <dgm:cxn modelId="{15EA2CEF-0EAA-524B-9C0A-5765963EC1BF}" type="presParOf" srcId="{C8EEABAE-EC19-4699-80AB-01B909839EB9}" destId="{6F5988AD-632B-4244-BF39-F46F387C6ED1}" srcOrd="2" destOrd="0" presId="urn:microsoft.com/office/officeart/2018/2/layout/IconVerticalSolidList"/>
    <dgm:cxn modelId="{9BD6C2F2-BBEC-9B44-9554-E954B93C9497}" type="presParOf" srcId="{6F5988AD-632B-4244-BF39-F46F387C6ED1}" destId="{52CBE76D-E16B-47B6-AEBD-FEDD0F299148}" srcOrd="0" destOrd="0" presId="urn:microsoft.com/office/officeart/2018/2/layout/IconVerticalSolidList"/>
    <dgm:cxn modelId="{DD671D2D-7475-CC42-84BD-AEC62674842C}" type="presParOf" srcId="{6F5988AD-632B-4244-BF39-F46F387C6ED1}" destId="{B9453030-07BA-46FB-8939-89B2FA67F10B}" srcOrd="1" destOrd="0" presId="urn:microsoft.com/office/officeart/2018/2/layout/IconVerticalSolidList"/>
    <dgm:cxn modelId="{852ECEA7-BB8D-A846-8937-A9FE7DE95CFC}" type="presParOf" srcId="{6F5988AD-632B-4244-BF39-F46F387C6ED1}" destId="{1EACE68F-FFBA-462D-A33F-5261B41F79D6}" srcOrd="2" destOrd="0" presId="urn:microsoft.com/office/officeart/2018/2/layout/IconVerticalSolidList"/>
    <dgm:cxn modelId="{2FA2F042-0321-2547-BE8F-35E51AACCE3E}" type="presParOf" srcId="{6F5988AD-632B-4244-BF39-F46F387C6ED1}" destId="{43BF4FC1-F64B-4E8A-8323-D651EAFD0BDF}" srcOrd="3" destOrd="0" presId="urn:microsoft.com/office/officeart/2018/2/layout/IconVerticalSolidList"/>
    <dgm:cxn modelId="{363FB218-EB03-7F42-BE07-6E568E30972F}" type="presParOf" srcId="{C8EEABAE-EC19-4699-80AB-01B909839EB9}" destId="{9DDB126A-D7ED-4C13-85BB-437978407E76}" srcOrd="3" destOrd="0" presId="urn:microsoft.com/office/officeart/2018/2/layout/IconVerticalSolidList"/>
    <dgm:cxn modelId="{16186162-A6AF-7845-8B83-C76CD173BC4B}" type="presParOf" srcId="{C8EEABAE-EC19-4699-80AB-01B909839EB9}" destId="{43700D4C-DBA9-4D80-9E9E-D2A417480A57}" srcOrd="4" destOrd="0" presId="urn:microsoft.com/office/officeart/2018/2/layout/IconVerticalSolidList"/>
    <dgm:cxn modelId="{50C9DEAD-BD2F-2B47-9E67-662EA6CCA74D}" type="presParOf" srcId="{43700D4C-DBA9-4D80-9E9E-D2A417480A57}" destId="{8DB2BE6F-81E9-4612-AEFF-70E57957777E}" srcOrd="0" destOrd="0" presId="urn:microsoft.com/office/officeart/2018/2/layout/IconVerticalSolidList"/>
    <dgm:cxn modelId="{5A07EEAA-9854-D847-B8A7-083C095FD69E}" type="presParOf" srcId="{43700D4C-DBA9-4D80-9E9E-D2A417480A57}" destId="{4347CEBB-C440-4751-9503-470749D49484}" srcOrd="1" destOrd="0" presId="urn:microsoft.com/office/officeart/2018/2/layout/IconVerticalSolidList"/>
    <dgm:cxn modelId="{888741D6-D7B5-6E47-A2CA-5FD09FB79A81}" type="presParOf" srcId="{43700D4C-DBA9-4D80-9E9E-D2A417480A57}" destId="{B2E1335B-5A3E-45D6-93FC-ABFF8E11E87D}" srcOrd="2" destOrd="0" presId="urn:microsoft.com/office/officeart/2018/2/layout/IconVerticalSolidList"/>
    <dgm:cxn modelId="{4EF508BB-5711-D546-8D13-67B3016E90B2}" type="presParOf" srcId="{43700D4C-DBA9-4D80-9E9E-D2A417480A57}" destId="{C53D1ED6-9E62-400B-A934-1F6143B87CC1}" srcOrd="3" destOrd="0" presId="urn:microsoft.com/office/officeart/2018/2/layout/IconVerticalSolidList"/>
    <dgm:cxn modelId="{D8F34879-4388-934B-8AEE-5EFBF3E5ED55}" type="presParOf" srcId="{C8EEABAE-EC19-4699-80AB-01B909839EB9}" destId="{1D28DF5A-D209-4453-B915-916F69A80E0A}" srcOrd="5" destOrd="0" presId="urn:microsoft.com/office/officeart/2018/2/layout/IconVerticalSolidList"/>
    <dgm:cxn modelId="{01A60AA0-0C7C-D94B-910F-CF83A2ABF819}" type="presParOf" srcId="{C8EEABAE-EC19-4699-80AB-01B909839EB9}" destId="{C7D62085-F92D-43CF-9613-588B75CE677C}" srcOrd="6" destOrd="0" presId="urn:microsoft.com/office/officeart/2018/2/layout/IconVerticalSolidList"/>
    <dgm:cxn modelId="{579D98D2-F624-2549-A9F1-CCC82A93CABA}" type="presParOf" srcId="{C7D62085-F92D-43CF-9613-588B75CE677C}" destId="{7A82BA85-D1CB-4457-95D3-C9B746511BFC}" srcOrd="0" destOrd="0" presId="urn:microsoft.com/office/officeart/2018/2/layout/IconVerticalSolidList"/>
    <dgm:cxn modelId="{47719F91-715C-CB43-B0C8-077C3FB28A27}" type="presParOf" srcId="{C7D62085-F92D-43CF-9613-588B75CE677C}" destId="{32BA5BBC-E60C-4BAE-A0D4-9A667D674D1D}" srcOrd="1" destOrd="0" presId="urn:microsoft.com/office/officeart/2018/2/layout/IconVerticalSolidList"/>
    <dgm:cxn modelId="{44AAE423-B5E6-714A-9E44-F51A16657F97}" type="presParOf" srcId="{C7D62085-F92D-43CF-9613-588B75CE677C}" destId="{D1906C90-3324-4C7C-90AC-9FAAD88B946B}" srcOrd="2" destOrd="0" presId="urn:microsoft.com/office/officeart/2018/2/layout/IconVerticalSolidList"/>
    <dgm:cxn modelId="{ED6F6549-BF46-BA4D-BA5C-6BAD313D3366}" type="presParOf" srcId="{C7D62085-F92D-43CF-9613-588B75CE677C}" destId="{C9EE54ED-C023-4BFE-B748-E9315412116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BFF04-5587-4BEF-8482-242C15C7CDB0}">
      <dsp:nvSpPr>
        <dsp:cNvPr id="0" name=""/>
        <dsp:cNvSpPr/>
      </dsp:nvSpPr>
      <dsp:spPr>
        <a:xfrm>
          <a:off x="0" y="79"/>
          <a:ext cx="4899660" cy="12440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0F828A-EF30-4B47-935D-3510BFFE0464}">
      <dsp:nvSpPr>
        <dsp:cNvPr id="0" name=""/>
        <dsp:cNvSpPr/>
      </dsp:nvSpPr>
      <dsp:spPr>
        <a:xfrm>
          <a:off x="361629" y="293369"/>
          <a:ext cx="657507" cy="6575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8700F1-121E-407F-BE0A-A38DD4A7000F}">
      <dsp:nvSpPr>
        <dsp:cNvPr id="0" name=""/>
        <dsp:cNvSpPr/>
      </dsp:nvSpPr>
      <dsp:spPr>
        <a:xfrm>
          <a:off x="1380766" y="24388"/>
          <a:ext cx="3518893" cy="1195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520" tIns="126520" rIns="126520" bIns="126520" numCol="1" spcCol="1270" anchor="ctr" anchorCtr="0">
          <a:noAutofit/>
        </a:bodyPr>
        <a:lstStyle/>
        <a:p>
          <a:pPr marL="0" lvl="0" indent="0" algn="l" defTabSz="666750">
            <a:lnSpc>
              <a:spcPct val="100000"/>
            </a:lnSpc>
            <a:spcBef>
              <a:spcPct val="0"/>
            </a:spcBef>
            <a:spcAft>
              <a:spcPct val="35000"/>
            </a:spcAft>
            <a:buNone/>
          </a:pPr>
          <a:r>
            <a:rPr lang="en-US" sz="1500" b="1" kern="1200" dirty="0"/>
            <a:t>The COVID-19 Surge: </a:t>
          </a:r>
          <a:r>
            <a:rPr lang="en-US" sz="1500" kern="1200" dirty="0"/>
            <a:t>Telehealth usage skyrocketed during the acute phase of the pandemic.</a:t>
          </a:r>
        </a:p>
      </dsp:txBody>
      <dsp:txXfrm>
        <a:off x="1380766" y="24388"/>
        <a:ext cx="3518893" cy="1195468"/>
      </dsp:txXfrm>
    </dsp:sp>
    <dsp:sp modelId="{52D19110-527C-4D96-9358-CBD761E2DA4F}">
      <dsp:nvSpPr>
        <dsp:cNvPr id="0" name=""/>
        <dsp:cNvSpPr/>
      </dsp:nvSpPr>
      <dsp:spPr>
        <a:xfrm>
          <a:off x="0" y="1543034"/>
          <a:ext cx="4899660" cy="11954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5A93C8-E18C-464A-B622-2EFA67E89699}">
      <dsp:nvSpPr>
        <dsp:cNvPr id="0" name=""/>
        <dsp:cNvSpPr/>
      </dsp:nvSpPr>
      <dsp:spPr>
        <a:xfrm>
          <a:off x="361629" y="1812014"/>
          <a:ext cx="657507" cy="6575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CE8780-D6CA-497B-AEBB-FD7CE8A53104}">
      <dsp:nvSpPr>
        <dsp:cNvPr id="0" name=""/>
        <dsp:cNvSpPr/>
      </dsp:nvSpPr>
      <dsp:spPr>
        <a:xfrm>
          <a:off x="1380766" y="1543034"/>
          <a:ext cx="3518893" cy="1195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520" tIns="126520" rIns="126520" bIns="126520" numCol="1" spcCol="1270" anchor="ctr" anchorCtr="0">
          <a:noAutofit/>
        </a:bodyPr>
        <a:lstStyle/>
        <a:p>
          <a:pPr marL="0" lvl="0" indent="0" algn="l" defTabSz="666750">
            <a:lnSpc>
              <a:spcPct val="100000"/>
            </a:lnSpc>
            <a:spcBef>
              <a:spcPct val="0"/>
            </a:spcBef>
            <a:spcAft>
              <a:spcPct val="35000"/>
            </a:spcAft>
            <a:buNone/>
          </a:pPr>
          <a:r>
            <a:rPr lang="en-US" sz="1500" b="1" kern="1200"/>
            <a:t>The Post-Pandemic Question:</a:t>
          </a:r>
          <a:r>
            <a:rPr lang="en-US" sz="1500" kern="1200"/>
            <a:t> What is the role of telehealth in the "recovery" years (2021-2023)?</a:t>
          </a:r>
        </a:p>
      </dsp:txBody>
      <dsp:txXfrm>
        <a:off x="1380766" y="1543034"/>
        <a:ext cx="3518893" cy="1195468"/>
      </dsp:txXfrm>
    </dsp:sp>
    <dsp:sp modelId="{D84F32E5-670A-4D1E-84E9-0CF218A0A911}">
      <dsp:nvSpPr>
        <dsp:cNvPr id="0" name=""/>
        <dsp:cNvSpPr/>
      </dsp:nvSpPr>
      <dsp:spPr>
        <a:xfrm>
          <a:off x="0" y="3037370"/>
          <a:ext cx="4899660" cy="11954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354633-6FE3-49D6-B7F9-AE8EC1828029}">
      <dsp:nvSpPr>
        <dsp:cNvPr id="0" name=""/>
        <dsp:cNvSpPr/>
      </dsp:nvSpPr>
      <dsp:spPr>
        <a:xfrm>
          <a:off x="361629" y="3306350"/>
          <a:ext cx="657507" cy="6575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F8115A-375C-4CFC-8811-F29D9EDD0283}">
      <dsp:nvSpPr>
        <dsp:cNvPr id="0" name=""/>
        <dsp:cNvSpPr/>
      </dsp:nvSpPr>
      <dsp:spPr>
        <a:xfrm>
          <a:off x="1380766" y="3037370"/>
          <a:ext cx="3518893" cy="1195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520" tIns="126520" rIns="126520" bIns="126520" numCol="1" spcCol="1270" anchor="ctr" anchorCtr="0">
          <a:noAutofit/>
        </a:bodyPr>
        <a:lstStyle/>
        <a:p>
          <a:pPr marL="0" lvl="0" indent="0" algn="l" defTabSz="666750">
            <a:lnSpc>
              <a:spcPct val="100000"/>
            </a:lnSpc>
            <a:spcBef>
              <a:spcPct val="0"/>
            </a:spcBef>
            <a:spcAft>
              <a:spcPct val="35000"/>
            </a:spcAft>
            <a:buNone/>
          </a:pPr>
          <a:r>
            <a:rPr lang="en-US" sz="1500" b="1" kern="1200"/>
            <a:t>Equity Concerns: </a:t>
          </a:r>
          <a:r>
            <a:rPr lang="en-US" sz="1500" kern="1200"/>
            <a:t>Did telehealth expand access for disadvantaged children, or primarily supplement care for the wealthy?</a:t>
          </a:r>
        </a:p>
      </dsp:txBody>
      <dsp:txXfrm>
        <a:off x="1380766" y="3037370"/>
        <a:ext cx="3518893" cy="11954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FA400E-6F43-401E-B534-9CE183E7C0EB}">
      <dsp:nvSpPr>
        <dsp:cNvPr id="0" name=""/>
        <dsp:cNvSpPr/>
      </dsp:nvSpPr>
      <dsp:spPr>
        <a:xfrm>
          <a:off x="0" y="1806"/>
          <a:ext cx="7886700" cy="915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F5E85E-42D5-4DA2-9955-E707820F71D1}">
      <dsp:nvSpPr>
        <dsp:cNvPr id="0" name=""/>
        <dsp:cNvSpPr/>
      </dsp:nvSpPr>
      <dsp:spPr>
        <a:xfrm>
          <a:off x="276958" y="207808"/>
          <a:ext cx="503560" cy="50356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CDCF32E-9BFC-4013-B6FF-BC9923F1D8C1}">
      <dsp:nvSpPr>
        <dsp:cNvPr id="0" name=""/>
        <dsp:cNvSpPr/>
      </dsp:nvSpPr>
      <dsp:spPr>
        <a:xfrm>
          <a:off x="1057476" y="1806"/>
          <a:ext cx="68292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755650">
            <a:lnSpc>
              <a:spcPct val="90000"/>
            </a:lnSpc>
            <a:spcBef>
              <a:spcPct val="0"/>
            </a:spcBef>
            <a:spcAft>
              <a:spcPct val="35000"/>
            </a:spcAft>
            <a:buNone/>
          </a:pPr>
          <a:r>
            <a:rPr lang="en-US" sz="1700" b="1" kern="1200"/>
            <a:t>1. Data Currency - </a:t>
          </a:r>
          <a:r>
            <a:rPr lang="en-US" sz="1700" kern="1200"/>
            <a:t>Existing national analyses stop at 2021. This study extends analysis to 2023 to test persistence.</a:t>
          </a:r>
        </a:p>
      </dsp:txBody>
      <dsp:txXfrm>
        <a:off x="1057476" y="1806"/>
        <a:ext cx="6829223" cy="915564"/>
      </dsp:txXfrm>
    </dsp:sp>
    <dsp:sp modelId="{52CBE76D-E16B-47B6-AEBD-FEDD0F299148}">
      <dsp:nvSpPr>
        <dsp:cNvPr id="0" name=""/>
        <dsp:cNvSpPr/>
      </dsp:nvSpPr>
      <dsp:spPr>
        <a:xfrm>
          <a:off x="0" y="1146262"/>
          <a:ext cx="7886700" cy="915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453030-07BA-46FB-8939-89B2FA67F10B}">
      <dsp:nvSpPr>
        <dsp:cNvPr id="0" name=""/>
        <dsp:cNvSpPr/>
      </dsp:nvSpPr>
      <dsp:spPr>
        <a:xfrm>
          <a:off x="276958" y="1352264"/>
          <a:ext cx="503560" cy="50356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BF4FC1-F64B-4E8A-8323-D651EAFD0BDF}">
      <dsp:nvSpPr>
        <dsp:cNvPr id="0" name=""/>
        <dsp:cNvSpPr/>
      </dsp:nvSpPr>
      <dsp:spPr>
        <a:xfrm>
          <a:off x="1057476" y="1146262"/>
          <a:ext cx="68292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755650">
            <a:lnSpc>
              <a:spcPct val="90000"/>
            </a:lnSpc>
            <a:spcBef>
              <a:spcPct val="0"/>
            </a:spcBef>
            <a:spcAft>
              <a:spcPct val="35000"/>
            </a:spcAft>
            <a:buNone/>
          </a:pPr>
          <a:r>
            <a:rPr lang="en-US" sz="1700" b="1" kern="1200" dirty="0"/>
            <a:t>2. Pediatric Focus – </a:t>
          </a:r>
          <a:r>
            <a:rPr lang="en-US" sz="1700" strike="sngStrike" kern="1200" dirty="0">
              <a:solidFill>
                <a:srgbClr val="FF0000"/>
              </a:solidFill>
            </a:rPr>
            <a:t>Most</a:t>
          </a:r>
          <a:r>
            <a:rPr lang="en-US" sz="1700" kern="1200" dirty="0">
              <a:solidFill>
                <a:srgbClr val="FF0000"/>
              </a:solidFill>
            </a:rPr>
            <a:t> (3 papers) studies* </a:t>
          </a:r>
          <a:r>
            <a:rPr lang="en-US" sz="1700" kern="1200" dirty="0"/>
            <a:t>combine adults and children, masking specific pediatric disparities. This study isolates ages 6-17.</a:t>
          </a:r>
        </a:p>
      </dsp:txBody>
      <dsp:txXfrm>
        <a:off x="1057476" y="1146262"/>
        <a:ext cx="6829223" cy="915564"/>
      </dsp:txXfrm>
    </dsp:sp>
    <dsp:sp modelId="{8DB2BE6F-81E9-4612-AEFF-70E57957777E}">
      <dsp:nvSpPr>
        <dsp:cNvPr id="0" name=""/>
        <dsp:cNvSpPr/>
      </dsp:nvSpPr>
      <dsp:spPr>
        <a:xfrm>
          <a:off x="0" y="2290717"/>
          <a:ext cx="7886700" cy="915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47CEBB-C440-4751-9503-470749D49484}">
      <dsp:nvSpPr>
        <dsp:cNvPr id="0" name=""/>
        <dsp:cNvSpPr/>
      </dsp:nvSpPr>
      <dsp:spPr>
        <a:xfrm>
          <a:off x="276958" y="2496719"/>
          <a:ext cx="503560" cy="50356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53D1ED6-9E62-400B-A934-1F6143B87CC1}">
      <dsp:nvSpPr>
        <dsp:cNvPr id="0" name=""/>
        <dsp:cNvSpPr/>
      </dsp:nvSpPr>
      <dsp:spPr>
        <a:xfrm>
          <a:off x="1057476" y="2290717"/>
          <a:ext cx="68292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755650">
            <a:lnSpc>
              <a:spcPct val="90000"/>
            </a:lnSpc>
            <a:spcBef>
              <a:spcPct val="0"/>
            </a:spcBef>
            <a:spcAft>
              <a:spcPct val="35000"/>
            </a:spcAft>
            <a:buNone/>
          </a:pPr>
          <a:r>
            <a:rPr lang="en-US" sz="1700" b="1" kern="1200"/>
            <a:t>3. Supplement vs. Substitute - </a:t>
          </a:r>
          <a:r>
            <a:rPr lang="en-US" sz="1700" kern="1200"/>
            <a:t>Prior work counts encounters but rarely tests the mechanism. We model both visit types simultaneously.</a:t>
          </a:r>
        </a:p>
      </dsp:txBody>
      <dsp:txXfrm>
        <a:off x="1057476" y="2290717"/>
        <a:ext cx="6829223" cy="915564"/>
      </dsp:txXfrm>
    </dsp:sp>
    <dsp:sp modelId="{7A82BA85-D1CB-4457-95D3-C9B746511BFC}">
      <dsp:nvSpPr>
        <dsp:cNvPr id="0" name=""/>
        <dsp:cNvSpPr/>
      </dsp:nvSpPr>
      <dsp:spPr>
        <a:xfrm>
          <a:off x="0" y="3435173"/>
          <a:ext cx="7886700" cy="915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BA5BBC-E60C-4BAE-A0D4-9A667D674D1D}">
      <dsp:nvSpPr>
        <dsp:cNvPr id="0" name=""/>
        <dsp:cNvSpPr/>
      </dsp:nvSpPr>
      <dsp:spPr>
        <a:xfrm>
          <a:off x="276958" y="3641175"/>
          <a:ext cx="503560" cy="50356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EE54ED-C023-4BFE-B748-E9315412116A}">
      <dsp:nvSpPr>
        <dsp:cNvPr id="0" name=""/>
        <dsp:cNvSpPr/>
      </dsp:nvSpPr>
      <dsp:spPr>
        <a:xfrm>
          <a:off x="1057476" y="3435173"/>
          <a:ext cx="68292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755650">
            <a:lnSpc>
              <a:spcPct val="90000"/>
            </a:lnSpc>
            <a:spcBef>
              <a:spcPct val="0"/>
            </a:spcBef>
            <a:spcAft>
              <a:spcPct val="35000"/>
            </a:spcAft>
            <a:buNone/>
          </a:pPr>
          <a:r>
            <a:rPr lang="en-US" sz="1700" b="1" kern="1200"/>
            <a:t>4. Telehealth Share - </a:t>
          </a:r>
          <a:r>
            <a:rPr lang="en-US" sz="1700" kern="1200"/>
            <a:t>Few national studies evaluate the proportion (0-1) of care delivered via telehealth using Tobit models.</a:t>
          </a:r>
        </a:p>
      </dsp:txBody>
      <dsp:txXfrm>
        <a:off x="1057476" y="3435173"/>
        <a:ext cx="6829223" cy="91556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988D95-3F79-6A42-91A3-39DD82ACFFBE}" type="datetimeFigureOut">
              <a:rPr lang="en-US" smtClean="0"/>
              <a:t>12/7/25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80B63E-4B02-BC4C-8751-22ADD55189A2}" type="slidenum">
              <a:rPr lang="en-US" smtClean="0"/>
              <a:t>‹#›</a:t>
            </a:fld>
            <a:endParaRPr lang="en-US"/>
          </a:p>
        </p:txBody>
      </p:sp>
    </p:spTree>
    <p:extLst>
      <p:ext uri="{BB962C8B-B14F-4D97-AF65-F5344CB8AC3E}">
        <p14:creationId xmlns:p14="http://schemas.microsoft.com/office/powerpoint/2010/main" val="1658144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project examines socioeconomic and insurance disparities in pediatric telehealth use from 2021–2023, using pooled nationally representative MEPS data. I focus on two key questions: who uses telehealth, and whether telehealth supplements or replaces in-person care. The analysis applies survey-weighted nonlinear and count models consistent with ECON 642 methods.</a:t>
            </a:r>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1</a:t>
            </a:fld>
            <a:endParaRPr lang="en-US"/>
          </a:p>
        </p:txBody>
      </p:sp>
    </p:spTree>
    <p:extLst>
      <p:ext uri="{BB962C8B-B14F-4D97-AF65-F5344CB8AC3E}">
        <p14:creationId xmlns:p14="http://schemas.microsoft.com/office/powerpoint/2010/main" val="804426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Telehealth usage surged during the COVID-19 pandemic, but the post-pandemic pattern is uncertain—especially for children. Prior work, such as the </a:t>
            </a:r>
            <a:r>
              <a:rPr lang="en-US" sz="1200" b="0" i="0" u="none" strike="noStrike" kern="1200" dirty="0" err="1">
                <a:solidFill>
                  <a:schemeClr val="tx1"/>
                </a:solidFill>
                <a:effectLst/>
                <a:latin typeface="+mn-lt"/>
                <a:ea typeface="+mn-ea"/>
                <a:cs typeface="+mn-cs"/>
              </a:rPr>
              <a:t>Olfson</a:t>
            </a:r>
            <a:r>
              <a:rPr lang="en-US" sz="1200" b="0" i="0" u="none" strike="noStrike" kern="1200" dirty="0">
                <a:solidFill>
                  <a:schemeClr val="tx1"/>
                </a:solidFill>
                <a:effectLst/>
                <a:latin typeface="+mn-lt"/>
                <a:ea typeface="+mn-ea"/>
                <a:cs typeface="+mn-cs"/>
              </a:rPr>
              <a:t> 2023 JAMA Psychiatry paper, focuses on 2021 only and is largely mental-health-specific. We extend the time horizon to 2021–2023 and broaden the scope to all outpatient care. That gives us a clearer picture of whether telehealth became a supplementary or substitutive mode of care.</a:t>
            </a:r>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2</a:t>
            </a:fld>
            <a:endParaRPr lang="en-US"/>
          </a:p>
        </p:txBody>
      </p:sp>
    </p:spTree>
    <p:extLst>
      <p:ext uri="{BB962C8B-B14F-4D97-AF65-F5344CB8AC3E}">
        <p14:creationId xmlns:p14="http://schemas.microsoft.com/office/powerpoint/2010/main" val="2326426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“Three main gaps exist:</a:t>
            </a:r>
          </a:p>
          <a:p>
            <a:r>
              <a:rPr lang="en-US" sz="1200" b="1" i="0" u="none" strike="noStrike" kern="1200" dirty="0">
                <a:solidFill>
                  <a:schemeClr val="tx1"/>
                </a:solidFill>
                <a:effectLst/>
                <a:latin typeface="+mn-lt"/>
                <a:ea typeface="+mn-ea"/>
                <a:cs typeface="+mn-cs"/>
              </a:rPr>
              <a:t>Time limitation</a:t>
            </a:r>
            <a:r>
              <a:rPr lang="en-US" sz="1200" b="0" i="0" u="none" strike="noStrike" kern="1200" dirty="0">
                <a:solidFill>
                  <a:schemeClr val="tx1"/>
                </a:solidFill>
                <a:effectLst/>
                <a:latin typeface="+mn-lt"/>
                <a:ea typeface="+mn-ea"/>
                <a:cs typeface="+mn-cs"/>
              </a:rPr>
              <a:t>—most national studies end at 2021.</a:t>
            </a:r>
          </a:p>
          <a:p>
            <a:r>
              <a:rPr lang="en-US" sz="1200" b="1" i="0" u="none" strike="noStrike" kern="1200" dirty="0">
                <a:solidFill>
                  <a:schemeClr val="tx1"/>
                </a:solidFill>
                <a:effectLst/>
                <a:latin typeface="+mn-lt"/>
                <a:ea typeface="+mn-ea"/>
                <a:cs typeface="+mn-cs"/>
              </a:rPr>
              <a:t>Equity gaps</a:t>
            </a:r>
            <a:r>
              <a:rPr lang="en-US" sz="1200" b="0" i="0" u="none" strike="noStrike" kern="1200" dirty="0">
                <a:solidFill>
                  <a:schemeClr val="tx1"/>
                </a:solidFill>
                <a:effectLst/>
                <a:latin typeface="+mn-lt"/>
                <a:ea typeface="+mn-ea"/>
                <a:cs typeface="+mn-cs"/>
              </a:rPr>
              <a:t>—the digital divide literature suggests disparities, but no multi-year national analysis has quantified it in children.</a:t>
            </a:r>
          </a:p>
          <a:p>
            <a:r>
              <a:rPr lang="en-US" sz="1200" b="1" i="0" u="none" strike="noStrike" kern="1200" dirty="0">
                <a:solidFill>
                  <a:schemeClr val="tx1"/>
                </a:solidFill>
                <a:effectLst/>
                <a:latin typeface="+mn-lt"/>
                <a:ea typeface="+mn-ea"/>
                <a:cs typeface="+mn-cs"/>
              </a:rPr>
              <a:t>Care substitution</a:t>
            </a:r>
            <a:r>
              <a:rPr lang="en-US" sz="1200" b="0" i="0" u="none" strike="noStrike" kern="1200" dirty="0">
                <a:solidFill>
                  <a:schemeClr val="tx1"/>
                </a:solidFill>
                <a:effectLst/>
                <a:latin typeface="+mn-lt"/>
                <a:ea typeface="+mn-ea"/>
                <a:cs typeface="+mn-cs"/>
              </a:rPr>
              <a:t>—virtually no pediatric study distinguishes whether telehealth reduces in-person visits or simply adds more visits for certain groups.</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My research addresses all three.”</a:t>
            </a:r>
          </a:p>
          <a:p>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3</a:t>
            </a:fld>
            <a:endParaRPr lang="en-US"/>
          </a:p>
        </p:txBody>
      </p:sp>
    </p:spTree>
    <p:extLst>
      <p:ext uri="{BB962C8B-B14F-4D97-AF65-F5344CB8AC3E}">
        <p14:creationId xmlns:p14="http://schemas.microsoft.com/office/powerpoint/2010/main" val="1773069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central question asks whether telehealth is a complement or substitute to in-person care among U.S. children aged 6–17, and how socioeconomic and insurance characteristics shape this pattern. This is framed directly in terms of extensive margin (any telehealth) and intensive margin (counts and shares).</a:t>
            </a:r>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4</a:t>
            </a:fld>
            <a:endParaRPr lang="en-US"/>
          </a:p>
        </p:txBody>
      </p:sp>
    </p:spTree>
    <p:extLst>
      <p:ext uri="{BB962C8B-B14F-4D97-AF65-F5344CB8AC3E}">
        <p14:creationId xmlns:p14="http://schemas.microsoft.com/office/powerpoint/2010/main" val="3827626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Based on prior literature and the digital divide framework, I expect:</a:t>
            </a:r>
          </a:p>
          <a:p>
            <a:r>
              <a:rPr lang="en-US" sz="1200" b="1" i="0" u="none" strike="noStrike" kern="1200" dirty="0">
                <a:solidFill>
                  <a:schemeClr val="tx1"/>
                </a:solidFill>
                <a:effectLst/>
                <a:latin typeface="+mn-lt"/>
                <a:ea typeface="+mn-ea"/>
                <a:cs typeface="+mn-cs"/>
              </a:rPr>
              <a:t>Differential access</a:t>
            </a:r>
            <a:r>
              <a:rPr lang="en-US" sz="1200" b="0" i="0" u="none" strike="noStrike" kern="1200" dirty="0">
                <a:solidFill>
                  <a:schemeClr val="tx1"/>
                </a:solidFill>
                <a:effectLst/>
                <a:latin typeface="+mn-lt"/>
                <a:ea typeface="+mn-ea"/>
                <a:cs typeface="+mn-cs"/>
              </a:rPr>
              <a:t>—higher-income and privately insured children will show higher telehealth use.</a:t>
            </a:r>
          </a:p>
          <a:p>
            <a:r>
              <a:rPr lang="en-US" sz="1200" b="1" i="0" u="none" strike="noStrike" kern="1200" dirty="0">
                <a:solidFill>
                  <a:schemeClr val="tx1"/>
                </a:solidFill>
                <a:effectLst/>
                <a:latin typeface="+mn-lt"/>
                <a:ea typeface="+mn-ea"/>
                <a:cs typeface="+mn-cs"/>
              </a:rPr>
              <a:t>Supplement vs. substitution</a:t>
            </a:r>
            <a:r>
              <a:rPr lang="en-US" sz="1200" b="0" i="0" u="none" strike="noStrike" kern="1200" dirty="0">
                <a:solidFill>
                  <a:schemeClr val="tx1"/>
                </a:solidFill>
                <a:effectLst/>
                <a:latin typeface="+mn-lt"/>
                <a:ea typeface="+mn-ea"/>
                <a:cs typeface="+mn-cs"/>
              </a:rPr>
              <a:t>—higher SES groups likely supplement care, whereas lower SES groups may show substitution or exclusion effects.</a:t>
            </a:r>
          </a:p>
          <a:p>
            <a:r>
              <a:rPr lang="en-US" sz="1200" b="1" i="0" u="none" strike="noStrike" kern="1200" dirty="0">
                <a:solidFill>
                  <a:schemeClr val="tx1"/>
                </a:solidFill>
                <a:effectLst/>
                <a:latin typeface="+mn-lt"/>
                <a:ea typeface="+mn-ea"/>
                <a:cs typeface="+mn-cs"/>
              </a:rPr>
              <a:t>Persistence</a:t>
            </a:r>
            <a:r>
              <a:rPr lang="en-US" sz="1200" b="0" i="0" u="none" strike="noStrike" kern="1200" dirty="0">
                <a:solidFill>
                  <a:schemeClr val="tx1"/>
                </a:solidFill>
                <a:effectLst/>
                <a:latin typeface="+mn-lt"/>
                <a:ea typeface="+mn-ea"/>
                <a:cs typeface="+mn-cs"/>
              </a:rPr>
              <a:t>—telehealth does not revert to pre-pandemic lows by 2023.</a:t>
            </a:r>
          </a:p>
          <a:p>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5</a:t>
            </a:fld>
            <a:endParaRPr lang="en-US"/>
          </a:p>
        </p:txBody>
      </p:sp>
    </p:spTree>
    <p:extLst>
      <p:ext uri="{BB962C8B-B14F-4D97-AF65-F5344CB8AC3E}">
        <p14:creationId xmlns:p14="http://schemas.microsoft.com/office/powerpoint/2010/main" val="3608386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study examines how socioeconomic resources, insurance coverage, and structural access factors influence a family’s ability to engage with telehealth. It considers how these factors, along with child health needs, determine telehealth utilization patterns and whether telehealth is used as a supplement or substitute for in-person care.</a:t>
            </a:r>
          </a:p>
        </p:txBody>
      </p:sp>
      <p:sp>
        <p:nvSpPr>
          <p:cNvPr id="4" name="Slide Number Placeholder 3"/>
          <p:cNvSpPr>
            <a:spLocks noGrp="1"/>
          </p:cNvSpPr>
          <p:nvPr>
            <p:ph type="sldNum" sz="quarter" idx="5"/>
          </p:nvPr>
        </p:nvSpPr>
        <p:spPr/>
        <p:txBody>
          <a:bodyPr/>
          <a:lstStyle/>
          <a:p>
            <a:fld id="{B780B63E-4B02-BC4C-8751-22ADD55189A2}" type="slidenum">
              <a:rPr lang="en-US" smtClean="0"/>
              <a:t>6</a:t>
            </a:fld>
            <a:endParaRPr lang="en-US"/>
          </a:p>
        </p:txBody>
      </p:sp>
    </p:spTree>
    <p:extLst>
      <p:ext uri="{BB962C8B-B14F-4D97-AF65-F5344CB8AC3E}">
        <p14:creationId xmlns:p14="http://schemas.microsoft.com/office/powerpoint/2010/main" val="2610499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“We use MEPS 2021–2023 Full-Year Consolidated data merged with Office-Based and Outpatient visit files. The study population is children aged 6–17. Telehealth is identified using the TELEHEALTHFLAG variable in the event files and aggregated to the person-year level. All analyses are weighted using MEPS survey design variables: VARSTR, VARPSU, and </a:t>
            </a:r>
            <a:r>
              <a:rPr lang="en-US" sz="1200" b="0" i="0" u="none" strike="noStrike" kern="1200" dirty="0" err="1">
                <a:solidFill>
                  <a:schemeClr val="tx1"/>
                </a:solidFill>
                <a:effectLst/>
                <a:latin typeface="+mn-lt"/>
                <a:ea typeface="+mn-ea"/>
                <a:cs typeface="+mn-cs"/>
              </a:rPr>
              <a:t>PERWTxxF</a:t>
            </a:r>
            <a:r>
              <a:rPr lang="en-US" sz="1200" b="0" i="0" u="none" strike="noStrike"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7</a:t>
            </a:fld>
            <a:endParaRPr lang="en-US"/>
          </a:p>
        </p:txBody>
      </p:sp>
    </p:spTree>
    <p:extLst>
      <p:ext uri="{BB962C8B-B14F-4D97-AF65-F5344CB8AC3E}">
        <p14:creationId xmlns:p14="http://schemas.microsoft.com/office/powerpoint/2010/main" val="3902983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Exposure variables include insurance type, family income as a percentage of poverty, race/ethnicity, and age groups. Outcomes include:</a:t>
            </a:r>
          </a:p>
          <a:p>
            <a:pPr marL="228600" indent="-228600">
              <a:buFont typeface="+mj-lt"/>
              <a:buAutoNum type="arabicPeriod"/>
            </a:pPr>
            <a:r>
              <a:rPr lang="en-US" sz="1200" b="0" i="0" u="none" strike="noStrike" kern="1200" dirty="0">
                <a:solidFill>
                  <a:schemeClr val="tx1"/>
                </a:solidFill>
                <a:effectLst/>
                <a:latin typeface="+mn-lt"/>
                <a:ea typeface="+mn-ea"/>
                <a:cs typeface="+mn-cs"/>
              </a:rPr>
              <a:t>Any telehealth use (binary),</a:t>
            </a:r>
          </a:p>
          <a:p>
            <a:pPr marL="228600" indent="-228600">
              <a:buFont typeface="+mj-lt"/>
              <a:buAutoNum type="arabicPeriod"/>
            </a:pPr>
            <a:r>
              <a:rPr lang="en-US" sz="1200" b="0" i="0" u="none" strike="noStrike" kern="1200" dirty="0">
                <a:solidFill>
                  <a:schemeClr val="tx1"/>
                </a:solidFill>
                <a:effectLst/>
                <a:latin typeface="+mn-lt"/>
                <a:ea typeface="+mn-ea"/>
                <a:cs typeface="+mn-cs"/>
              </a:rPr>
              <a:t>Number of telehealth visits,</a:t>
            </a:r>
          </a:p>
          <a:p>
            <a:pPr marL="228600" indent="-228600">
              <a:buFont typeface="+mj-lt"/>
              <a:buAutoNum type="arabicPeriod"/>
            </a:pPr>
            <a:r>
              <a:rPr lang="en-US" sz="1200" b="0" i="0" u="none" strike="noStrike" kern="1200" dirty="0">
                <a:solidFill>
                  <a:schemeClr val="tx1"/>
                </a:solidFill>
                <a:effectLst/>
                <a:latin typeface="+mn-lt"/>
                <a:ea typeface="+mn-ea"/>
                <a:cs typeface="+mn-cs"/>
              </a:rPr>
              <a:t>Number of in-person visits,</a:t>
            </a:r>
          </a:p>
          <a:p>
            <a:pPr marL="228600" indent="-228600">
              <a:buFont typeface="+mj-lt"/>
              <a:buAutoNum type="arabicPeriod"/>
            </a:pPr>
            <a:r>
              <a:rPr lang="en-US" sz="1200" b="0" i="0" u="none" strike="noStrike" kern="1200" dirty="0">
                <a:solidFill>
                  <a:schemeClr val="tx1"/>
                </a:solidFill>
                <a:effectLst/>
                <a:latin typeface="+mn-lt"/>
                <a:ea typeface="+mn-ea"/>
                <a:cs typeface="+mn-cs"/>
              </a:rPr>
              <a:t>Telehealth share = TH / (TH + in-person).</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All models control for demographic, chronic conditions, and region.</a:t>
            </a:r>
          </a:p>
        </p:txBody>
      </p:sp>
      <p:sp>
        <p:nvSpPr>
          <p:cNvPr id="4" name="Slide Number Placeholder 3"/>
          <p:cNvSpPr>
            <a:spLocks noGrp="1"/>
          </p:cNvSpPr>
          <p:nvPr>
            <p:ph type="sldNum" sz="quarter" idx="5"/>
          </p:nvPr>
        </p:nvSpPr>
        <p:spPr/>
        <p:txBody>
          <a:bodyPr/>
          <a:lstStyle/>
          <a:p>
            <a:fld id="{B780B63E-4B02-BC4C-8751-22ADD55189A2}" type="slidenum">
              <a:rPr lang="en-US" smtClean="0"/>
              <a:t>8</a:t>
            </a:fld>
            <a:endParaRPr lang="en-US"/>
          </a:p>
        </p:txBody>
      </p:sp>
    </p:spTree>
    <p:extLst>
      <p:ext uri="{BB962C8B-B14F-4D97-AF65-F5344CB8AC3E}">
        <p14:creationId xmlns:p14="http://schemas.microsoft.com/office/powerpoint/2010/main" val="1523023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table summarizes the socioeconomic distribution of the sample. </a:t>
            </a:r>
          </a:p>
          <a:p>
            <a:r>
              <a:rPr lang="en-US" sz="1200" b="0" i="0" u="none" strike="noStrike" kern="1200" dirty="0">
                <a:solidFill>
                  <a:schemeClr val="tx1"/>
                </a:solidFill>
                <a:effectLst/>
                <a:latin typeface="+mn-lt"/>
                <a:ea typeface="+mn-ea"/>
                <a:cs typeface="+mn-cs"/>
              </a:rPr>
              <a:t>Telehealth users skew older within pediatric ages, more often from higher-income families, and more likely to hold private insurance. </a:t>
            </a:r>
          </a:p>
          <a:p>
            <a:r>
              <a:rPr lang="en-US" sz="1200" b="0" i="0" u="none" strike="noStrike" kern="1200" dirty="0">
                <a:solidFill>
                  <a:schemeClr val="tx1"/>
                </a:solidFill>
                <a:effectLst/>
                <a:latin typeface="+mn-lt"/>
                <a:ea typeface="+mn-ea"/>
                <a:cs typeface="+mn-cs"/>
              </a:rPr>
              <a:t>These patterns preview the disparities confirmed in regression models.</a:t>
            </a:r>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9</a:t>
            </a:fld>
            <a:endParaRPr lang="en-US"/>
          </a:p>
        </p:txBody>
      </p:sp>
    </p:spTree>
    <p:extLst>
      <p:ext uri="{BB962C8B-B14F-4D97-AF65-F5344CB8AC3E}">
        <p14:creationId xmlns:p14="http://schemas.microsoft.com/office/powerpoint/2010/main" val="3386547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Telehealth use declined from </a:t>
            </a:r>
            <a:r>
              <a:rPr lang="en-US" sz="1200" b="1" i="0" u="none" strike="noStrike" kern="1200" dirty="0">
                <a:solidFill>
                  <a:schemeClr val="tx1"/>
                </a:solidFill>
                <a:effectLst/>
                <a:latin typeface="+mn-lt"/>
                <a:ea typeface="+mn-ea"/>
                <a:cs typeface="+mn-cs"/>
              </a:rPr>
              <a:t>7.9% in 2021</a:t>
            </a:r>
            <a:r>
              <a:rPr lang="en-US" sz="1200" b="0" i="0" u="none" strike="noStrike" kern="1200" dirty="0">
                <a:solidFill>
                  <a:schemeClr val="tx1"/>
                </a:solidFill>
                <a:effectLst/>
                <a:latin typeface="+mn-lt"/>
                <a:ea typeface="+mn-ea"/>
                <a:cs typeface="+mn-cs"/>
              </a:rPr>
              <a:t> to </a:t>
            </a:r>
            <a:r>
              <a:rPr lang="en-US" sz="1200" b="1" i="0" u="none" strike="noStrike" kern="1200" dirty="0">
                <a:solidFill>
                  <a:schemeClr val="tx1"/>
                </a:solidFill>
                <a:effectLst/>
                <a:latin typeface="+mn-lt"/>
                <a:ea typeface="+mn-ea"/>
                <a:cs typeface="+mn-cs"/>
              </a:rPr>
              <a:t>6.1% in 2022</a:t>
            </a:r>
            <a:r>
              <a:rPr lang="en-US" sz="1200" b="0" i="0" u="none" strike="noStrike" kern="1200" dirty="0">
                <a:solidFill>
                  <a:schemeClr val="tx1"/>
                </a:solidFill>
                <a:effectLst/>
                <a:latin typeface="+mn-lt"/>
                <a:ea typeface="+mn-ea"/>
                <a:cs typeface="+mn-cs"/>
              </a:rPr>
              <a:t>, then plateaued in 2023. This suggests telehealth did not collapse post-pandemic but stabilized at higher-than-pre-pandemic levels.</a:t>
            </a:r>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11</a:t>
            </a:fld>
            <a:endParaRPr lang="en-US"/>
          </a:p>
        </p:txBody>
      </p:sp>
    </p:spTree>
    <p:extLst>
      <p:ext uri="{BB962C8B-B14F-4D97-AF65-F5344CB8AC3E}">
        <p14:creationId xmlns:p14="http://schemas.microsoft.com/office/powerpoint/2010/main" val="242790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We estimate four models:</a:t>
            </a:r>
          </a:p>
          <a:p>
            <a:r>
              <a:rPr lang="en-US" sz="1200" b="1" i="0" u="none" strike="noStrike" kern="1200" dirty="0">
                <a:solidFill>
                  <a:schemeClr val="tx1"/>
                </a:solidFill>
                <a:effectLst/>
                <a:latin typeface="+mn-lt"/>
                <a:ea typeface="+mn-ea"/>
                <a:cs typeface="+mn-cs"/>
              </a:rPr>
              <a:t>Logit:</a:t>
            </a:r>
            <a:r>
              <a:rPr lang="en-US" sz="1200" b="0" i="0" u="none" strike="noStrike" kern="1200" dirty="0">
                <a:solidFill>
                  <a:schemeClr val="tx1"/>
                </a:solidFill>
                <a:effectLst/>
                <a:latin typeface="+mn-lt"/>
                <a:ea typeface="+mn-ea"/>
                <a:cs typeface="+mn-cs"/>
              </a:rPr>
              <a:t> Any telehealth use.</a:t>
            </a:r>
          </a:p>
          <a:p>
            <a:r>
              <a:rPr lang="en-US" sz="1200" b="1" i="0" u="none" strike="noStrike" kern="1200" dirty="0">
                <a:solidFill>
                  <a:schemeClr val="tx1"/>
                </a:solidFill>
                <a:effectLst/>
                <a:latin typeface="+mn-lt"/>
                <a:ea typeface="+mn-ea"/>
                <a:cs typeface="+mn-cs"/>
              </a:rPr>
              <a:t>Negative binomial:</a:t>
            </a:r>
            <a:r>
              <a:rPr lang="en-US" sz="1200" b="0" i="0" u="none" strike="noStrike" kern="1200" dirty="0">
                <a:solidFill>
                  <a:schemeClr val="tx1"/>
                </a:solidFill>
                <a:effectLst/>
                <a:latin typeface="+mn-lt"/>
                <a:ea typeface="+mn-ea"/>
                <a:cs typeface="+mn-cs"/>
              </a:rPr>
              <a:t> Count of telehealth visits.</a:t>
            </a:r>
          </a:p>
          <a:p>
            <a:r>
              <a:rPr lang="en-US" sz="1200" b="1" i="0" u="none" strike="noStrike" kern="1200" dirty="0">
                <a:solidFill>
                  <a:schemeClr val="tx1"/>
                </a:solidFill>
                <a:effectLst/>
                <a:latin typeface="+mn-lt"/>
                <a:ea typeface="+mn-ea"/>
                <a:cs typeface="+mn-cs"/>
              </a:rPr>
              <a:t>Negative binomial:</a:t>
            </a:r>
            <a:r>
              <a:rPr lang="en-US" sz="1200" b="0" i="0" u="none" strike="noStrike" kern="1200" dirty="0">
                <a:solidFill>
                  <a:schemeClr val="tx1"/>
                </a:solidFill>
                <a:effectLst/>
                <a:latin typeface="+mn-lt"/>
                <a:ea typeface="+mn-ea"/>
                <a:cs typeface="+mn-cs"/>
              </a:rPr>
              <a:t> Count of in-person visits.</a:t>
            </a:r>
          </a:p>
          <a:p>
            <a:r>
              <a:rPr lang="en-US" sz="1200" b="1" i="0" u="none" strike="noStrike" kern="1200" dirty="0">
                <a:solidFill>
                  <a:schemeClr val="tx1"/>
                </a:solidFill>
                <a:effectLst/>
                <a:latin typeface="+mn-lt"/>
                <a:ea typeface="+mn-ea"/>
                <a:cs typeface="+mn-cs"/>
              </a:rPr>
              <a:t>Fractional logit:</a:t>
            </a:r>
            <a:r>
              <a:rPr lang="en-US" sz="1200" b="0" i="0" u="none" strike="noStrike" kern="1200" dirty="0">
                <a:solidFill>
                  <a:schemeClr val="tx1"/>
                </a:solidFill>
                <a:effectLst/>
                <a:latin typeface="+mn-lt"/>
                <a:ea typeface="+mn-ea"/>
                <a:cs typeface="+mn-cs"/>
              </a:rPr>
              <a:t> Telehealth share.</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Survey weights and design structure correctly applied. These models allow us to study both extensive and intensive margins.</a:t>
            </a:r>
          </a:p>
          <a:p>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13</a:t>
            </a:fld>
            <a:endParaRPr lang="en-US"/>
          </a:p>
        </p:txBody>
      </p:sp>
    </p:spTree>
    <p:extLst>
      <p:ext uri="{BB962C8B-B14F-4D97-AF65-F5344CB8AC3E}">
        <p14:creationId xmlns:p14="http://schemas.microsoft.com/office/powerpoint/2010/main" val="464265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revealed significant socioeconomic and racial disparities in access to telehealth. After adjusting for health needs and insurance, children in high-income households (&gt;400% FPL) had significantly higher odds of using telehealth compared to children in poverty (AOR [calculate exp(0.72) ≈ 2.05]; p=0.003). Conversely, Non-Hispanic Black children were significantly less likely to access telehealth services than Hispanic children (p=0.013). Clinical need was a strong driver of access, with children having Special Health Care Needs (CSHCN) or fair/poor mental health showing the highest probability of utilization</a:t>
            </a:r>
          </a:p>
          <a:p>
            <a:endParaRPr lang="en-US" dirty="0"/>
          </a:p>
          <a:p>
            <a:endParaRPr lang="en-US" dirty="0"/>
          </a:p>
          <a:p>
            <a:r>
              <a:rPr lang="en-US" dirty="0"/>
              <a:t>In – Detail logistic regression results (Model 1) in log file, here are three significant findings:</a:t>
            </a:r>
          </a:p>
          <a:p>
            <a:r>
              <a:rPr lang="en-US" b="1" dirty="0"/>
              <a:t>A Persistent "Digital Divide" by Income:</a:t>
            </a:r>
            <a:r>
              <a:rPr lang="en-US" dirty="0"/>
              <a:t> Even after controlling for insurance and health needs, children in high-income households (&gt;400% FPL) had significantly higher odds of accessing telehealth compared to children in poverty (Coeff = 0.72, p=0.003), confirming that financial resources remain a key driver of digital access.</a:t>
            </a:r>
          </a:p>
          <a:p>
            <a:r>
              <a:rPr lang="en-US" b="1" dirty="0"/>
              <a:t>Significant Racial Disparities for Black Children:</a:t>
            </a:r>
            <a:r>
              <a:rPr lang="en-US" dirty="0"/>
              <a:t> Non-Hispanic Black children were significantly less likely to use telehealth services than Hispanic children (Coeff = -0.70, p=0.013), identifying a specific barrier for this group that is not explained by socioeconomic status or clinical need.</a:t>
            </a:r>
          </a:p>
          <a:p>
            <a:r>
              <a:rPr lang="en-US" b="1" dirty="0"/>
              <a:t>High Utility for Vulnerable Groups despite Declining Overall Access:</a:t>
            </a:r>
            <a:r>
              <a:rPr lang="en-US" dirty="0"/>
              <a:t> While overall probability of telehealth use dropped significantly in 2022 (p=0.007) and 2023 (p=0.026) compared to 2021, telehealth remains a critical modality for vulnerable populations, with strong positive associations found for children with Special Health Care Needs (p&lt;0.001) and those with fair/poor mental health (p&lt;0.001).</a:t>
            </a:r>
          </a:p>
          <a:p>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14</a:t>
            </a:fld>
            <a:endParaRPr lang="en-US"/>
          </a:p>
        </p:txBody>
      </p:sp>
    </p:spTree>
    <p:extLst>
      <p:ext uri="{BB962C8B-B14F-4D97-AF65-F5344CB8AC3E}">
        <p14:creationId xmlns:p14="http://schemas.microsoft.com/office/powerpoint/2010/main" val="700563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Telehealth use declines for all socioeconomic groups from 2021 to 2023, with no sign of recovery. Higher-income and privately insured children consistently show the highest predicted probabilities, while uninsured children remain near the floor. The socioeconomic gradient is stable and persistent, suggesting telehealth remains disproportionately used by more advantaged families even as overall utilization falls.</a:t>
            </a:r>
          </a:p>
          <a:p>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15</a:t>
            </a:fld>
            <a:endParaRPr lang="en-US"/>
          </a:p>
        </p:txBody>
      </p:sp>
    </p:spTree>
    <p:extLst>
      <p:ext uri="{BB962C8B-B14F-4D97-AF65-F5344CB8AC3E}">
        <p14:creationId xmlns:p14="http://schemas.microsoft.com/office/powerpoint/2010/main" val="1414836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AD95D-0593-5689-22DA-68DD5DF77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D1241-D0CB-4A58-1363-7E3B450E1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CD3DB-D459-8F62-260C-C1EA8B8AC610}"/>
              </a:ext>
            </a:extLst>
          </p:cNvPr>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Why Negative Binomial?</a:t>
            </a:r>
            <a:br>
              <a:rPr lang="en-US" dirty="0"/>
            </a:br>
            <a:r>
              <a:rPr lang="en-US" sz="1200" b="0" i="0" u="none" strike="noStrike" kern="1200" dirty="0">
                <a:solidFill>
                  <a:schemeClr val="tx1"/>
                </a:solidFill>
                <a:effectLst/>
                <a:latin typeface="+mn-lt"/>
                <a:ea typeface="+mn-ea"/>
                <a:cs typeface="+mn-cs"/>
              </a:rPr>
              <a:t>Telehealth visit counts are </a:t>
            </a:r>
            <a:r>
              <a:rPr lang="en-US" sz="1200" b="1" i="0" u="none" strike="noStrike" kern="1200" dirty="0">
                <a:solidFill>
                  <a:schemeClr val="tx1"/>
                </a:solidFill>
                <a:effectLst/>
                <a:latin typeface="+mn-lt"/>
                <a:ea typeface="+mn-ea"/>
                <a:cs typeface="+mn-cs"/>
              </a:rPr>
              <a:t>over-dispersed</a:t>
            </a:r>
            <a:r>
              <a:rPr lang="en-US" sz="1200" b="0" i="0" u="none" strike="noStrike" kern="1200" dirty="0">
                <a:solidFill>
                  <a:schemeClr val="tx1"/>
                </a:solidFill>
                <a:effectLst/>
                <a:latin typeface="+mn-lt"/>
                <a:ea typeface="+mn-ea"/>
                <a:cs typeface="+mn-cs"/>
              </a:rPr>
              <a:t> (variance &gt;&gt; mean). Poisson would misfit; NB handles this correctly.</a:t>
            </a:r>
          </a:p>
          <a:p>
            <a:endParaRPr lang="en-US" sz="1200" b="0" i="0" u="none" strike="noStrike" kern="1200" dirty="0">
              <a:solidFill>
                <a:schemeClr val="tx1"/>
              </a:solidFill>
              <a:effectLst/>
              <a:latin typeface="+mn-lt"/>
              <a:ea typeface="+mn-ea"/>
              <a:cs typeface="+mn-cs"/>
            </a:endParaRPr>
          </a:p>
          <a:p>
            <a:r>
              <a:rPr lang="en-US" dirty="0"/>
              <a:t>Negative binomial regression revealed that the intensity of telehealth utilization was heavily stratified by income. After adjusting for clinical need, children in high-income households (&gt;400% FPL) had a telehealth visit rate 2.84 times higher than children in poverty (IRR 2.84; p=0.016). Significant racial disparities were also observed, with Non-Hispanic Black (IRR 0.41) and Asian (IRR 0.19) children having significantly lower visit rates than Hispanic children. Clinical complexity was the strongest predictor of intensity: children with Special Health Care Needs (CSHCN) had visit rates nearly 10 times higher than their peers (IRR 9.57; p&lt;0.001).</a:t>
            </a:r>
          </a:p>
        </p:txBody>
      </p:sp>
      <p:sp>
        <p:nvSpPr>
          <p:cNvPr id="4" name="Slide Number Placeholder 3">
            <a:extLst>
              <a:ext uri="{FF2B5EF4-FFF2-40B4-BE49-F238E27FC236}">
                <a16:creationId xmlns:a16="http://schemas.microsoft.com/office/drawing/2014/main" id="{7A8CF2BE-627F-753E-24C0-48F97BDDF640}"/>
              </a:ext>
            </a:extLst>
          </p:cNvPr>
          <p:cNvSpPr>
            <a:spLocks noGrp="1"/>
          </p:cNvSpPr>
          <p:nvPr>
            <p:ph type="sldNum" sz="quarter" idx="5"/>
          </p:nvPr>
        </p:nvSpPr>
        <p:spPr/>
        <p:txBody>
          <a:bodyPr/>
          <a:lstStyle/>
          <a:p>
            <a:fld id="{B780B63E-4B02-BC4C-8751-22ADD55189A2}" type="slidenum">
              <a:rPr lang="en-US" smtClean="0"/>
              <a:t>16</a:t>
            </a:fld>
            <a:endParaRPr lang="en-US"/>
          </a:p>
        </p:txBody>
      </p:sp>
    </p:spTree>
    <p:extLst>
      <p:ext uri="{BB962C8B-B14F-4D97-AF65-F5344CB8AC3E}">
        <p14:creationId xmlns:p14="http://schemas.microsoft.com/office/powerpoint/2010/main" val="2161522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17</a:t>
            </a:fld>
            <a:endParaRPr lang="en-US"/>
          </a:p>
        </p:txBody>
      </p:sp>
    </p:spTree>
    <p:extLst>
      <p:ext uri="{BB962C8B-B14F-4D97-AF65-F5344CB8AC3E}">
        <p14:creationId xmlns:p14="http://schemas.microsoft.com/office/powerpoint/2010/main" val="19522689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9AFA6-3A96-EB6C-0711-D83E58FE0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A4BDD-104A-82E6-DD2A-3DE4CC759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4F0B61-7E8A-7193-BCB4-8A61AE85549E}"/>
              </a:ext>
            </a:extLst>
          </p:cNvPr>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Why Negative Binomial?</a:t>
            </a:r>
            <a:br>
              <a:rPr lang="en-US" dirty="0"/>
            </a:br>
            <a:r>
              <a:rPr lang="en-US" sz="1200" b="0" i="0" u="none" strike="noStrike" kern="1200" dirty="0">
                <a:solidFill>
                  <a:schemeClr val="tx1"/>
                </a:solidFill>
                <a:effectLst/>
                <a:latin typeface="+mn-lt"/>
                <a:ea typeface="+mn-ea"/>
                <a:cs typeface="+mn-cs"/>
              </a:rPr>
              <a:t>Telehealth visit counts are </a:t>
            </a:r>
            <a:r>
              <a:rPr lang="en-US" sz="1200" b="1" i="0" u="none" strike="noStrike" kern="1200" dirty="0">
                <a:solidFill>
                  <a:schemeClr val="tx1"/>
                </a:solidFill>
                <a:effectLst/>
                <a:latin typeface="+mn-lt"/>
                <a:ea typeface="+mn-ea"/>
                <a:cs typeface="+mn-cs"/>
              </a:rPr>
              <a:t>over-dispersed</a:t>
            </a:r>
            <a:r>
              <a:rPr lang="en-US" sz="1200" b="0" i="0" u="none" strike="noStrike" kern="1200" dirty="0">
                <a:solidFill>
                  <a:schemeClr val="tx1"/>
                </a:solidFill>
                <a:effectLst/>
                <a:latin typeface="+mn-lt"/>
                <a:ea typeface="+mn-ea"/>
                <a:cs typeface="+mn-cs"/>
              </a:rPr>
              <a:t> (variance &gt;&gt; mean). Poisson would misfit; NB handles this correctly.</a:t>
            </a:r>
          </a:p>
          <a:p>
            <a:endParaRPr lang="en-US" sz="1200" b="0" i="0" u="none" strike="noStrike" kern="1200" dirty="0">
              <a:solidFill>
                <a:schemeClr val="tx1"/>
              </a:solidFill>
              <a:effectLst/>
              <a:latin typeface="+mn-lt"/>
              <a:ea typeface="+mn-ea"/>
              <a:cs typeface="+mn-cs"/>
            </a:endParaRPr>
          </a:p>
          <a:p>
            <a:r>
              <a:rPr lang="en-US" dirty="0"/>
              <a:t>Analysis of in-person visits definitively supported the supplementation hypothesis. Rather than relying on telehealth as a substitute, high-income children utilized in-person care at a rate 60% higher than children in poverty (IRR 1.60; p&lt;0.001). This pattern indicates that wealthier families access telehealth as an additional layer of service on top of robust traditional care usage. Conversely, children in poverty had the lowest utilization rates across both digital and physical modalities. Racial disparities were consistent across settings, with Non-Hispanic Black (IRR 0.68) and Asian (IRR 0.74) children utilizing significantly less in-person care than Hispanic children.</a:t>
            </a:r>
          </a:p>
        </p:txBody>
      </p:sp>
      <p:sp>
        <p:nvSpPr>
          <p:cNvPr id="4" name="Slide Number Placeholder 3">
            <a:extLst>
              <a:ext uri="{FF2B5EF4-FFF2-40B4-BE49-F238E27FC236}">
                <a16:creationId xmlns:a16="http://schemas.microsoft.com/office/drawing/2014/main" id="{8D821A79-FEE2-6549-56D2-01A0B1941238}"/>
              </a:ext>
            </a:extLst>
          </p:cNvPr>
          <p:cNvSpPr>
            <a:spLocks noGrp="1"/>
          </p:cNvSpPr>
          <p:nvPr>
            <p:ph type="sldNum" sz="quarter" idx="5"/>
          </p:nvPr>
        </p:nvSpPr>
        <p:spPr/>
        <p:txBody>
          <a:bodyPr/>
          <a:lstStyle/>
          <a:p>
            <a:fld id="{B780B63E-4B02-BC4C-8751-22ADD55189A2}" type="slidenum">
              <a:rPr lang="en-US" smtClean="0"/>
              <a:t>19</a:t>
            </a:fld>
            <a:endParaRPr lang="en-US"/>
          </a:p>
        </p:txBody>
      </p:sp>
    </p:spTree>
    <p:extLst>
      <p:ext uri="{BB962C8B-B14F-4D97-AF65-F5344CB8AC3E}">
        <p14:creationId xmlns:p14="http://schemas.microsoft.com/office/powerpoint/2010/main" val="62304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BAB05-2B31-AA4A-6B57-EA908BA77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0AC38-DB1C-A0B8-C1A9-8DA36CDF40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9FD7A-9FBB-349A-02BF-FD35957A22FD}"/>
              </a:ext>
            </a:extLst>
          </p:cNvPr>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Why Tobit?</a:t>
            </a:r>
            <a:br>
              <a:rPr lang="en-US" dirty="0"/>
            </a:br>
            <a:r>
              <a:rPr lang="en-US" sz="1200" b="0" i="0" u="none" strike="noStrike" kern="1200" dirty="0" err="1">
                <a:solidFill>
                  <a:schemeClr val="tx1"/>
                </a:solidFill>
                <a:effectLst/>
                <a:latin typeface="+mn-lt"/>
                <a:ea typeface="+mn-ea"/>
                <a:cs typeface="+mn-cs"/>
              </a:rPr>
              <a:t>tele_share</a:t>
            </a:r>
            <a:r>
              <a:rPr lang="en-US" sz="1200" b="0" i="0" u="none" strike="noStrike" kern="1200" dirty="0">
                <a:solidFill>
                  <a:schemeClr val="tx1"/>
                </a:solidFill>
                <a:effectLst/>
                <a:latin typeface="+mn-lt"/>
                <a:ea typeface="+mn-ea"/>
                <a:cs typeface="+mn-cs"/>
              </a:rPr>
              <a:t> is </a:t>
            </a:r>
            <a:r>
              <a:rPr lang="en-US" sz="1200" b="1" i="0" u="none" strike="noStrike" kern="1200" dirty="0">
                <a:solidFill>
                  <a:schemeClr val="tx1"/>
                </a:solidFill>
                <a:effectLst/>
                <a:latin typeface="+mn-lt"/>
                <a:ea typeface="+mn-ea"/>
                <a:cs typeface="+mn-cs"/>
              </a:rPr>
              <a:t>bounded (0–1)</a:t>
            </a:r>
            <a:r>
              <a:rPr lang="en-US" sz="1200" b="0" i="0" u="none" strike="noStrike"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heavily left-censored at 0</a:t>
            </a:r>
            <a:r>
              <a:rPr lang="en-US" sz="1200" b="0" i="0" u="none" strike="noStrike" kern="1200" dirty="0">
                <a:solidFill>
                  <a:schemeClr val="tx1"/>
                </a:solidFill>
                <a:effectLst/>
                <a:latin typeface="+mn-lt"/>
                <a:ea typeface="+mn-ea"/>
                <a:cs typeface="+mn-cs"/>
              </a:rPr>
              <a:t>, and occasionally right-censored at 1.</a:t>
            </a:r>
            <a:br>
              <a:rPr lang="en-US" dirty="0"/>
            </a:br>
            <a:r>
              <a:rPr lang="en-US" sz="1200" b="0" i="0" u="none" strike="noStrike" kern="1200" dirty="0">
                <a:solidFill>
                  <a:schemeClr val="tx1"/>
                </a:solidFill>
                <a:effectLst/>
                <a:latin typeface="+mn-lt"/>
                <a:ea typeface="+mn-ea"/>
                <a:cs typeface="+mn-cs"/>
              </a:rPr>
              <a:t>Tobit correctly models the censored distribution; OLS or fractional logit would mis-handle the mass at zero.</a:t>
            </a:r>
          </a:p>
          <a:p>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a:p>
            <a:r>
              <a:rPr lang="en-US" dirty="0"/>
              <a:t>Tobit regression analysis of the proportion of care delivered via telehealth confirmed that socioeconomic status dictates the composition of pediatric care. Children in high-income households (&gt;400% FPL) relied on telehealth for a significantly larger share of their total outpatient visits compared to children in poverty (</a:t>
            </a:r>
            <a:r>
              <a:rPr lang="en-US" sz="1200" kern="1200" dirty="0">
                <a:solidFill>
                  <a:schemeClr val="tx1"/>
                </a:solidFill>
                <a:effectLst/>
                <a:latin typeface="+mn-lt"/>
                <a:ea typeface="+mn-ea"/>
                <a:cs typeface="+mn-cs"/>
              </a:rPr>
              <a:t>$\beta$</a:t>
            </a:r>
            <a:r>
              <a:rPr lang="en-US" dirty="0"/>
              <a:t>=0.28, p=0.022). Uninsured children and Non-Hispanic Black children had significantly lower telehealth shares (p=0.030 and p=0.016, respectively), suggesting that for these groups, outpatient care remains overwhelmingly tied to physical brick-and-mortar settings. Conversely, for children with Special Health Care Needs (CSHCN), telehealth comprised a significantly larger proportion of their total provider interactions (p&lt;0.001).</a:t>
            </a:r>
          </a:p>
        </p:txBody>
      </p:sp>
      <p:sp>
        <p:nvSpPr>
          <p:cNvPr id="4" name="Slide Number Placeholder 3">
            <a:extLst>
              <a:ext uri="{FF2B5EF4-FFF2-40B4-BE49-F238E27FC236}">
                <a16:creationId xmlns:a16="http://schemas.microsoft.com/office/drawing/2014/main" id="{E983556F-B65B-37EC-19ED-97AC7D56F286}"/>
              </a:ext>
            </a:extLst>
          </p:cNvPr>
          <p:cNvSpPr>
            <a:spLocks noGrp="1"/>
          </p:cNvSpPr>
          <p:nvPr>
            <p:ph type="sldNum" sz="quarter" idx="5"/>
          </p:nvPr>
        </p:nvSpPr>
        <p:spPr/>
        <p:txBody>
          <a:bodyPr/>
          <a:lstStyle/>
          <a:p>
            <a:fld id="{B780B63E-4B02-BC4C-8751-22ADD55189A2}" type="slidenum">
              <a:rPr lang="en-US" smtClean="0"/>
              <a:t>20</a:t>
            </a:fld>
            <a:endParaRPr lang="en-US"/>
          </a:p>
        </p:txBody>
      </p:sp>
    </p:spTree>
    <p:extLst>
      <p:ext uri="{BB962C8B-B14F-4D97-AF65-F5344CB8AC3E}">
        <p14:creationId xmlns:p14="http://schemas.microsoft.com/office/powerpoint/2010/main" val="1310743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21</a:t>
            </a:fld>
            <a:endParaRPr lang="en-US"/>
          </a:p>
        </p:txBody>
      </p:sp>
    </p:spTree>
    <p:extLst>
      <p:ext uri="{BB962C8B-B14F-4D97-AF65-F5344CB8AC3E}">
        <p14:creationId xmlns:p14="http://schemas.microsoft.com/office/powerpoint/2010/main" val="3159410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4370B-6E88-997F-AF84-4A1926FDC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D6A7D-D84D-9B5E-0801-7939CDCB8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A7293B-18D6-4952-1353-778C632A0A68}"/>
              </a:ext>
            </a:extLst>
          </p:cNvPr>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Why Negative Binomial?</a:t>
            </a:r>
            <a:br>
              <a:rPr lang="en-US" dirty="0"/>
            </a:br>
            <a:r>
              <a:rPr lang="en-US" sz="1200" b="0" i="0" u="none" strike="noStrike" kern="1200" dirty="0">
                <a:solidFill>
                  <a:schemeClr val="tx1"/>
                </a:solidFill>
                <a:effectLst/>
                <a:latin typeface="+mn-lt"/>
                <a:ea typeface="+mn-ea"/>
                <a:cs typeface="+mn-cs"/>
              </a:rPr>
              <a:t>Telehealth visit counts are </a:t>
            </a:r>
            <a:r>
              <a:rPr lang="en-US" sz="1200" b="1" i="0" u="none" strike="noStrike" kern="1200" dirty="0">
                <a:solidFill>
                  <a:schemeClr val="tx1"/>
                </a:solidFill>
                <a:effectLst/>
                <a:latin typeface="+mn-lt"/>
                <a:ea typeface="+mn-ea"/>
                <a:cs typeface="+mn-cs"/>
              </a:rPr>
              <a:t>over-dispersed</a:t>
            </a:r>
            <a:r>
              <a:rPr lang="en-US" sz="1200" b="0" i="0" u="none" strike="noStrike" kern="1200" dirty="0">
                <a:solidFill>
                  <a:schemeClr val="tx1"/>
                </a:solidFill>
                <a:effectLst/>
                <a:latin typeface="+mn-lt"/>
                <a:ea typeface="+mn-ea"/>
                <a:cs typeface="+mn-cs"/>
              </a:rPr>
              <a:t> (variance &gt;&gt; mean). Poisson would misfit; NB handles this correctly.</a:t>
            </a:r>
          </a:p>
          <a:p>
            <a:endParaRPr lang="en-US" sz="1200" b="0" i="0" u="none" strike="noStrike" kern="1200" dirty="0">
              <a:solidFill>
                <a:schemeClr val="tx1"/>
              </a:solidFill>
              <a:effectLst/>
              <a:latin typeface="+mn-lt"/>
              <a:ea typeface="+mn-ea"/>
              <a:cs typeface="+mn-cs"/>
            </a:endParaRPr>
          </a:p>
          <a:p>
            <a:r>
              <a:rPr lang="en-US" dirty="0"/>
              <a:t>Analysis of in-person visits definitively supported the supplementation hypothesis. Rather than relying on telehealth as a substitute, high-income children utilized in-person care at a rate 60% higher than children in poverty (IRR 1.60; p&lt;0.001). This pattern indicates that wealthier families access telehealth as an additional layer of service on top of robust traditional care usage. Conversely, children in poverty had the lowest utilization rates across both digital and physical modalities. Racial disparities were consistent across settings, with Non-Hispanic Black (IRR 0.68) and Asian (IRR 0.74) children utilizing significantly less in-person care than Hispanic children.</a:t>
            </a:r>
          </a:p>
          <a:p>
            <a:endParaRPr lang="en-US" dirty="0"/>
          </a:p>
          <a:p>
            <a:endParaRPr lang="en-US" dirty="0"/>
          </a:p>
          <a:p>
            <a:r>
              <a:rPr lang="en-US" dirty="0"/>
              <a:t>Interaction analysis of poverty and year (Model 5) indicated that the socioeconomic divide in telehealth adoption significantly widened over the study period. In 2021, children in high-income households (&gt;400% FPL) utilized telehealth at approximately 2.2 times the rate of children in poverty (predicted mean visits: 1.08 vs. 0.48). By 2023, while utilization among children in poverty plummeted to near-zero levels (0.12 visits; 95% CI: 0.03–0.20), utilization among high-income children rebounded (0.54 visits; 95% CI: 0.09–1.00). Consequently, the relative disparity grew substantially; by 2023, high-income children were utilizing telehealth at roughly 4.5 times the rate of their low-income peers, suggesting that telehealth has evolved into a supplementary service primarily accessible to wealthier families rather than a safety net for the underserved.</a:t>
            </a:r>
          </a:p>
        </p:txBody>
      </p:sp>
      <p:sp>
        <p:nvSpPr>
          <p:cNvPr id="4" name="Slide Number Placeholder 3">
            <a:extLst>
              <a:ext uri="{FF2B5EF4-FFF2-40B4-BE49-F238E27FC236}">
                <a16:creationId xmlns:a16="http://schemas.microsoft.com/office/drawing/2014/main" id="{116DF323-898A-08F2-1894-3C4117FCD280}"/>
              </a:ext>
            </a:extLst>
          </p:cNvPr>
          <p:cNvSpPr>
            <a:spLocks noGrp="1"/>
          </p:cNvSpPr>
          <p:nvPr>
            <p:ph type="sldNum" sz="quarter" idx="5"/>
          </p:nvPr>
        </p:nvSpPr>
        <p:spPr/>
        <p:txBody>
          <a:bodyPr/>
          <a:lstStyle/>
          <a:p>
            <a:fld id="{B780B63E-4B02-BC4C-8751-22ADD55189A2}" type="slidenum">
              <a:rPr lang="en-US" smtClean="0"/>
              <a:t>22</a:t>
            </a:fld>
            <a:endParaRPr lang="en-US"/>
          </a:p>
        </p:txBody>
      </p:sp>
    </p:spTree>
    <p:extLst>
      <p:ext uri="{BB962C8B-B14F-4D97-AF65-F5344CB8AC3E}">
        <p14:creationId xmlns:p14="http://schemas.microsoft.com/office/powerpoint/2010/main" val="468888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plot shows that high-income children consistently have the highest predicted telehealth visit counts in every year, while poor and low-income groups remain substantially lower. The lines move in roughly parallel fashion with overlapping confidence intervals, indicating </a:t>
            </a:r>
            <a:r>
              <a:rPr lang="en-US" sz="1200" b="1" i="0" u="none" strike="noStrike" kern="1200" dirty="0">
                <a:solidFill>
                  <a:schemeClr val="tx1"/>
                </a:solidFill>
                <a:effectLst/>
                <a:latin typeface="+mn-lt"/>
                <a:ea typeface="+mn-ea"/>
                <a:cs typeface="+mn-cs"/>
              </a:rPr>
              <a:t>no meaningful convergence or widening</a:t>
            </a:r>
            <a:r>
              <a:rPr lang="en-US" sz="1200" b="0" i="0" u="none" strike="noStrike" kern="1200" dirty="0">
                <a:solidFill>
                  <a:schemeClr val="tx1"/>
                </a:solidFill>
                <a:effectLst/>
                <a:latin typeface="+mn-lt"/>
                <a:ea typeface="+mn-ea"/>
                <a:cs typeface="+mn-cs"/>
              </a:rPr>
              <a:t> of the poverty gap over time.</a:t>
            </a:r>
          </a:p>
          <a:p>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a:p>
            <a:r>
              <a:rPr lang="en-US" b="1" dirty="0"/>
              <a:t>Title: The Digital Divide is Getting Worse (2021–2023)</a:t>
            </a:r>
            <a:endParaRPr lang="en-US" dirty="0"/>
          </a:p>
          <a:p>
            <a:r>
              <a:rPr lang="en-US" b="1" dirty="0"/>
              <a:t>2021 (Pandemic Peak):</a:t>
            </a:r>
            <a:endParaRPr lang="en-US" dirty="0"/>
          </a:p>
          <a:p>
            <a:pPr lvl="1"/>
            <a:r>
              <a:rPr lang="en-US" dirty="0"/>
              <a:t>Telehealth widely used, but Wealthy use </a:t>
            </a:r>
            <a:r>
              <a:rPr lang="en-US" b="1" dirty="0"/>
              <a:t>2x</a:t>
            </a:r>
            <a:r>
              <a:rPr lang="en-US" dirty="0"/>
              <a:t> more than Poor.</a:t>
            </a:r>
          </a:p>
          <a:p>
            <a:pPr lvl="1"/>
            <a:r>
              <a:rPr lang="en-US" i="1" dirty="0"/>
              <a:t>High Income: 1.08 visits | Poor: 0.48 visits</a:t>
            </a:r>
            <a:endParaRPr lang="en-US" dirty="0"/>
          </a:p>
          <a:p>
            <a:r>
              <a:rPr lang="en-US" b="1" dirty="0"/>
              <a:t>2023 (Post-Pandemic):</a:t>
            </a:r>
            <a:endParaRPr lang="en-US" dirty="0"/>
          </a:p>
          <a:p>
            <a:pPr lvl="1"/>
            <a:r>
              <a:rPr lang="en-US" dirty="0"/>
              <a:t>Telehealth </a:t>
            </a:r>
            <a:r>
              <a:rPr lang="en-US" b="1" dirty="0"/>
              <a:t>disappears</a:t>
            </a:r>
            <a:r>
              <a:rPr lang="en-US" dirty="0"/>
              <a:t> for the Poor but </a:t>
            </a:r>
            <a:r>
              <a:rPr lang="en-US" b="1" dirty="0"/>
              <a:t>stabilizes</a:t>
            </a:r>
            <a:r>
              <a:rPr lang="en-US" dirty="0"/>
              <a:t> for the Wealthy.</a:t>
            </a:r>
          </a:p>
          <a:p>
            <a:pPr lvl="1"/>
            <a:r>
              <a:rPr lang="en-US" i="1" dirty="0"/>
              <a:t>High Income: 0.54 visits | Poor: 0.12 visits</a:t>
            </a:r>
            <a:endParaRPr lang="en-US" dirty="0"/>
          </a:p>
          <a:p>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23</a:t>
            </a:fld>
            <a:endParaRPr lang="en-US"/>
          </a:p>
        </p:txBody>
      </p:sp>
    </p:spTree>
    <p:extLst>
      <p:ext uri="{BB962C8B-B14F-4D97-AF65-F5344CB8AC3E}">
        <p14:creationId xmlns:p14="http://schemas.microsoft.com/office/powerpoint/2010/main" val="2630028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Finally, this study has several limitations. First, MEPS data relies on parent-reported utilization and health status, which subjects our findings to recall and social desirability biases. Second, the survey does not consistently distinguish between video and audio-only modalities; consequently, we could not assess disparities in the quality of telehealth encounters. Third, we were unable to control for household broadband access or state-level variations in telehealth reimbursement policies, both of which are likely unobserved drivers of the divergent trends seen in 2023. Future research should leverage administrative claims data to disentangle the impact of payment parity laws from patient-level socioeconomic barriers.</a:t>
            </a:r>
          </a:p>
        </p:txBody>
      </p:sp>
      <p:sp>
        <p:nvSpPr>
          <p:cNvPr id="4" name="Slide Number Placeholder 3"/>
          <p:cNvSpPr>
            <a:spLocks noGrp="1"/>
          </p:cNvSpPr>
          <p:nvPr>
            <p:ph type="sldNum" sz="quarter" idx="5"/>
          </p:nvPr>
        </p:nvSpPr>
        <p:spPr/>
        <p:txBody>
          <a:bodyPr/>
          <a:lstStyle/>
          <a:p>
            <a:fld id="{B780B63E-4B02-BC4C-8751-22ADD55189A2}" type="slidenum">
              <a:rPr lang="en-US" smtClean="0"/>
              <a:t>24</a:t>
            </a:fld>
            <a:endParaRPr lang="en-US"/>
          </a:p>
        </p:txBody>
      </p:sp>
    </p:spTree>
    <p:extLst>
      <p:ext uri="{BB962C8B-B14F-4D97-AF65-F5344CB8AC3E}">
        <p14:creationId xmlns:p14="http://schemas.microsoft.com/office/powerpoint/2010/main" val="26957765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Telehealth is disproportionately augmenting care for higher-income families, risking widening disparities. Policy needs:</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Broadband subsidies targeted to low-income households.</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Reimbursement parity to support safety-net providers.</a:t>
            </a:r>
          </a:p>
          <a:p>
            <a:pPr marL="171450" indent="-171450">
              <a:buFont typeface="Arial" panose="020B0604020202020204" pitchFamily="34" charset="0"/>
              <a:buChar char="•"/>
            </a:pPr>
            <a:r>
              <a:rPr lang="en-US" sz="1200" b="0" i="0" u="none" strike="noStrike" kern="1200" dirty="0">
                <a:solidFill>
                  <a:schemeClr val="tx1"/>
                </a:solidFill>
                <a:effectLst/>
                <a:latin typeface="+mn-lt"/>
                <a:ea typeface="+mn-ea"/>
                <a:cs typeface="+mn-cs"/>
              </a:rPr>
              <a:t>Coverage protections for telehealth within Medicaid/CHIP</a:t>
            </a:r>
          </a:p>
          <a:p>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25</a:t>
            </a:fld>
            <a:endParaRPr lang="en-US"/>
          </a:p>
        </p:txBody>
      </p:sp>
    </p:spTree>
    <p:extLst>
      <p:ext uri="{BB962C8B-B14F-4D97-AF65-F5344CB8AC3E}">
        <p14:creationId xmlns:p14="http://schemas.microsoft.com/office/powerpoint/2010/main" val="34333532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Happy to take questions on methodology, model choice, MEPS structure, or policy implications.</a:t>
            </a:r>
            <a:endParaRPr lang="en-US" dirty="0"/>
          </a:p>
        </p:txBody>
      </p:sp>
      <p:sp>
        <p:nvSpPr>
          <p:cNvPr id="4" name="Slide Number Placeholder 3"/>
          <p:cNvSpPr>
            <a:spLocks noGrp="1"/>
          </p:cNvSpPr>
          <p:nvPr>
            <p:ph type="sldNum" sz="quarter" idx="5"/>
          </p:nvPr>
        </p:nvSpPr>
        <p:spPr/>
        <p:txBody>
          <a:bodyPr/>
          <a:lstStyle/>
          <a:p>
            <a:fld id="{B780B63E-4B02-BC4C-8751-22ADD55189A2}" type="slidenum">
              <a:rPr lang="en-US" smtClean="0"/>
              <a:t>26</a:t>
            </a:fld>
            <a:endParaRPr lang="en-US"/>
          </a:p>
        </p:txBody>
      </p:sp>
    </p:spTree>
    <p:extLst>
      <p:ext uri="{BB962C8B-B14F-4D97-AF65-F5344CB8AC3E}">
        <p14:creationId xmlns:p14="http://schemas.microsoft.com/office/powerpoint/2010/main" val="1196982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722313" y="1701210"/>
            <a:ext cx="7772400" cy="1063256"/>
          </a:xfrm>
        </p:spPr>
        <p:txBody>
          <a:bodyPr>
            <a:normAutofit lnSpcReduction="10000"/>
          </a:bodyPr>
          <a:lstStyle/>
          <a:p>
            <a:pPr marL="0" indent="0" algn="ctr">
              <a:buNone/>
            </a:pPr>
            <a:r>
              <a:rPr lang="en-US" sz="3200" dirty="0">
                <a:solidFill>
                  <a:schemeClr val="tx1"/>
                </a:solidFill>
              </a:rPr>
              <a:t>Disparities in pediatric telehealth engagement and care substitution</a:t>
            </a:r>
          </a:p>
        </p:txBody>
      </p:sp>
      <p:sp>
        <p:nvSpPr>
          <p:cNvPr id="6" name="TextBox 5">
            <a:extLst>
              <a:ext uri="{FF2B5EF4-FFF2-40B4-BE49-F238E27FC236}">
                <a16:creationId xmlns:a16="http://schemas.microsoft.com/office/drawing/2014/main" id="{BED06765-7380-459E-1C49-866F74A914F7}"/>
              </a:ext>
            </a:extLst>
          </p:cNvPr>
          <p:cNvSpPr txBox="1"/>
          <p:nvPr/>
        </p:nvSpPr>
        <p:spPr>
          <a:xfrm>
            <a:off x="2234441" y="1175306"/>
            <a:ext cx="4572000" cy="369332"/>
          </a:xfrm>
          <a:prstGeom prst="rect">
            <a:avLst/>
          </a:prstGeom>
          <a:noFill/>
        </p:spPr>
        <p:txBody>
          <a:bodyPr wrap="square">
            <a:spAutoFit/>
          </a:bodyPr>
          <a:lstStyle/>
          <a:p>
            <a:r>
              <a:rPr lang="en-US" dirty="0"/>
              <a:t>ECON 642 — Panel &amp; Non-Linear Methods</a:t>
            </a:r>
          </a:p>
        </p:txBody>
      </p:sp>
      <p:sp>
        <p:nvSpPr>
          <p:cNvPr id="8" name="Title 7">
            <a:extLst>
              <a:ext uri="{FF2B5EF4-FFF2-40B4-BE49-F238E27FC236}">
                <a16:creationId xmlns:a16="http://schemas.microsoft.com/office/drawing/2014/main" id="{6DA5A1AE-2B33-4922-CB19-AC14EBEDD43C}"/>
              </a:ext>
            </a:extLst>
          </p:cNvPr>
          <p:cNvSpPr>
            <a:spLocks noGrp="1"/>
          </p:cNvSpPr>
          <p:nvPr>
            <p:ph type="title"/>
          </p:nvPr>
        </p:nvSpPr>
        <p:spPr>
          <a:xfrm>
            <a:off x="2351049" y="2921038"/>
            <a:ext cx="4338785" cy="654198"/>
          </a:xfrm>
        </p:spPr>
        <p:txBody>
          <a:bodyPr>
            <a:normAutofit/>
          </a:bodyPr>
          <a:lstStyle/>
          <a:p>
            <a:r>
              <a:rPr lang="en-US" sz="2400" cap="none" dirty="0"/>
              <a:t>A National Analysis, 2021-2023</a:t>
            </a:r>
          </a:p>
        </p:txBody>
      </p:sp>
      <p:sp>
        <p:nvSpPr>
          <p:cNvPr id="9" name="Rounded Rectangle 8">
            <a:extLst>
              <a:ext uri="{FF2B5EF4-FFF2-40B4-BE49-F238E27FC236}">
                <a16:creationId xmlns:a16="http://schemas.microsoft.com/office/drawing/2014/main" id="{3CB9C750-CB8E-F1A1-F34C-6ACA65CAA7EF}"/>
              </a:ext>
            </a:extLst>
          </p:cNvPr>
          <p:cNvSpPr/>
          <p:nvPr/>
        </p:nvSpPr>
        <p:spPr>
          <a:xfrm>
            <a:off x="812473" y="4178595"/>
            <a:ext cx="7519054" cy="1531089"/>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26E3F6D-33AA-4FF6-2200-2AB62F030E76}"/>
              </a:ext>
            </a:extLst>
          </p:cNvPr>
          <p:cNvSpPr txBox="1"/>
          <p:nvPr/>
        </p:nvSpPr>
        <p:spPr>
          <a:xfrm>
            <a:off x="1154361" y="4617392"/>
            <a:ext cx="2047035" cy="646331"/>
          </a:xfrm>
          <a:prstGeom prst="rect">
            <a:avLst/>
          </a:prstGeom>
          <a:noFill/>
        </p:spPr>
        <p:txBody>
          <a:bodyPr wrap="none" rtlCol="0">
            <a:spAutoFit/>
          </a:bodyPr>
          <a:lstStyle/>
          <a:p>
            <a:r>
              <a:rPr lang="en-US" b="1" dirty="0"/>
              <a:t>Presented By</a:t>
            </a:r>
          </a:p>
          <a:p>
            <a:r>
              <a:rPr lang="en-US" dirty="0">
                <a:solidFill>
                  <a:schemeClr val="accent1"/>
                </a:solidFill>
              </a:rPr>
              <a:t>Prashant</a:t>
            </a:r>
            <a:r>
              <a:rPr lang="en-US" dirty="0"/>
              <a:t> </a:t>
            </a:r>
            <a:r>
              <a:rPr lang="en-US" dirty="0">
                <a:solidFill>
                  <a:schemeClr val="accent1"/>
                </a:solidFill>
              </a:rPr>
              <a:t>Khatiwada</a:t>
            </a:r>
          </a:p>
        </p:txBody>
      </p:sp>
      <p:sp>
        <p:nvSpPr>
          <p:cNvPr id="4" name="TextBox 3">
            <a:extLst>
              <a:ext uri="{FF2B5EF4-FFF2-40B4-BE49-F238E27FC236}">
                <a16:creationId xmlns:a16="http://schemas.microsoft.com/office/drawing/2014/main" id="{CD338E7C-8719-EBA8-2F75-ACAABEDABC15}"/>
              </a:ext>
            </a:extLst>
          </p:cNvPr>
          <p:cNvSpPr txBox="1"/>
          <p:nvPr/>
        </p:nvSpPr>
        <p:spPr>
          <a:xfrm>
            <a:off x="3374566" y="4620972"/>
            <a:ext cx="2726772" cy="646331"/>
          </a:xfrm>
          <a:prstGeom prst="rect">
            <a:avLst/>
          </a:prstGeom>
          <a:noFill/>
        </p:spPr>
        <p:txBody>
          <a:bodyPr wrap="none" rtlCol="0">
            <a:spAutoFit/>
          </a:bodyPr>
          <a:lstStyle/>
          <a:p>
            <a:r>
              <a:rPr lang="en-US" b="1" dirty="0"/>
              <a:t>Course</a:t>
            </a:r>
          </a:p>
          <a:p>
            <a:r>
              <a:rPr lang="en-US" dirty="0"/>
              <a:t>Empirical Research Project</a:t>
            </a:r>
          </a:p>
        </p:txBody>
      </p:sp>
      <p:sp>
        <p:nvSpPr>
          <p:cNvPr id="5" name="TextBox 4">
            <a:extLst>
              <a:ext uri="{FF2B5EF4-FFF2-40B4-BE49-F238E27FC236}">
                <a16:creationId xmlns:a16="http://schemas.microsoft.com/office/drawing/2014/main" id="{04A58769-463F-0104-C1E4-9E6EABE05B65}"/>
              </a:ext>
            </a:extLst>
          </p:cNvPr>
          <p:cNvSpPr txBox="1"/>
          <p:nvPr/>
        </p:nvSpPr>
        <p:spPr>
          <a:xfrm>
            <a:off x="6274508" y="4617392"/>
            <a:ext cx="1883849" cy="646331"/>
          </a:xfrm>
          <a:prstGeom prst="rect">
            <a:avLst/>
          </a:prstGeom>
          <a:noFill/>
        </p:spPr>
        <p:txBody>
          <a:bodyPr wrap="none" rtlCol="0">
            <a:spAutoFit/>
          </a:bodyPr>
          <a:lstStyle/>
          <a:p>
            <a:r>
              <a:rPr lang="en-US" b="1" dirty="0"/>
              <a:t>Data Source</a:t>
            </a:r>
          </a:p>
          <a:p>
            <a:r>
              <a:rPr lang="en-US" dirty="0"/>
              <a:t>MEPS 2021 - 2023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15">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609597"/>
            <a:ext cx="7044316" cy="1330841"/>
          </a:xfrm>
        </p:spPr>
        <p:txBody>
          <a:bodyPr vert="horz" lIns="91440" tIns="45720" rIns="91440" bIns="45720" rtlCol="0" anchor="ctr">
            <a:normAutofit/>
          </a:bodyPr>
          <a:lstStyle/>
          <a:p>
            <a:pPr algn="l" defTabSz="914400">
              <a:lnSpc>
                <a:spcPct val="90000"/>
              </a:lnSpc>
            </a:pPr>
            <a:r>
              <a:rPr lang="en-US" kern="1200">
                <a:solidFill>
                  <a:schemeClr val="tx1"/>
                </a:solidFill>
                <a:latin typeface="+mj-lt"/>
                <a:ea typeface="+mj-ea"/>
                <a:cs typeface="+mj-cs"/>
              </a:rPr>
              <a:t>Background and Context</a:t>
            </a:r>
          </a:p>
        </p:txBody>
      </p:sp>
      <p:graphicFrame>
        <p:nvGraphicFramePr>
          <p:cNvPr id="20" name="Content Placeholder 2">
            <a:extLst>
              <a:ext uri="{FF2B5EF4-FFF2-40B4-BE49-F238E27FC236}">
                <a16:creationId xmlns:a16="http://schemas.microsoft.com/office/drawing/2014/main" id="{005F4E27-E2D1-C62E-139A-87821F713DF0}"/>
              </a:ext>
            </a:extLst>
          </p:cNvPr>
          <p:cNvGraphicFramePr>
            <a:graphicFrameLocks noGrp="1"/>
          </p:cNvGraphicFramePr>
          <p:nvPr>
            <p:ph sz="half" idx="2"/>
            <p:extLst>
              <p:ext uri="{D42A27DB-BD31-4B8C-83A1-F6EECF244321}">
                <p14:modId xmlns:p14="http://schemas.microsoft.com/office/powerpoint/2010/main" val="737663067"/>
              </p:ext>
            </p:extLst>
          </p:nvPr>
        </p:nvGraphicFramePr>
        <p:xfrm>
          <a:off x="411481" y="2198362"/>
          <a:ext cx="4899660" cy="42329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Content Placeholder 8" descr="A hand holding a tablet with two people on it&#10;&#10;AI-generated content may be incorrect.">
            <a:extLst>
              <a:ext uri="{FF2B5EF4-FFF2-40B4-BE49-F238E27FC236}">
                <a16:creationId xmlns:a16="http://schemas.microsoft.com/office/drawing/2014/main" id="{E4B4C360-E38C-4B3A-D19F-918303973DB7}"/>
              </a:ext>
            </a:extLst>
          </p:cNvPr>
          <p:cNvPicPr>
            <a:picLocks noGrp="1" noChangeAspect="1"/>
          </p:cNvPicPr>
          <p:nvPr>
            <p:ph sz="quarter" idx="4"/>
          </p:nvPr>
        </p:nvPicPr>
        <p:blipFill>
          <a:blip r:embed="rId8"/>
          <a:srcRect l="15413" t="5691" r="18176"/>
          <a:stretch>
            <a:fillRect/>
          </a:stretch>
        </p:blipFill>
        <p:spPr>
          <a:xfrm>
            <a:off x="5722622" y="2671433"/>
            <a:ext cx="2933700" cy="2916299"/>
          </a:xfrm>
          <a:prstGeom prst="rect">
            <a:avLst/>
          </a:prstGeom>
        </p:spPr>
      </p:pic>
      <p:sp>
        <p:nvSpPr>
          <p:cNvPr id="29" name="Freeform: Shape 17">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FECB16B-1185-1047-45C5-13ACBE5F28E1}"/>
              </a:ext>
            </a:extLst>
          </p:cNvPr>
          <p:cNvSpPr>
            <a:spLocks noGrp="1"/>
          </p:cNvSpPr>
          <p:nvPr>
            <p:ph type="title"/>
          </p:nvPr>
        </p:nvSpPr>
        <p:spPr>
          <a:xfrm>
            <a:off x="628650" y="557188"/>
            <a:ext cx="7886700" cy="1133499"/>
          </a:xfrm>
        </p:spPr>
        <p:txBody>
          <a:bodyPr vert="horz" lIns="91440" tIns="45720" rIns="91440" bIns="45720" rtlCol="0" anchor="ctr">
            <a:normAutofit/>
          </a:bodyPr>
          <a:lstStyle/>
          <a:p>
            <a:pPr defTabSz="914400">
              <a:lnSpc>
                <a:spcPct val="90000"/>
              </a:lnSpc>
            </a:pPr>
            <a:r>
              <a:rPr lang="en-US" sz="4500" kern="1200">
                <a:solidFill>
                  <a:schemeClr val="tx1"/>
                </a:solidFill>
                <a:latin typeface="+mj-lt"/>
                <a:ea typeface="+mj-ea"/>
                <a:cs typeface="+mj-cs"/>
              </a:rPr>
              <a:t>Research Gaps Identified</a:t>
            </a:r>
          </a:p>
        </p:txBody>
      </p:sp>
      <p:graphicFrame>
        <p:nvGraphicFramePr>
          <p:cNvPr id="20" name="Content Placeholder 6">
            <a:extLst>
              <a:ext uri="{FF2B5EF4-FFF2-40B4-BE49-F238E27FC236}">
                <a16:creationId xmlns:a16="http://schemas.microsoft.com/office/drawing/2014/main" id="{92BAB611-CED7-82C0-A624-BCC467E8321C}"/>
              </a:ext>
            </a:extLst>
          </p:cNvPr>
          <p:cNvGraphicFramePr>
            <a:graphicFrameLocks noGrp="1"/>
          </p:cNvGraphicFramePr>
          <p:nvPr>
            <p:ph sz="half" idx="2"/>
            <p:extLst>
              <p:ext uri="{D42A27DB-BD31-4B8C-83A1-F6EECF244321}">
                <p14:modId xmlns:p14="http://schemas.microsoft.com/office/powerpoint/2010/main" val="3262087520"/>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4786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7" y="548640"/>
            <a:ext cx="7157553" cy="1188720"/>
          </a:xfrm>
        </p:spPr>
        <p:txBody>
          <a:bodyPr>
            <a:normAutofit/>
          </a:bodyPr>
          <a:lstStyle/>
          <a:p>
            <a:r>
              <a:rPr lang="en-US">
                <a:solidFill>
                  <a:schemeClr val="tx1">
                    <a:lumMod val="85000"/>
                    <a:lumOff val="15000"/>
                  </a:schemeClr>
                </a:solidFill>
              </a:rPr>
              <a:t>Research Questions</a:t>
            </a:r>
          </a:p>
        </p:txBody>
      </p:sp>
      <p:sp>
        <p:nvSpPr>
          <p:cNvPr id="3" name="Content Placeholder 2"/>
          <p:cNvSpPr>
            <a:spLocks noGrp="1"/>
          </p:cNvSpPr>
          <p:nvPr>
            <p:ph idx="1"/>
          </p:nvPr>
        </p:nvSpPr>
        <p:spPr>
          <a:xfrm>
            <a:off x="457201" y="2431766"/>
            <a:ext cx="7975600" cy="1612090"/>
          </a:xfrm>
        </p:spPr>
        <p:txBody>
          <a:bodyPr anchor="ctr">
            <a:normAutofit/>
          </a:bodyPr>
          <a:lstStyle/>
          <a:p>
            <a:pPr marL="0" indent="0">
              <a:buNone/>
            </a:pPr>
            <a:r>
              <a:rPr lang="en-US" sz="2400" i="1" dirty="0">
                <a:solidFill>
                  <a:schemeClr val="tx2"/>
                </a:solidFill>
              </a:rPr>
              <a:t>“Among U.S. children and adolescents, do socioeconomic and insurance characteristics predict whether telehealth is used as a supplement to—or a substitute for—in-person outpatient care between 2021 and 2023?”</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A005676-57F9-7534-CA98-6BDB53A033C9}"/>
              </a:ext>
            </a:extLst>
          </p:cNvPr>
          <p:cNvSpPr txBox="1"/>
          <p:nvPr/>
        </p:nvSpPr>
        <p:spPr>
          <a:xfrm>
            <a:off x="1550197" y="4180380"/>
            <a:ext cx="6882604" cy="1107996"/>
          </a:xfrm>
          <a:prstGeom prst="rect">
            <a:avLst/>
          </a:prstGeom>
          <a:noFill/>
        </p:spPr>
        <p:txBody>
          <a:bodyPr wrap="square">
            <a:spAutoFit/>
          </a:bodyPr>
          <a:lstStyle/>
          <a:p>
            <a:pPr>
              <a:defRPr sz="2200">
                <a:solidFill>
                  <a:srgbClr val="E6E6E6"/>
                </a:solidFill>
              </a:defRPr>
            </a:pPr>
            <a:r>
              <a:rPr lang="en-US" dirty="0">
                <a:solidFill>
                  <a:schemeClr val="bg1">
                    <a:lumMod val="65000"/>
                  </a:schemeClr>
                </a:solidFill>
              </a:rPr>
              <a:t>1. Who uses telehealth in 2021–2023?</a:t>
            </a:r>
          </a:p>
          <a:p>
            <a:pPr>
              <a:defRPr sz="2200">
                <a:solidFill>
                  <a:srgbClr val="E6E6E6"/>
                </a:solidFill>
              </a:defRPr>
            </a:pPr>
            <a:r>
              <a:rPr lang="en-US" dirty="0">
                <a:solidFill>
                  <a:schemeClr val="bg1">
                    <a:lumMod val="65000"/>
                  </a:schemeClr>
                </a:solidFill>
              </a:rPr>
              <a:t>2. Are there socioeconomic &amp; insurance disparities?</a:t>
            </a:r>
          </a:p>
          <a:p>
            <a:pPr>
              <a:defRPr sz="2200">
                <a:solidFill>
                  <a:srgbClr val="E6E6E6"/>
                </a:solidFill>
              </a:defRPr>
            </a:pPr>
            <a:r>
              <a:rPr lang="en-US" dirty="0">
                <a:solidFill>
                  <a:schemeClr val="bg1">
                    <a:lumMod val="65000"/>
                  </a:schemeClr>
                </a:solidFill>
              </a:rPr>
              <a:t>3. Does telehealth supplement or replace in-person care?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4">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7" y="548640"/>
            <a:ext cx="7157553" cy="1188720"/>
          </a:xfrm>
        </p:spPr>
        <p:txBody>
          <a:bodyPr vert="horz" lIns="91440" tIns="45720" rIns="91440" bIns="45720" rtlCol="0" anchor="ctr">
            <a:normAutofit/>
          </a:bodyPr>
          <a:lstStyle/>
          <a:p>
            <a:pPr algn="l" defTabSz="914400">
              <a:lnSpc>
                <a:spcPct val="90000"/>
              </a:lnSpc>
            </a:pPr>
            <a:r>
              <a:rPr lang="en-US" kern="1200">
                <a:solidFill>
                  <a:schemeClr val="tx1">
                    <a:lumMod val="85000"/>
                    <a:lumOff val="15000"/>
                  </a:schemeClr>
                </a:solidFill>
                <a:latin typeface="+mj-lt"/>
                <a:ea typeface="+mj-ea"/>
                <a:cs typeface="+mj-cs"/>
              </a:rPr>
              <a:t>Study Hypotheses</a:t>
            </a:r>
          </a:p>
        </p:txBody>
      </p:sp>
      <p:sp>
        <p:nvSpPr>
          <p:cNvPr id="5" name="Content Placeholder 2">
            <a:extLst>
              <a:ext uri="{FF2B5EF4-FFF2-40B4-BE49-F238E27FC236}">
                <a16:creationId xmlns:a16="http://schemas.microsoft.com/office/drawing/2014/main" id="{1363E04A-A0B2-E48A-6B9F-C1CB4567E6B7}"/>
              </a:ext>
            </a:extLst>
          </p:cNvPr>
          <p:cNvSpPr txBox="1">
            <a:spLocks/>
          </p:cNvSpPr>
          <p:nvPr/>
        </p:nvSpPr>
        <p:spPr>
          <a:xfrm>
            <a:off x="852777" y="2503055"/>
            <a:ext cx="7441478" cy="3546764"/>
          </a:xfrm>
          <a:prstGeom prst="rect">
            <a:avLst/>
          </a:prstGeom>
        </p:spPr>
        <p:txBody>
          <a:bodyPr vert="horz" lIns="91440" tIns="45720" rIns="91440" bIns="45720" rtlCol="0" anchor="ct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lnSpc>
                <a:spcPct val="90000"/>
              </a:lnSpc>
              <a:buNone/>
            </a:pPr>
            <a:r>
              <a:rPr lang="en-US" sz="1700" b="1" dirty="0">
                <a:solidFill>
                  <a:schemeClr val="tx2"/>
                </a:solidFill>
              </a:rPr>
              <a:t>1. Differential Access </a:t>
            </a:r>
            <a:r>
              <a:rPr lang="en-US" sz="1700" dirty="0">
                <a:solidFill>
                  <a:schemeClr val="tx1">
                    <a:lumMod val="85000"/>
                    <a:lumOff val="15000"/>
                  </a:schemeClr>
                </a:solidFill>
              </a:rPr>
              <a:t>Children from higher-income/private insurance households will have a higher probability of using telehealth compared to lower-income peers.</a:t>
            </a:r>
          </a:p>
          <a:p>
            <a:pPr marL="0" indent="-228600" defTabSz="914400">
              <a:lnSpc>
                <a:spcPct val="90000"/>
              </a:lnSpc>
              <a:buFont typeface="Arial" panose="020B0604020202020204" pitchFamily="34" charset="0"/>
              <a:buChar char="•"/>
            </a:pPr>
            <a:endParaRPr lang="en-US" sz="1700" dirty="0">
              <a:solidFill>
                <a:schemeClr val="tx1">
                  <a:lumMod val="85000"/>
                  <a:lumOff val="15000"/>
                </a:schemeClr>
              </a:solidFill>
            </a:endParaRPr>
          </a:p>
          <a:p>
            <a:pPr marL="0" indent="0" defTabSz="914400">
              <a:lnSpc>
                <a:spcPct val="90000"/>
              </a:lnSpc>
              <a:buNone/>
            </a:pPr>
            <a:r>
              <a:rPr lang="en-US" sz="1700" b="1" dirty="0">
                <a:solidFill>
                  <a:schemeClr val="tx2"/>
                </a:solidFill>
              </a:rPr>
              <a:t>2. Supplementation vs. Substitution </a:t>
            </a:r>
            <a:r>
              <a:rPr lang="en-US" sz="1700" b="1" dirty="0">
                <a:solidFill>
                  <a:schemeClr val="tx1">
                    <a:lumMod val="85000"/>
                    <a:lumOff val="15000"/>
                  </a:schemeClr>
                </a:solidFill>
              </a:rPr>
              <a:t>– </a:t>
            </a:r>
            <a:r>
              <a:rPr lang="en-US" sz="1700" dirty="0">
                <a:solidFill>
                  <a:schemeClr val="tx1">
                    <a:lumMod val="85000"/>
                    <a:lumOff val="15000"/>
                  </a:schemeClr>
                </a:solidFill>
              </a:rPr>
              <a:t>Among the SES</a:t>
            </a:r>
            <a:endParaRPr lang="en-US" sz="1700" b="1" dirty="0">
              <a:solidFill>
                <a:schemeClr val="tx1">
                  <a:lumMod val="85000"/>
                  <a:lumOff val="15000"/>
                </a:schemeClr>
              </a:solidFill>
            </a:endParaRPr>
          </a:p>
          <a:p>
            <a:pPr indent="-228600" defTabSz="914400">
              <a:lnSpc>
                <a:spcPct val="90000"/>
              </a:lnSpc>
              <a:buFont typeface="Arial" panose="020B0604020202020204" pitchFamily="34" charset="0"/>
              <a:buChar char="•"/>
            </a:pPr>
            <a:r>
              <a:rPr lang="en-US" sz="1700" b="1" dirty="0">
                <a:solidFill>
                  <a:schemeClr val="tx1">
                    <a:lumMod val="85000"/>
                    <a:lumOff val="15000"/>
                  </a:schemeClr>
                </a:solidFill>
              </a:rPr>
              <a:t>High SES: </a:t>
            </a:r>
            <a:r>
              <a:rPr lang="en-US" sz="1700" dirty="0">
                <a:solidFill>
                  <a:schemeClr val="tx1">
                    <a:lumMod val="85000"/>
                    <a:lumOff val="15000"/>
                  </a:schemeClr>
                </a:solidFill>
              </a:rPr>
              <a:t>Supplementation (Higher TH, Stable In-Person).</a:t>
            </a:r>
          </a:p>
          <a:p>
            <a:pPr indent="-228600" defTabSz="914400">
              <a:lnSpc>
                <a:spcPct val="90000"/>
              </a:lnSpc>
              <a:buFont typeface="Arial" panose="020B0604020202020204" pitchFamily="34" charset="0"/>
              <a:buChar char="•"/>
            </a:pPr>
            <a:r>
              <a:rPr lang="en-US" sz="1700" b="1" dirty="0">
                <a:solidFill>
                  <a:schemeClr val="tx1">
                    <a:lumMod val="85000"/>
                    <a:lumOff val="15000"/>
                  </a:schemeClr>
                </a:solidFill>
              </a:rPr>
              <a:t>Low SES: </a:t>
            </a:r>
            <a:r>
              <a:rPr lang="en-US" sz="1700" dirty="0">
                <a:solidFill>
                  <a:schemeClr val="tx1">
                    <a:lumMod val="85000"/>
                    <a:lumOff val="15000"/>
                  </a:schemeClr>
                </a:solidFill>
              </a:rPr>
              <a:t>Substitution (Higher TH associated with lower In-Person) OR Exclusion.</a:t>
            </a:r>
          </a:p>
          <a:p>
            <a:pPr marL="0" indent="-228600" defTabSz="914400">
              <a:lnSpc>
                <a:spcPct val="90000"/>
              </a:lnSpc>
              <a:buFont typeface="Arial" panose="020B0604020202020204" pitchFamily="34" charset="0"/>
              <a:buChar char="•"/>
            </a:pPr>
            <a:endParaRPr lang="en-US" sz="1700" dirty="0">
              <a:solidFill>
                <a:schemeClr val="tx1">
                  <a:lumMod val="85000"/>
                  <a:lumOff val="15000"/>
                </a:schemeClr>
              </a:solidFill>
            </a:endParaRPr>
          </a:p>
          <a:p>
            <a:pPr marL="0" indent="0" defTabSz="914400">
              <a:lnSpc>
                <a:spcPct val="90000"/>
              </a:lnSpc>
              <a:buNone/>
            </a:pPr>
            <a:r>
              <a:rPr lang="en-US" sz="1700" b="1" dirty="0">
                <a:solidFill>
                  <a:schemeClr val="tx2"/>
                </a:solidFill>
              </a:rPr>
              <a:t>3. Persistence Over Time </a:t>
            </a:r>
            <a:r>
              <a:rPr lang="en-US" sz="1700" dirty="0">
                <a:solidFill>
                  <a:schemeClr val="tx1">
                    <a:lumMod val="85000"/>
                    <a:lumOff val="15000"/>
                  </a:schemeClr>
                </a:solidFill>
              </a:rPr>
              <a:t>Utilization will remain elevated in 2023 relative to 2021, indicating persistence beyond the acute COVID phase.</a:t>
            </a:r>
          </a:p>
          <a:p>
            <a:pPr marL="0" indent="-228600" defTabSz="914400">
              <a:lnSpc>
                <a:spcPct val="90000"/>
              </a:lnSpc>
              <a:buFont typeface="Arial" panose="020B0604020202020204" pitchFamily="34" charset="0"/>
              <a:buChar char="•"/>
            </a:pPr>
            <a:endParaRPr lang="en-US" sz="1700" dirty="0">
              <a:solidFill>
                <a:schemeClr val="tx1">
                  <a:lumMod val="85000"/>
                  <a:lumOff val="15000"/>
                </a:schemeClr>
              </a:solidFill>
            </a:endParaRPr>
          </a:p>
          <a:p>
            <a:pPr marL="0" indent="-228600" defTabSz="914400">
              <a:lnSpc>
                <a:spcPct val="90000"/>
              </a:lnSpc>
              <a:buFont typeface="Arial" panose="020B0604020202020204" pitchFamily="34" charset="0"/>
              <a:buChar char="•"/>
            </a:pPr>
            <a:endParaRPr lang="en-US" sz="1700" dirty="0">
              <a:solidFill>
                <a:schemeClr val="tx1">
                  <a:lumMod val="85000"/>
                  <a:lumOff val="15000"/>
                </a:schemeClr>
              </a:solidFill>
            </a:endParaRPr>
          </a:p>
          <a:p>
            <a:pPr marL="0" indent="-228600" defTabSz="914400">
              <a:lnSpc>
                <a:spcPct val="90000"/>
              </a:lnSpc>
              <a:buFont typeface="Arial" panose="020B0604020202020204" pitchFamily="34" charset="0"/>
              <a:buChar char="•"/>
            </a:pPr>
            <a:endParaRPr lang="en-US" sz="1700" dirty="0">
              <a:solidFill>
                <a:schemeClr val="tx1">
                  <a:lumMod val="85000"/>
                  <a:lumOff val="15000"/>
                </a:schemeClr>
              </a:solidFill>
            </a:endParaRPr>
          </a:p>
        </p:txBody>
      </p:sp>
      <p:sp>
        <p:nvSpPr>
          <p:cNvPr id="27" name="Freeform: Shape 26">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Framework</a:t>
            </a:r>
            <a:endParaRPr dirty="0"/>
          </a:p>
        </p:txBody>
      </p:sp>
      <p:sp>
        <p:nvSpPr>
          <p:cNvPr id="5" name="TextBox 4">
            <a:extLst>
              <a:ext uri="{FF2B5EF4-FFF2-40B4-BE49-F238E27FC236}">
                <a16:creationId xmlns:a16="http://schemas.microsoft.com/office/drawing/2014/main" id="{04730F99-E795-2CEF-B3FC-06BF2F9E0011}"/>
              </a:ext>
            </a:extLst>
          </p:cNvPr>
          <p:cNvSpPr txBox="1"/>
          <p:nvPr/>
        </p:nvSpPr>
        <p:spPr>
          <a:xfrm>
            <a:off x="4114800" y="1315730"/>
            <a:ext cx="4572000" cy="4832092"/>
          </a:xfrm>
          <a:prstGeom prst="rect">
            <a:avLst/>
          </a:prstGeom>
          <a:noFill/>
        </p:spPr>
        <p:txBody>
          <a:bodyPr wrap="square">
            <a:spAutoFit/>
          </a:bodyPr>
          <a:lstStyle/>
          <a:p>
            <a:r>
              <a:rPr lang="en-US" sz="1100" dirty="0">
                <a:latin typeface="Courier New" panose="02070309020205020404" pitchFamily="49" charset="0"/>
                <a:cs typeface="Courier New" panose="02070309020205020404" pitchFamily="49" charset="0"/>
              </a:rPr>
              <a:t> 	   SOCIOECONOMIC POSITION</a:t>
            </a:r>
          </a:p>
          <a:p>
            <a:r>
              <a:rPr lang="en-US" sz="1100" dirty="0">
                <a:latin typeface="Courier New" panose="02070309020205020404" pitchFamily="49" charset="0"/>
                <a:cs typeface="Courier New" panose="02070309020205020404" pitchFamily="49" charset="0"/>
              </a:rPr>
              <a:t>     (Poverty Level, Insurance Type)</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STRUCTURAL ACCESS CONSTRAINTS</a:t>
            </a:r>
          </a:p>
          <a:p>
            <a:r>
              <a:rPr lang="en-US" sz="1100" dirty="0">
                <a:latin typeface="Courier New" panose="02070309020205020404" pitchFamily="49" charset="0"/>
                <a:cs typeface="Courier New" panose="02070309020205020404" pitchFamily="49" charset="0"/>
              </a:rPr>
              <a:t>   (Broadband, devices, language, region)</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CHILD HEALTH NEED / DEMAND</a:t>
            </a:r>
          </a:p>
          <a:p>
            <a:r>
              <a:rPr lang="en-US" sz="1100" dirty="0">
                <a:latin typeface="Courier New" panose="02070309020205020404" pitchFamily="49" charset="0"/>
                <a:cs typeface="Courier New" panose="02070309020205020404" pitchFamily="49" charset="0"/>
              </a:rPr>
              <a:t>     (CSHCN, mental health, general health)</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TELEHEALTH UTILIZATION OUTCOMES</a:t>
            </a:r>
          </a:p>
          <a:p>
            <a:r>
              <a:rPr lang="en-US" sz="1100" dirty="0">
                <a:latin typeface="Courier New" panose="02070309020205020404" pitchFamily="49" charset="0"/>
                <a:cs typeface="Courier New" panose="02070309020205020404" pitchFamily="49" charset="0"/>
              </a:rPr>
              <a:t>   - Any telehealth use</a:t>
            </a:r>
          </a:p>
          <a:p>
            <a:r>
              <a:rPr lang="en-US" sz="1100" dirty="0">
                <a:latin typeface="Courier New" panose="02070309020205020404" pitchFamily="49" charset="0"/>
                <a:cs typeface="Courier New" panose="02070309020205020404" pitchFamily="49" charset="0"/>
              </a:rPr>
              <a:t>   - Telehealth visit counts</a:t>
            </a:r>
          </a:p>
          <a:p>
            <a:r>
              <a:rPr lang="en-US" sz="1100" dirty="0">
                <a:latin typeface="Courier New" panose="02070309020205020404" pitchFamily="49" charset="0"/>
                <a:cs typeface="Courier New" panose="02070309020205020404" pitchFamily="49" charset="0"/>
              </a:rPr>
              <a:t>   - Telehealth share (0–1)</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IN-PERSON CARE UTILIZATION</a:t>
            </a:r>
          </a:p>
          <a:p>
            <a:r>
              <a:rPr lang="en-US" sz="1100" dirty="0">
                <a:latin typeface="Courier New" panose="02070309020205020404" pitchFamily="49" charset="0"/>
                <a:cs typeface="Courier New" panose="02070309020205020404" pitchFamily="49" charset="0"/>
              </a:rPr>
              <a:t>   - High tele + high in-person  → Supplementation</a:t>
            </a:r>
          </a:p>
          <a:p>
            <a:r>
              <a:rPr lang="en-US" sz="1100" dirty="0">
                <a:latin typeface="Courier New" panose="02070309020205020404" pitchFamily="49" charset="0"/>
                <a:cs typeface="Courier New" panose="02070309020205020404" pitchFamily="49" charset="0"/>
              </a:rPr>
              <a:t>   - High tele + low in-person   → Substitution</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TEMPORAL MODIFIERS (2021–2023)</a:t>
            </a:r>
          </a:p>
          <a:p>
            <a:r>
              <a:rPr lang="en-US" sz="1100" dirty="0">
                <a:latin typeface="Courier New" panose="02070309020205020404" pitchFamily="49" charset="0"/>
                <a:cs typeface="Courier New" panose="02070309020205020404" pitchFamily="49" charset="0"/>
              </a:rPr>
              <a:t>   (Policy changes, payment shifts, tech adoption)</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EQUITY &amp; DIGITAL DIVIDE</a:t>
            </a:r>
          </a:p>
        </p:txBody>
      </p:sp>
      <p:sp>
        <p:nvSpPr>
          <p:cNvPr id="8" name="TextBox 7">
            <a:extLst>
              <a:ext uri="{FF2B5EF4-FFF2-40B4-BE49-F238E27FC236}">
                <a16:creationId xmlns:a16="http://schemas.microsoft.com/office/drawing/2014/main" id="{60A0C010-9891-8815-F7E6-65C4DB634FEF}"/>
              </a:ext>
            </a:extLst>
          </p:cNvPr>
          <p:cNvSpPr txBox="1"/>
          <p:nvPr/>
        </p:nvSpPr>
        <p:spPr>
          <a:xfrm>
            <a:off x="457201" y="1608117"/>
            <a:ext cx="3785616" cy="3693319"/>
          </a:xfrm>
          <a:prstGeom prst="rect">
            <a:avLst/>
          </a:prstGeom>
          <a:noFill/>
        </p:spPr>
        <p:txBody>
          <a:bodyPr wrap="square" rtlCol="0">
            <a:spAutoFit/>
          </a:bodyPr>
          <a:lstStyle/>
          <a:p>
            <a:r>
              <a:rPr lang="en-US" i="1" dirty="0"/>
              <a:t>SES (poverty level) and insurance coverage shape a child’s structural ability to access telehealth (internet, devices, language, region). Child health needs determine demand for outpatient care. Together, these factors influence whether telehealth is used at all, how much it is used, and whether it substitutes for or supplements in-person visits. Year (2021–2023) modifies these relationships as policies and technology evolve.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a:t>
            </a:r>
            <a:r>
              <a:rPr lang="en-US" dirty="0"/>
              <a:t> Source and Study Population</a:t>
            </a:r>
            <a:endParaRPr dirty="0"/>
          </a:p>
        </p:txBody>
      </p:sp>
      <p:sp>
        <p:nvSpPr>
          <p:cNvPr id="3" name="Content Placeholder 2"/>
          <p:cNvSpPr>
            <a:spLocks noGrp="1"/>
          </p:cNvSpPr>
          <p:nvPr>
            <p:ph idx="1"/>
          </p:nvPr>
        </p:nvSpPr>
        <p:spPr>
          <a:xfrm>
            <a:off x="824459" y="1600200"/>
            <a:ext cx="7195280" cy="2731655"/>
          </a:xfrm>
        </p:spPr>
        <p:txBody>
          <a:bodyPr>
            <a:normAutofit fontScale="62500" lnSpcReduction="20000"/>
          </a:bodyPr>
          <a:lstStyle/>
          <a:p>
            <a:pPr marL="0" indent="0">
              <a:buNone/>
            </a:pPr>
            <a:r>
              <a:rPr lang="en-US" b="1" dirty="0">
                <a:solidFill>
                  <a:schemeClr val="tx2">
                    <a:lumMod val="60000"/>
                    <a:lumOff val="40000"/>
                  </a:schemeClr>
                </a:solidFill>
              </a:rPr>
              <a:t>Medical Expenditure Panel Survey (MEPS)</a:t>
            </a:r>
          </a:p>
          <a:p>
            <a:pPr>
              <a:buFont typeface="Wingdings" pitchFamily="2" charset="2"/>
              <a:buChar char="ü"/>
            </a:pPr>
            <a:r>
              <a:rPr lang="en-US" b="1" dirty="0"/>
              <a:t>Pooled Person-Year Dataset: </a:t>
            </a:r>
          </a:p>
          <a:p>
            <a:pPr marL="0" indent="0">
              <a:buNone/>
            </a:pPr>
            <a:r>
              <a:rPr lang="en-US" dirty="0"/>
              <a:t>	2021, 2022, 2023.</a:t>
            </a:r>
          </a:p>
          <a:p>
            <a:pPr>
              <a:buFont typeface="Wingdings" pitchFamily="2" charset="2"/>
              <a:buChar char="ü"/>
            </a:pPr>
            <a:r>
              <a:rPr lang="en-US" b="1" dirty="0"/>
              <a:t>Target Population: </a:t>
            </a:r>
          </a:p>
          <a:p>
            <a:pPr marL="0" indent="0">
              <a:buNone/>
            </a:pPr>
            <a:r>
              <a:rPr lang="en-US" dirty="0"/>
              <a:t>	</a:t>
            </a:r>
            <a:r>
              <a:rPr lang="en-US" sz="2900" dirty="0"/>
              <a:t>Children Ages 6–17.</a:t>
            </a:r>
          </a:p>
          <a:p>
            <a:pPr>
              <a:buFont typeface="Wingdings" pitchFamily="2" charset="2"/>
              <a:buChar char="ü"/>
            </a:pPr>
            <a:r>
              <a:rPr lang="en-US" b="1" dirty="0"/>
              <a:t>Files Linked: </a:t>
            </a:r>
          </a:p>
          <a:p>
            <a:pPr marL="0" indent="0">
              <a:buNone/>
            </a:pPr>
            <a:r>
              <a:rPr lang="en-US" sz="2600" dirty="0"/>
              <a:t>	Full-Year Consolidated (FYC) + Office-Based (OB) + Outpatient (OP).</a:t>
            </a:r>
          </a:p>
          <a:p>
            <a:pPr>
              <a:buFont typeface="Wingdings" pitchFamily="2" charset="2"/>
              <a:buChar char="ü"/>
            </a:pPr>
            <a:r>
              <a:rPr lang="en-US" b="1" dirty="0"/>
              <a:t>Identification: </a:t>
            </a:r>
          </a:p>
          <a:p>
            <a:pPr marL="0" indent="0">
              <a:buNone/>
            </a:pPr>
            <a:r>
              <a:rPr lang="en-US" b="1" dirty="0"/>
              <a:t>	</a:t>
            </a:r>
            <a:r>
              <a:rPr lang="en-US" sz="2600" dirty="0"/>
              <a:t>TELEHEALTHFLAG used to identify video/phone visits.</a:t>
            </a:r>
            <a:endParaRPr sz="2600" dirty="0"/>
          </a:p>
        </p:txBody>
      </p:sp>
      <p:pic>
        <p:nvPicPr>
          <p:cNvPr id="5" name="Picture 4">
            <a:extLst>
              <a:ext uri="{FF2B5EF4-FFF2-40B4-BE49-F238E27FC236}">
                <a16:creationId xmlns:a16="http://schemas.microsoft.com/office/drawing/2014/main" id="{2A0D9865-22CE-2898-6037-1B4991FBADF4}"/>
              </a:ext>
            </a:extLst>
          </p:cNvPr>
          <p:cNvPicPr>
            <a:picLocks noChangeAspect="1"/>
          </p:cNvPicPr>
          <p:nvPr/>
        </p:nvPicPr>
        <p:blipFill>
          <a:blip r:embed="rId3"/>
          <a:stretch>
            <a:fillRect/>
          </a:stretch>
        </p:blipFill>
        <p:spPr>
          <a:xfrm>
            <a:off x="663314" y="4514417"/>
            <a:ext cx="7532015" cy="16915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80B6CC-9AC6-D7EF-F57F-2D384C2E7613}"/>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Key Variables</a:t>
            </a:r>
          </a:p>
        </p:txBody>
      </p:sp>
      <p:graphicFrame>
        <p:nvGraphicFramePr>
          <p:cNvPr id="7" name="Table 6">
            <a:extLst>
              <a:ext uri="{FF2B5EF4-FFF2-40B4-BE49-F238E27FC236}">
                <a16:creationId xmlns:a16="http://schemas.microsoft.com/office/drawing/2014/main" id="{0E0CCA97-8251-FD0F-1E79-270839B687B4}"/>
              </a:ext>
            </a:extLst>
          </p:cNvPr>
          <p:cNvGraphicFramePr>
            <a:graphicFrameLocks noGrp="1"/>
          </p:cNvGraphicFramePr>
          <p:nvPr>
            <p:extLst>
              <p:ext uri="{D42A27DB-BD31-4B8C-83A1-F6EECF244321}">
                <p14:modId xmlns:p14="http://schemas.microsoft.com/office/powerpoint/2010/main" val="2203906397"/>
              </p:ext>
            </p:extLst>
          </p:nvPr>
        </p:nvGraphicFramePr>
        <p:xfrm>
          <a:off x="210820" y="1530404"/>
          <a:ext cx="8722360" cy="4322278"/>
        </p:xfrm>
        <a:graphic>
          <a:graphicData uri="http://schemas.openxmlformats.org/drawingml/2006/table">
            <a:tbl>
              <a:tblPr firstRow="1" firstCol="1" bandRow="1">
                <a:noFill/>
                <a:tableStyleId>{5C22544A-7EE6-4342-B048-85BDC9FD1C3A}</a:tableStyleId>
              </a:tblPr>
              <a:tblGrid>
                <a:gridCol w="2355777">
                  <a:extLst>
                    <a:ext uri="{9D8B030D-6E8A-4147-A177-3AD203B41FA5}">
                      <a16:colId xmlns:a16="http://schemas.microsoft.com/office/drawing/2014/main" val="1542305382"/>
                    </a:ext>
                  </a:extLst>
                </a:gridCol>
                <a:gridCol w="1982306">
                  <a:extLst>
                    <a:ext uri="{9D8B030D-6E8A-4147-A177-3AD203B41FA5}">
                      <a16:colId xmlns:a16="http://schemas.microsoft.com/office/drawing/2014/main" val="3525016423"/>
                    </a:ext>
                  </a:extLst>
                </a:gridCol>
                <a:gridCol w="4384277">
                  <a:extLst>
                    <a:ext uri="{9D8B030D-6E8A-4147-A177-3AD203B41FA5}">
                      <a16:colId xmlns:a16="http://schemas.microsoft.com/office/drawing/2014/main" val="3375109881"/>
                    </a:ext>
                  </a:extLst>
                </a:gridCol>
              </a:tblGrid>
              <a:tr h="299902">
                <a:tc>
                  <a:txBody>
                    <a:bodyPr/>
                    <a:lstStyle/>
                    <a:p>
                      <a:pPr marL="0" marR="0" algn="ctr">
                        <a:lnSpc>
                          <a:spcPct val="115000"/>
                        </a:lnSpc>
                        <a:spcAft>
                          <a:spcPts val="800"/>
                        </a:spcAft>
                        <a:buNone/>
                      </a:pPr>
                      <a:r>
                        <a:rPr lang="en-US" sz="1100" b="0" kern="0" cap="none" spc="0">
                          <a:solidFill>
                            <a:schemeClr val="tx1"/>
                          </a:solidFill>
                          <a:effectLst/>
                        </a:rPr>
                        <a:t>Category</a:t>
                      </a:r>
                      <a:endParaRPr lang="en-US" sz="1100" b="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9911" marB="49556" anchor="b">
                    <a:lnL w="12700" cmpd="sng">
                      <a:noFill/>
                    </a:lnL>
                    <a:lnR w="12700" cmpd="sng">
                      <a:noFill/>
                    </a:lnR>
                    <a:lnT w="9525" cap="flat" cmpd="sng" algn="ctr">
                      <a:noFill/>
                      <a:prstDash val="solid"/>
                    </a:lnT>
                    <a:lnB w="38100" cmpd="sng">
                      <a:noFill/>
                    </a:lnB>
                    <a:noFill/>
                  </a:tcPr>
                </a:tc>
                <a:tc>
                  <a:txBody>
                    <a:bodyPr/>
                    <a:lstStyle/>
                    <a:p>
                      <a:pPr marL="0" marR="0" algn="ctr">
                        <a:lnSpc>
                          <a:spcPct val="115000"/>
                        </a:lnSpc>
                        <a:spcAft>
                          <a:spcPts val="800"/>
                        </a:spcAft>
                        <a:buNone/>
                      </a:pPr>
                      <a:r>
                        <a:rPr lang="en-US" sz="1100" b="0" kern="0" cap="none" spc="0">
                          <a:solidFill>
                            <a:schemeClr val="tx1"/>
                          </a:solidFill>
                          <a:effectLst/>
                        </a:rPr>
                        <a:t>Variable</a:t>
                      </a:r>
                      <a:endParaRPr lang="en-US" sz="1100" b="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9911" marB="49556" anchor="b">
                    <a:lnL w="12700" cmpd="sng">
                      <a:noFill/>
                    </a:lnL>
                    <a:lnR w="12700" cmpd="sng">
                      <a:noFill/>
                    </a:lnR>
                    <a:lnT w="9525" cap="flat" cmpd="sng" algn="ctr">
                      <a:noFill/>
                      <a:prstDash val="solid"/>
                    </a:lnT>
                    <a:lnB w="38100" cmpd="sng">
                      <a:noFill/>
                    </a:lnB>
                    <a:noFill/>
                  </a:tcPr>
                </a:tc>
                <a:tc>
                  <a:txBody>
                    <a:bodyPr/>
                    <a:lstStyle/>
                    <a:p>
                      <a:pPr marL="0" marR="0" algn="ctr">
                        <a:lnSpc>
                          <a:spcPct val="115000"/>
                        </a:lnSpc>
                        <a:spcAft>
                          <a:spcPts val="800"/>
                        </a:spcAft>
                        <a:buNone/>
                      </a:pPr>
                      <a:r>
                        <a:rPr lang="en-US" sz="1100" b="0" kern="0" cap="none" spc="0">
                          <a:solidFill>
                            <a:schemeClr val="tx1"/>
                          </a:solidFill>
                          <a:effectLst/>
                        </a:rPr>
                        <a:t>Definition / Description</a:t>
                      </a:r>
                      <a:endParaRPr lang="en-US" sz="1100" b="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9911" marB="49556"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4127787048"/>
                  </a:ext>
                </a:extLst>
              </a:tr>
              <a:tr h="305288">
                <a:tc>
                  <a:txBody>
                    <a:bodyPr/>
                    <a:lstStyle/>
                    <a:p>
                      <a:pPr marL="0" marR="0">
                        <a:lnSpc>
                          <a:spcPct val="115000"/>
                        </a:lnSpc>
                        <a:spcAft>
                          <a:spcPts val="800"/>
                        </a:spcAft>
                        <a:buNone/>
                      </a:pPr>
                      <a:r>
                        <a:rPr lang="en-US" sz="1400" b="0" kern="0" cap="none" spc="0" dirty="0">
                          <a:solidFill>
                            <a:schemeClr val="tx1"/>
                          </a:solidFill>
                          <a:effectLst/>
                          <a:highlight>
                            <a:srgbClr val="FFFF00"/>
                          </a:highlight>
                        </a:rPr>
                        <a:t>Outcome Measures</a:t>
                      </a:r>
                      <a:endParaRPr lang="en-US" sz="1400" b="0" kern="100" cap="none" spc="0" dirty="0">
                        <a:solidFill>
                          <a:schemeClr val="tx1"/>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Any telehealth use</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Binary indicator =1 if ≥1 telehealth visit (TELEHEALTHFLAG).</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38100" cmpd="sng">
                      <a:noFill/>
                    </a:lnT>
                    <a:lnB w="9525" cap="flat" cmpd="sng" algn="ctr">
                      <a:solidFill>
                        <a:schemeClr val="tx1"/>
                      </a:solidFill>
                      <a:prstDash val="solid"/>
                    </a:lnB>
                    <a:noFill/>
                  </a:tcPr>
                </a:tc>
                <a:extLst>
                  <a:ext uri="{0D108BD9-81ED-4DB2-BD59-A6C34878D82A}">
                    <a16:rowId xmlns:a16="http://schemas.microsoft.com/office/drawing/2014/main" val="3733062401"/>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Telehealth visits (count)</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Number of OB/OP encounters delivered via telehealth.</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5200138"/>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In-person visits (count)</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Number of OB/OP encounters not delivered via telehealth.</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486584140"/>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Telehealth share (0–1)</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Telehealth visits ÷ total visits; modeled using Tobit due to censoring.</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265572465"/>
                  </a:ext>
                </a:extLst>
              </a:tr>
              <a:tr h="305288">
                <a:tc>
                  <a:txBody>
                    <a:bodyPr/>
                    <a:lstStyle/>
                    <a:p>
                      <a:pPr marL="0" marR="0">
                        <a:lnSpc>
                          <a:spcPct val="115000"/>
                        </a:lnSpc>
                        <a:spcAft>
                          <a:spcPts val="800"/>
                        </a:spcAft>
                        <a:buNone/>
                      </a:pPr>
                      <a:r>
                        <a:rPr lang="en-US" sz="1400" b="0" kern="0" cap="none" spc="0" dirty="0">
                          <a:solidFill>
                            <a:schemeClr val="tx1"/>
                          </a:solidFill>
                          <a:effectLst/>
                          <a:highlight>
                            <a:srgbClr val="FFFF00"/>
                          </a:highlight>
                        </a:rPr>
                        <a:t>Key Independent Variables</a:t>
                      </a:r>
                      <a:endParaRPr lang="en-US" sz="1400" b="0" kern="100" cap="none" spc="0" dirty="0">
                        <a:solidFill>
                          <a:schemeClr val="tx1"/>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Poverty category (POVCAT)</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&lt;100% FPL; 100–199% FPL; 200–399% FPL; ≥400% FPL.</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225503258"/>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Insurance coverage (INSCOV)</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Private; Public only; Uninsured.</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11994850"/>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Survey year</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2021, 2022, 2023 (captures temporal trends).</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819894758"/>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Interaction terms</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Income × Year; Insurance × Year (tests substitution vs. supplementation).</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177489151"/>
                  </a:ext>
                </a:extLst>
              </a:tr>
              <a:tr h="305288">
                <a:tc>
                  <a:txBody>
                    <a:bodyPr/>
                    <a:lstStyle/>
                    <a:p>
                      <a:pPr marL="0" marR="0">
                        <a:lnSpc>
                          <a:spcPct val="115000"/>
                        </a:lnSpc>
                        <a:spcAft>
                          <a:spcPts val="800"/>
                        </a:spcAft>
                        <a:buNone/>
                      </a:pPr>
                      <a:r>
                        <a:rPr lang="en-US" sz="1400" b="0" kern="0" cap="none" spc="0" dirty="0">
                          <a:solidFill>
                            <a:schemeClr val="tx1"/>
                          </a:solidFill>
                          <a:effectLst/>
                          <a:highlight>
                            <a:srgbClr val="FFFF00"/>
                          </a:highlight>
                        </a:rPr>
                        <a:t>Covariates</a:t>
                      </a:r>
                      <a:endParaRPr lang="en-US" sz="1400" b="0" kern="100" cap="none" spc="0" dirty="0">
                        <a:solidFill>
                          <a:schemeClr val="tx1"/>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Age</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Continuous; also grouped (6–11, 12–17).</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2952305803"/>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Sex</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Male/Female.</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09863682"/>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Race/ethnicity</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Hispanic; NH White; NH Black; NH Other.</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712272627"/>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Parental education</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Years of education (EDUCYR).</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144316689"/>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dirty="0">
                          <a:solidFill>
                            <a:schemeClr val="tx1"/>
                          </a:solidFill>
                          <a:effectLst/>
                        </a:rPr>
                        <a:t>Family size category</a:t>
                      </a:r>
                      <a:endParaRPr lang="en-US" sz="9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Aft>
                          <a:spcPts val="800"/>
                        </a:spcAft>
                        <a:buNone/>
                      </a:pPr>
                      <a:r>
                        <a:rPr lang="en-US" sz="900" kern="0" cap="none" spc="0">
                          <a:solidFill>
                            <a:schemeClr val="tx1"/>
                          </a:solidFill>
                          <a:effectLst/>
                        </a:rPr>
                        <a:t>1, 2, 3, or ≥4 persons.</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250502343"/>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Region</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Aft>
                          <a:spcPts val="800"/>
                        </a:spcAft>
                        <a:buNone/>
                      </a:pPr>
                      <a:r>
                        <a:rPr lang="en-US" sz="900" kern="0" cap="none" spc="0">
                          <a:solidFill>
                            <a:schemeClr val="tx1"/>
                          </a:solidFill>
                          <a:effectLst/>
                        </a:rPr>
                        <a:t>Northeast; Midwest; South; West.</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485902583"/>
                  </a:ext>
                </a:extLst>
              </a:tr>
              <a:tr h="258876">
                <a:tc>
                  <a:txBody>
                    <a:bodyPr/>
                    <a:lstStyle/>
                    <a:p>
                      <a:pPr>
                        <a:buNone/>
                      </a:pPr>
                      <a:endParaRPr lang="en-US" sz="1100" b="0" kern="100" cap="none" spc="0">
                        <a:solidFill>
                          <a:schemeClr val="tx1"/>
                        </a:solidFill>
                        <a:effectLst/>
                        <a:latin typeface="Aptos" panose="020B0004020202020204" pitchFamily="34" charset="0"/>
                      </a:endParaRPr>
                    </a:p>
                  </a:txBody>
                  <a:tcPr marL="0" marR="30470" marT="14866" marB="49556">
                    <a:lnL w="12700" cmpd="sng">
                      <a:noFill/>
                      <a:prstDash val="solid"/>
                    </a:lnL>
                    <a:lnR w="12700" cmpd="sng">
                      <a:noFill/>
                      <a:prstDash val="solid"/>
                    </a:lnR>
                    <a:lnT w="12700" cmpd="sng">
                      <a:noFill/>
                      <a:prstDash val="solid"/>
                    </a:lnT>
                    <a:lnB w="12700" cmpd="sng">
                      <a:noFill/>
                      <a:prstDash val="solid"/>
                    </a:lnB>
                    <a:noFill/>
                  </a:tcPr>
                </a:tc>
                <a:tc>
                  <a:txBody>
                    <a:bodyPr/>
                    <a:lstStyle/>
                    <a:p>
                      <a:pPr marL="0" marR="0">
                        <a:lnSpc>
                          <a:spcPct val="115000"/>
                        </a:lnSpc>
                        <a:spcAft>
                          <a:spcPts val="800"/>
                        </a:spcAft>
                        <a:buNone/>
                      </a:pPr>
                      <a:r>
                        <a:rPr lang="en-US" sz="900" kern="0" cap="none" spc="0">
                          <a:solidFill>
                            <a:schemeClr val="tx1"/>
                          </a:solidFill>
                          <a:effectLst/>
                        </a:rPr>
                        <a:t>Survey design variables</a:t>
                      </a:r>
                      <a:endParaRPr lang="en-US" sz="9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0" marR="30470" marT="14866" marB="49556">
                    <a:lnL w="12700" cmpd="sng">
                      <a:noFill/>
                      <a:prstDash val="solid"/>
                    </a:lnL>
                    <a:lnR w="12700" cmpd="sng">
                      <a:noFill/>
                      <a:prstDash val="solid"/>
                    </a:lnR>
                    <a:lnT w="12700" cmpd="sng">
                      <a:noFill/>
                      <a:prstDash val="solid"/>
                    </a:lnT>
                    <a:lnB w="12700" cmpd="sng">
                      <a:noFill/>
                      <a:prstDash val="solid"/>
                    </a:lnB>
                    <a:noFill/>
                  </a:tcPr>
                </a:tc>
                <a:tc>
                  <a:txBody>
                    <a:bodyPr/>
                    <a:lstStyle/>
                    <a:p>
                      <a:pPr marL="0" marR="0">
                        <a:lnSpc>
                          <a:spcPct val="115000"/>
                        </a:lnSpc>
                        <a:spcAft>
                          <a:spcPts val="800"/>
                        </a:spcAft>
                        <a:buNone/>
                      </a:pPr>
                      <a:r>
                        <a:rPr lang="en-US" sz="900" kern="0" cap="none" spc="0" dirty="0">
                          <a:solidFill>
                            <a:schemeClr val="tx1"/>
                          </a:solidFill>
                          <a:effectLst/>
                        </a:rPr>
                        <a:t>VARSTR, VARPSU, unified person-weight (</a:t>
                      </a:r>
                      <a:r>
                        <a:rPr lang="en-US" sz="900" kern="0" cap="none" spc="0" dirty="0" err="1">
                          <a:solidFill>
                            <a:schemeClr val="tx1"/>
                          </a:solidFill>
                          <a:effectLst/>
                        </a:rPr>
                        <a:t>PERWTxxF</a:t>
                      </a:r>
                      <a:r>
                        <a:rPr lang="en-US" sz="900" kern="0" cap="none" spc="0" dirty="0">
                          <a:solidFill>
                            <a:schemeClr val="tx1"/>
                          </a:solidFill>
                          <a:effectLst/>
                        </a:rPr>
                        <a:t> → weight).</a:t>
                      </a:r>
                    </a:p>
                  </a:txBody>
                  <a:tcPr marL="0" marR="30470" marT="14866" marB="49556">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818092515"/>
                  </a:ext>
                </a:extLst>
              </a:tr>
            </a:tbl>
          </a:graphicData>
        </a:graphic>
      </p:graphicFrame>
      <p:sp>
        <p:nvSpPr>
          <p:cNvPr id="3" name="TextBox 2">
            <a:extLst>
              <a:ext uri="{FF2B5EF4-FFF2-40B4-BE49-F238E27FC236}">
                <a16:creationId xmlns:a16="http://schemas.microsoft.com/office/drawing/2014/main" id="{2C733012-85D4-686D-E318-8D9D6BF4358E}"/>
              </a:ext>
            </a:extLst>
          </p:cNvPr>
          <p:cNvSpPr txBox="1"/>
          <p:nvPr/>
        </p:nvSpPr>
        <p:spPr>
          <a:xfrm>
            <a:off x="210820" y="5958727"/>
            <a:ext cx="6615081" cy="646331"/>
          </a:xfrm>
          <a:prstGeom prst="rect">
            <a:avLst/>
          </a:prstGeom>
          <a:noFill/>
        </p:spPr>
        <p:txBody>
          <a:bodyPr wrap="none" rtlCol="0">
            <a:spAutoFit/>
          </a:bodyPr>
          <a:lstStyle/>
          <a:p>
            <a:r>
              <a:rPr lang="en-US" b="1" dirty="0"/>
              <a:t>Plus</a:t>
            </a:r>
            <a:r>
              <a:rPr lang="en-US" dirty="0"/>
              <a:t> –  </a:t>
            </a:r>
            <a:r>
              <a:rPr lang="en-US" dirty="0" err="1"/>
              <a:t>mental_health</a:t>
            </a:r>
            <a:r>
              <a:rPr lang="en-US" dirty="0"/>
              <a:t>, </a:t>
            </a:r>
            <a:r>
              <a:rPr lang="en-US" dirty="0" err="1"/>
              <a:t>physical_health</a:t>
            </a:r>
            <a:r>
              <a:rPr lang="en-US" dirty="0"/>
              <a:t>, </a:t>
            </a:r>
            <a:r>
              <a:rPr lang="en-US" dirty="0" err="1"/>
              <a:t>language_barrier</a:t>
            </a:r>
            <a:endParaRPr lang="en-US" dirty="0"/>
          </a:p>
          <a:p>
            <a:r>
              <a:rPr lang="en-US" dirty="0"/>
              <a:t> 	   CSHCN: Children with Special Health Care Needs (composite), </a:t>
            </a:r>
          </a:p>
        </p:txBody>
      </p:sp>
    </p:spTree>
    <p:extLst>
      <p:ext uri="{BB962C8B-B14F-4D97-AF65-F5344CB8AC3E}">
        <p14:creationId xmlns:p14="http://schemas.microsoft.com/office/powerpoint/2010/main" val="4067238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398"/>
            <a:ext cx="8229600" cy="1143000"/>
          </a:xfrm>
        </p:spPr>
        <p:txBody>
          <a:bodyPr>
            <a:normAutofit/>
          </a:bodyPr>
          <a:lstStyle/>
          <a:p>
            <a:r>
              <a:rPr lang="en-US" dirty="0"/>
              <a:t>Descriptive Statistics: Table 1</a:t>
            </a:r>
          </a:p>
        </p:txBody>
      </p:sp>
      <p:graphicFrame>
        <p:nvGraphicFramePr>
          <p:cNvPr id="3" name="Table 2">
            <a:extLst>
              <a:ext uri="{FF2B5EF4-FFF2-40B4-BE49-F238E27FC236}">
                <a16:creationId xmlns:a16="http://schemas.microsoft.com/office/drawing/2014/main" id="{3B1FC75C-B4BB-4827-F642-E2C434A17028}"/>
              </a:ext>
            </a:extLst>
          </p:cNvPr>
          <p:cNvGraphicFramePr>
            <a:graphicFrameLocks noGrp="1"/>
          </p:cNvGraphicFramePr>
          <p:nvPr>
            <p:extLst>
              <p:ext uri="{D42A27DB-BD31-4B8C-83A1-F6EECF244321}">
                <p14:modId xmlns:p14="http://schemas.microsoft.com/office/powerpoint/2010/main" val="1463702697"/>
              </p:ext>
            </p:extLst>
          </p:nvPr>
        </p:nvGraphicFramePr>
        <p:xfrm>
          <a:off x="457200" y="1285062"/>
          <a:ext cx="8229600" cy="5499998"/>
        </p:xfrm>
        <a:graphic>
          <a:graphicData uri="http://schemas.openxmlformats.org/drawingml/2006/table">
            <a:tbl>
              <a:tblPr>
                <a:tableStyleId>{5940675A-B579-460E-94D1-54222C63F5DA}</a:tableStyleId>
              </a:tblPr>
              <a:tblGrid>
                <a:gridCol w="1645920">
                  <a:extLst>
                    <a:ext uri="{9D8B030D-6E8A-4147-A177-3AD203B41FA5}">
                      <a16:colId xmlns:a16="http://schemas.microsoft.com/office/drawing/2014/main" val="3093150669"/>
                    </a:ext>
                  </a:extLst>
                </a:gridCol>
                <a:gridCol w="1645920">
                  <a:extLst>
                    <a:ext uri="{9D8B030D-6E8A-4147-A177-3AD203B41FA5}">
                      <a16:colId xmlns:a16="http://schemas.microsoft.com/office/drawing/2014/main" val="4422835"/>
                    </a:ext>
                  </a:extLst>
                </a:gridCol>
                <a:gridCol w="1645920">
                  <a:extLst>
                    <a:ext uri="{9D8B030D-6E8A-4147-A177-3AD203B41FA5}">
                      <a16:colId xmlns:a16="http://schemas.microsoft.com/office/drawing/2014/main" val="2619280681"/>
                    </a:ext>
                  </a:extLst>
                </a:gridCol>
                <a:gridCol w="1645920">
                  <a:extLst>
                    <a:ext uri="{9D8B030D-6E8A-4147-A177-3AD203B41FA5}">
                      <a16:colId xmlns:a16="http://schemas.microsoft.com/office/drawing/2014/main" val="3133297656"/>
                    </a:ext>
                  </a:extLst>
                </a:gridCol>
                <a:gridCol w="1645920">
                  <a:extLst>
                    <a:ext uri="{9D8B030D-6E8A-4147-A177-3AD203B41FA5}">
                      <a16:colId xmlns:a16="http://schemas.microsoft.com/office/drawing/2014/main" val="1862801189"/>
                    </a:ext>
                  </a:extLst>
                </a:gridCol>
              </a:tblGrid>
              <a:tr h="201971">
                <a:tc>
                  <a:txBody>
                    <a:bodyPr/>
                    <a:lstStyle/>
                    <a:p>
                      <a:pPr rtl="0">
                        <a:buNone/>
                      </a:pPr>
                      <a:r>
                        <a:rPr lang="en-US" sz="1000" b="1">
                          <a:solidFill>
                            <a:srgbClr val="1F1F1F"/>
                          </a:solidFill>
                          <a:effectLst/>
                        </a:rPr>
                        <a:t>Characteristic</a:t>
                      </a:r>
                      <a:endParaRPr lang="en-US" sz="1000">
                        <a:solidFill>
                          <a:srgbClr val="1F1F1F"/>
                        </a:solidFill>
                        <a:effectLst/>
                        <a:latin typeface="+mn-lt"/>
                      </a:endParaRPr>
                    </a:p>
                  </a:txBody>
                  <a:tcPr marL="28865" marR="28865" marT="19243" marB="19243" anchor="ctr"/>
                </a:tc>
                <a:tc>
                  <a:txBody>
                    <a:bodyPr/>
                    <a:lstStyle/>
                    <a:p>
                      <a:pPr rtl="0">
                        <a:buNone/>
                      </a:pPr>
                      <a:r>
                        <a:rPr lang="en-US" sz="1000" b="1">
                          <a:solidFill>
                            <a:srgbClr val="1F1F1F"/>
                          </a:solidFill>
                          <a:effectLst/>
                        </a:rPr>
                        <a:t>2021(N = 3,962)</a:t>
                      </a:r>
                      <a:endParaRPr lang="en-US" sz="1000">
                        <a:solidFill>
                          <a:srgbClr val="1F1F1F"/>
                        </a:solidFill>
                        <a:effectLst/>
                        <a:latin typeface="+mn-lt"/>
                      </a:endParaRPr>
                    </a:p>
                  </a:txBody>
                  <a:tcPr marL="28865" marR="28865" marT="19243" marB="19243" anchor="ctr"/>
                </a:tc>
                <a:tc>
                  <a:txBody>
                    <a:bodyPr/>
                    <a:lstStyle/>
                    <a:p>
                      <a:pPr rtl="0">
                        <a:buNone/>
                      </a:pPr>
                      <a:r>
                        <a:rPr lang="en-US" sz="1000" b="1">
                          <a:solidFill>
                            <a:srgbClr val="1F1F1F"/>
                          </a:solidFill>
                          <a:effectLst/>
                        </a:rPr>
                        <a:t>2022(N = 3,127)</a:t>
                      </a:r>
                      <a:endParaRPr lang="en-US" sz="1000">
                        <a:solidFill>
                          <a:srgbClr val="1F1F1F"/>
                        </a:solidFill>
                        <a:effectLst/>
                        <a:latin typeface="+mn-lt"/>
                      </a:endParaRPr>
                    </a:p>
                  </a:txBody>
                  <a:tcPr marL="28865" marR="28865" marT="19243" marB="19243" anchor="ctr"/>
                </a:tc>
                <a:tc>
                  <a:txBody>
                    <a:bodyPr/>
                    <a:lstStyle/>
                    <a:p>
                      <a:pPr rtl="0">
                        <a:buNone/>
                      </a:pPr>
                      <a:r>
                        <a:rPr lang="en-US" sz="1000" b="1">
                          <a:solidFill>
                            <a:srgbClr val="1F1F1F"/>
                          </a:solidFill>
                          <a:effectLst/>
                        </a:rPr>
                        <a:t>2023(N = 2,633)</a:t>
                      </a:r>
                      <a:endParaRPr lang="en-US" sz="1000">
                        <a:solidFill>
                          <a:srgbClr val="1F1F1F"/>
                        </a:solidFill>
                        <a:effectLst/>
                        <a:latin typeface="+mn-lt"/>
                      </a:endParaRPr>
                    </a:p>
                  </a:txBody>
                  <a:tcPr marL="28865" marR="28865" marT="19243" marB="19243" anchor="ctr"/>
                </a:tc>
                <a:tc>
                  <a:txBody>
                    <a:bodyPr/>
                    <a:lstStyle/>
                    <a:p>
                      <a:pPr rtl="0">
                        <a:buNone/>
                      </a:pPr>
                      <a:r>
                        <a:rPr lang="en-US" sz="1000" b="1">
                          <a:solidFill>
                            <a:srgbClr val="1F1F1F"/>
                          </a:solidFill>
                          <a:effectLst/>
                        </a:rPr>
                        <a:t>Total(N = 9,722)</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992163081"/>
                  </a:ext>
                </a:extLst>
              </a:tr>
              <a:tr h="201971">
                <a:tc>
                  <a:txBody>
                    <a:bodyPr/>
                    <a:lstStyle/>
                    <a:p>
                      <a:pPr rtl="0">
                        <a:buNone/>
                      </a:pPr>
                      <a:r>
                        <a:rPr lang="en-US" sz="1000" b="1">
                          <a:solidFill>
                            <a:srgbClr val="1F1F1F"/>
                          </a:solidFill>
                          <a:effectLst/>
                        </a:rPr>
                        <a:t>Age, Mean (SD)</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11.57 (3.45)</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11.64 (3.43)</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11.64 (3.43)</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11.61 (3.44)</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3777272785"/>
                  </a:ext>
                </a:extLst>
              </a:tr>
              <a:tr h="130839">
                <a:tc>
                  <a:txBody>
                    <a:bodyPr/>
                    <a:lstStyle/>
                    <a:p>
                      <a:pPr rtl="0">
                        <a:buNone/>
                      </a:pPr>
                      <a:r>
                        <a:rPr lang="en-US" sz="1000" b="1">
                          <a:solidFill>
                            <a:srgbClr val="1F1F1F"/>
                          </a:solidFill>
                          <a:effectLst/>
                        </a:rPr>
                        <a:t>Age Group</a:t>
                      </a: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841620121"/>
                  </a:ext>
                </a:extLst>
              </a:tr>
              <a:tr h="130839">
                <a:tc>
                  <a:txBody>
                    <a:bodyPr/>
                    <a:lstStyle/>
                    <a:p>
                      <a:pPr rtl="0">
                        <a:buNone/>
                      </a:pPr>
                      <a:r>
                        <a:rPr lang="en-US" sz="1000">
                          <a:solidFill>
                            <a:srgbClr val="1F1F1F"/>
                          </a:solidFill>
                          <a:effectLst/>
                        </a:rPr>
                        <a:t>    6–11 years</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1,946 (49.12)</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1,516 (48.48)</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1,296 (49.22)</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4,758 (48.94)</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2123472011"/>
                  </a:ext>
                </a:extLst>
              </a:tr>
              <a:tr h="130839">
                <a:tc>
                  <a:txBody>
                    <a:bodyPr/>
                    <a:lstStyle/>
                    <a:p>
                      <a:pPr rtl="0">
                        <a:buNone/>
                      </a:pPr>
                      <a:r>
                        <a:rPr lang="en-US" sz="1000">
                          <a:solidFill>
                            <a:srgbClr val="1F1F1F"/>
                          </a:solidFill>
                          <a:effectLst/>
                        </a:rPr>
                        <a:t>    12–17 years</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2,016 (50.88)</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1,611 (51.52)</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1,337 (50.78)</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4,964 (51.06)</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3957348606"/>
                  </a:ext>
                </a:extLst>
              </a:tr>
              <a:tr h="130839">
                <a:tc>
                  <a:txBody>
                    <a:bodyPr/>
                    <a:lstStyle/>
                    <a:p>
                      <a:pPr rtl="0">
                        <a:buNone/>
                      </a:pPr>
                      <a:r>
                        <a:rPr lang="en-US" sz="1000" b="1">
                          <a:solidFill>
                            <a:srgbClr val="1F1F1F"/>
                          </a:solidFill>
                          <a:effectLst/>
                        </a:rPr>
                        <a:t>Sex</a:t>
                      </a: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3972583776"/>
                  </a:ext>
                </a:extLst>
              </a:tr>
              <a:tr h="130839">
                <a:tc>
                  <a:txBody>
                    <a:bodyPr/>
                    <a:lstStyle/>
                    <a:p>
                      <a:pPr rtl="0">
                        <a:buNone/>
                      </a:pPr>
                      <a:r>
                        <a:rPr lang="en-US" sz="1000">
                          <a:solidFill>
                            <a:srgbClr val="1F1F1F"/>
                          </a:solidFill>
                          <a:effectLst/>
                        </a:rPr>
                        <a:t>    Female</a:t>
                      </a:r>
                      <a:endParaRPr lang="en-US" sz="1000">
                        <a:solidFill>
                          <a:srgbClr val="1F1F1F"/>
                        </a:solidFill>
                        <a:effectLst/>
                        <a:latin typeface="+mn-lt"/>
                      </a:endParaRPr>
                    </a:p>
                  </a:txBody>
                  <a:tcPr marL="28865" marR="28865" marT="19243" marB="19243" anchor="ctr"/>
                </a:tc>
                <a:tc>
                  <a:txBody>
                    <a:bodyPr/>
                    <a:lstStyle/>
                    <a:p>
                      <a:pPr rtl="0">
                        <a:buNone/>
                      </a:pPr>
                      <a:r>
                        <a:rPr lang="en-US" sz="1000" dirty="0">
                          <a:solidFill>
                            <a:srgbClr val="1F1F1F"/>
                          </a:solidFill>
                          <a:effectLst/>
                        </a:rPr>
                        <a:t>1,903 (48.03)</a:t>
                      </a:r>
                      <a:endParaRPr lang="en-US" sz="1000" dirty="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1,497 (47.87)</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1,290 (48.99)</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4,690 (48.24)</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4062842085"/>
                  </a:ext>
                </a:extLst>
              </a:tr>
              <a:tr h="130839">
                <a:tc>
                  <a:txBody>
                    <a:bodyPr/>
                    <a:lstStyle/>
                    <a:p>
                      <a:pPr rtl="0">
                        <a:buNone/>
                      </a:pPr>
                      <a:r>
                        <a:rPr lang="en-US" sz="1000">
                          <a:solidFill>
                            <a:srgbClr val="1F1F1F"/>
                          </a:solidFill>
                          <a:effectLst/>
                        </a:rPr>
                        <a:t>    Male</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2,059 (51.97)</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1,630 (52.13)</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1,343 (51.01)</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5,032 (51.76)</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630731800"/>
                  </a:ext>
                </a:extLst>
              </a:tr>
              <a:tr h="201971">
                <a:tc>
                  <a:txBody>
                    <a:bodyPr/>
                    <a:lstStyle/>
                    <a:p>
                      <a:pPr rtl="0">
                        <a:buNone/>
                      </a:pPr>
                      <a:r>
                        <a:rPr lang="en-US" sz="1000" b="1">
                          <a:solidFill>
                            <a:srgbClr val="1F1F1F"/>
                          </a:solidFill>
                          <a:effectLst/>
                        </a:rPr>
                        <a:t>Race &amp; Ethnicity</a:t>
                      </a: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2808057324"/>
                  </a:ext>
                </a:extLst>
              </a:tr>
              <a:tr h="130839">
                <a:tc>
                  <a:txBody>
                    <a:bodyPr/>
                    <a:lstStyle/>
                    <a:p>
                      <a:pPr rtl="0">
                        <a:buNone/>
                      </a:pPr>
                      <a:r>
                        <a:rPr lang="en-US" sz="1000">
                          <a:solidFill>
                            <a:srgbClr val="1F1F1F"/>
                          </a:solidFill>
                          <a:effectLst/>
                        </a:rPr>
                        <a:t>    Hispanic</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1,404 (35.44)</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946 (30.25)</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776 (29.47)</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3,126 (32.15)</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2888750990"/>
                  </a:ext>
                </a:extLst>
              </a:tr>
              <a:tr h="130839">
                <a:tc>
                  <a:txBody>
                    <a:bodyPr/>
                    <a:lstStyle/>
                    <a:p>
                      <a:pPr rtl="0">
                        <a:buNone/>
                      </a:pPr>
                      <a:r>
                        <a:rPr lang="en-US" sz="1000">
                          <a:solidFill>
                            <a:srgbClr val="1F1F1F"/>
                          </a:solidFill>
                          <a:effectLst/>
                        </a:rPr>
                        <a:t>    NH White</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1,537 (38.79)</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1,301 (41.61)</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1,126 (42.76)</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3,964 (40.77)</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3437081672"/>
                  </a:ext>
                </a:extLst>
              </a:tr>
              <a:tr h="130839">
                <a:tc>
                  <a:txBody>
                    <a:bodyPr/>
                    <a:lstStyle/>
                    <a:p>
                      <a:pPr rtl="0">
                        <a:buNone/>
                      </a:pPr>
                      <a:r>
                        <a:rPr lang="en-US" sz="1000">
                          <a:solidFill>
                            <a:srgbClr val="1F1F1F"/>
                          </a:solidFill>
                          <a:effectLst/>
                        </a:rPr>
                        <a:t>    NH Black</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594 (14.99)</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498 (15.93)</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396 (15.04)</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1,488 (15.31)</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2815917410"/>
                  </a:ext>
                </a:extLst>
              </a:tr>
              <a:tr h="130839">
                <a:tc>
                  <a:txBody>
                    <a:bodyPr/>
                    <a:lstStyle/>
                    <a:p>
                      <a:pPr rtl="0">
                        <a:buNone/>
                      </a:pPr>
                      <a:r>
                        <a:rPr lang="en-US" sz="1000">
                          <a:solidFill>
                            <a:srgbClr val="1F1F1F"/>
                          </a:solidFill>
                          <a:effectLst/>
                        </a:rPr>
                        <a:t>    NH Asian</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177 (4.47)</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155 (4.96)</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164 (6.23)</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496 (5.10)</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2547871680"/>
                  </a:ext>
                </a:extLst>
              </a:tr>
              <a:tr h="201971">
                <a:tc>
                  <a:txBody>
                    <a:bodyPr/>
                    <a:lstStyle/>
                    <a:p>
                      <a:pPr rtl="0">
                        <a:buNone/>
                      </a:pPr>
                      <a:r>
                        <a:rPr lang="en-US" sz="1000">
                          <a:solidFill>
                            <a:srgbClr val="1F1F1F"/>
                          </a:solidFill>
                          <a:effectLst/>
                        </a:rPr>
                        <a:t>    Other/Multiple</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250 (6.31)</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227 (7.26)</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171 (6.49)</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648 (6.67)</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1260237073"/>
                  </a:ext>
                </a:extLst>
              </a:tr>
              <a:tr h="201971">
                <a:tc>
                  <a:txBody>
                    <a:bodyPr/>
                    <a:lstStyle/>
                    <a:p>
                      <a:pPr rtl="0">
                        <a:buNone/>
                      </a:pPr>
                      <a:r>
                        <a:rPr lang="en-US" sz="1000" b="1">
                          <a:solidFill>
                            <a:srgbClr val="1F1F1F"/>
                          </a:solidFill>
                          <a:effectLst/>
                        </a:rPr>
                        <a:t>Insurance Coverage</a:t>
                      </a: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3977776331"/>
                  </a:ext>
                </a:extLst>
              </a:tr>
              <a:tr h="130839">
                <a:tc>
                  <a:txBody>
                    <a:bodyPr/>
                    <a:lstStyle/>
                    <a:p>
                      <a:pPr rtl="0">
                        <a:buNone/>
                      </a:pPr>
                      <a:r>
                        <a:rPr lang="en-US" sz="1000">
                          <a:solidFill>
                            <a:srgbClr val="1F1F1F"/>
                          </a:solidFill>
                          <a:effectLst/>
                        </a:rPr>
                        <a:t>    Private</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1,912 (48.26)</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1,619 (51.77)</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1,410 (53.55)</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4,941 (50.82)</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4116612068"/>
                  </a:ext>
                </a:extLst>
              </a:tr>
              <a:tr h="130839">
                <a:tc>
                  <a:txBody>
                    <a:bodyPr/>
                    <a:lstStyle/>
                    <a:p>
                      <a:pPr rtl="0">
                        <a:buNone/>
                      </a:pPr>
                      <a:r>
                        <a:rPr lang="en-US" sz="1000">
                          <a:solidFill>
                            <a:srgbClr val="1F1F1F"/>
                          </a:solidFill>
                          <a:effectLst/>
                        </a:rPr>
                        <a:t>    Public Only</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1,919 (48.44)</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1,408 (45.03)</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1,144 (43.45)</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4,471 (45.99)</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633327510"/>
                  </a:ext>
                </a:extLst>
              </a:tr>
              <a:tr h="130839">
                <a:tc>
                  <a:txBody>
                    <a:bodyPr/>
                    <a:lstStyle/>
                    <a:p>
                      <a:pPr rtl="0">
                        <a:buNone/>
                      </a:pPr>
                      <a:r>
                        <a:rPr lang="en-US" sz="1000">
                          <a:solidFill>
                            <a:srgbClr val="1F1F1F"/>
                          </a:solidFill>
                          <a:effectLst/>
                        </a:rPr>
                        <a:t>    Uninsured</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131 (3.31)</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100 (3.20)</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79 (3.00)</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310 (3.19)</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3077442123"/>
                  </a:ext>
                </a:extLst>
              </a:tr>
              <a:tr h="201971">
                <a:tc>
                  <a:txBody>
                    <a:bodyPr/>
                    <a:lstStyle/>
                    <a:p>
                      <a:pPr rtl="0">
                        <a:buNone/>
                      </a:pPr>
                      <a:r>
                        <a:rPr lang="en-US" sz="1000" b="1">
                          <a:solidFill>
                            <a:srgbClr val="1F1F1F"/>
                          </a:solidFill>
                          <a:effectLst/>
                        </a:rPr>
                        <a:t>Family Income (FPL)</a:t>
                      </a: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1572214635"/>
                  </a:ext>
                </a:extLst>
              </a:tr>
              <a:tr h="201971">
                <a:tc>
                  <a:txBody>
                    <a:bodyPr/>
                    <a:lstStyle/>
                    <a:p>
                      <a:pPr rtl="0">
                        <a:buNone/>
                      </a:pPr>
                      <a:r>
                        <a:rPr lang="en-US" sz="1000">
                          <a:solidFill>
                            <a:srgbClr val="1F1F1F"/>
                          </a:solidFill>
                          <a:effectLst/>
                        </a:rPr>
                        <a:t>    &lt;100% (Poor)</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929 (23.45)</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682 (21.81)</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509 (19.33)</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2,120 (21.81)</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399259234"/>
                  </a:ext>
                </a:extLst>
              </a:tr>
              <a:tr h="201971">
                <a:tc>
                  <a:txBody>
                    <a:bodyPr/>
                    <a:lstStyle/>
                    <a:p>
                      <a:pPr rtl="0">
                        <a:buNone/>
                      </a:pPr>
                      <a:r>
                        <a:rPr lang="en-US" sz="1000">
                          <a:solidFill>
                            <a:srgbClr val="1F1F1F"/>
                          </a:solidFill>
                          <a:effectLst/>
                        </a:rPr>
                        <a:t>    100–199% (Low Income)</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915 (23.09)</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679 (21.71)</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598 (22.71)</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2,192 (22.55)</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2006920505"/>
                  </a:ext>
                </a:extLst>
              </a:tr>
              <a:tr h="201971">
                <a:tc>
                  <a:txBody>
                    <a:bodyPr/>
                    <a:lstStyle/>
                    <a:p>
                      <a:pPr rtl="0">
                        <a:buNone/>
                      </a:pPr>
                      <a:r>
                        <a:rPr lang="en-US" sz="1000">
                          <a:solidFill>
                            <a:srgbClr val="1F1F1F"/>
                          </a:solidFill>
                          <a:effectLst/>
                        </a:rPr>
                        <a:t>    200–399% (Middle)</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1,079 (27.23)</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902 (28.85)</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736 (27.95)</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2,717 (27.95)</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2789099402"/>
                  </a:ext>
                </a:extLst>
              </a:tr>
              <a:tr h="201971">
                <a:tc>
                  <a:txBody>
                    <a:bodyPr/>
                    <a:lstStyle/>
                    <a:p>
                      <a:pPr rtl="0">
                        <a:buNone/>
                      </a:pPr>
                      <a:r>
                        <a:rPr lang="en-US" sz="1000">
                          <a:solidFill>
                            <a:srgbClr val="1F1F1F"/>
                          </a:solidFill>
                          <a:effectLst/>
                        </a:rPr>
                        <a:t>    ≥400% (High)</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1,039 (26.22)</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864 (27.63)</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790 (30.00)</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2,693 (27.70)</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3779443369"/>
                  </a:ext>
                </a:extLst>
              </a:tr>
              <a:tr h="201971">
                <a:tc>
                  <a:txBody>
                    <a:bodyPr/>
                    <a:lstStyle/>
                    <a:p>
                      <a:pPr rtl="0">
                        <a:buNone/>
                      </a:pPr>
                      <a:r>
                        <a:rPr lang="en-US" sz="1000" b="1">
                          <a:solidFill>
                            <a:srgbClr val="1F1F1F"/>
                          </a:solidFill>
                          <a:effectLst/>
                        </a:rPr>
                        <a:t>Health Need &amp; Access</a:t>
                      </a: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a:solidFill>
                          <a:srgbClr val="1F1F1F"/>
                        </a:solidFill>
                        <a:effectLst/>
                        <a:latin typeface="+mn-lt"/>
                      </a:endParaRPr>
                    </a:p>
                  </a:txBody>
                  <a:tcPr marL="28865" marR="28865" marT="19243" marB="19243" anchor="ctr"/>
                </a:tc>
                <a:tc>
                  <a:txBody>
                    <a:bodyPr/>
                    <a:lstStyle/>
                    <a:p>
                      <a:pPr rtl="0">
                        <a:buNone/>
                      </a:pPr>
                      <a:endParaRPr lang="en-US" sz="1000" dirty="0">
                        <a:solidFill>
                          <a:srgbClr val="1F1F1F"/>
                        </a:solidFill>
                        <a:effectLst/>
                        <a:latin typeface="+mn-lt"/>
                      </a:endParaRPr>
                    </a:p>
                  </a:txBody>
                  <a:tcPr marL="28865" marR="28865" marT="19243" marB="19243" anchor="ctr"/>
                </a:tc>
                <a:extLst>
                  <a:ext uri="{0D108BD9-81ED-4DB2-BD59-A6C34878D82A}">
                    <a16:rowId xmlns:a16="http://schemas.microsoft.com/office/drawing/2014/main" val="4033549520"/>
                  </a:ext>
                </a:extLst>
              </a:tr>
              <a:tr h="130839">
                <a:tc>
                  <a:txBody>
                    <a:bodyPr/>
                    <a:lstStyle/>
                    <a:p>
                      <a:pPr rtl="0">
                        <a:buNone/>
                      </a:pPr>
                      <a:r>
                        <a:rPr lang="en-US" sz="1000">
                          <a:solidFill>
                            <a:srgbClr val="1F1F1F"/>
                          </a:solidFill>
                          <a:effectLst/>
                        </a:rPr>
                        <a:t>    CSHCN (Yes)</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695 (17.54)</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588 (18.80)</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556 (21.12)</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1,839 (18.92)</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1482220265"/>
                  </a:ext>
                </a:extLst>
              </a:tr>
              <a:tr h="201971">
                <a:tc>
                  <a:txBody>
                    <a:bodyPr/>
                    <a:lstStyle/>
                    <a:p>
                      <a:pPr rtl="0">
                        <a:buNone/>
                      </a:pPr>
                      <a:r>
                        <a:rPr lang="en-US" sz="1000">
                          <a:solidFill>
                            <a:srgbClr val="1F1F1F"/>
                          </a:solidFill>
                          <a:effectLst/>
                        </a:rPr>
                        <a:t>    Fair/Poor Physical Health</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109 (2.75)</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67 (2.14)</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66 (2.51)</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242 (2.49)</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1192979921"/>
                  </a:ext>
                </a:extLst>
              </a:tr>
              <a:tr h="201971">
                <a:tc>
                  <a:txBody>
                    <a:bodyPr/>
                    <a:lstStyle/>
                    <a:p>
                      <a:pPr rtl="0">
                        <a:buNone/>
                      </a:pPr>
                      <a:r>
                        <a:rPr lang="en-US" sz="1000">
                          <a:solidFill>
                            <a:srgbClr val="1F1F1F"/>
                          </a:solidFill>
                          <a:effectLst/>
                        </a:rPr>
                        <a:t>    Fair/Poor Mental Health</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186 (4.69)</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126 (4.03)</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138 (5.24)</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450 (4.63)</a:t>
                      </a:r>
                      <a:endParaRPr lang="en-US" sz="1000">
                        <a:solidFill>
                          <a:srgbClr val="1F1F1F"/>
                        </a:solidFill>
                        <a:effectLst/>
                        <a:latin typeface="+mn-lt"/>
                      </a:endParaRPr>
                    </a:p>
                  </a:txBody>
                  <a:tcPr marL="28865" marR="28865" marT="19243" marB="19243" anchor="ctr"/>
                </a:tc>
                <a:extLst>
                  <a:ext uri="{0D108BD9-81ED-4DB2-BD59-A6C34878D82A}">
                    <a16:rowId xmlns:a16="http://schemas.microsoft.com/office/drawing/2014/main" val="4260396594"/>
                  </a:ext>
                </a:extLst>
              </a:tr>
              <a:tr h="201971">
                <a:tc>
                  <a:txBody>
                    <a:bodyPr/>
                    <a:lstStyle/>
                    <a:p>
                      <a:pPr rtl="0">
                        <a:buNone/>
                      </a:pPr>
                      <a:r>
                        <a:rPr lang="en-US" sz="1000">
                          <a:solidFill>
                            <a:srgbClr val="1F1F1F"/>
                          </a:solidFill>
                          <a:effectLst/>
                        </a:rPr>
                        <a:t>    Language Barrier (Yes)</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726 (18.32)</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512 (16.37)</a:t>
                      </a:r>
                      <a:endParaRPr lang="en-US" sz="1000">
                        <a:solidFill>
                          <a:srgbClr val="1F1F1F"/>
                        </a:solidFill>
                        <a:effectLst/>
                        <a:latin typeface="+mn-lt"/>
                      </a:endParaRPr>
                    </a:p>
                  </a:txBody>
                  <a:tcPr marL="28865" marR="28865" marT="19243" marB="19243" anchor="ctr"/>
                </a:tc>
                <a:tc>
                  <a:txBody>
                    <a:bodyPr/>
                    <a:lstStyle/>
                    <a:p>
                      <a:pPr rtl="0">
                        <a:buNone/>
                      </a:pPr>
                      <a:r>
                        <a:rPr lang="en-US" sz="1000">
                          <a:solidFill>
                            <a:srgbClr val="1F1F1F"/>
                          </a:solidFill>
                          <a:effectLst/>
                        </a:rPr>
                        <a:t>346 (13.14)</a:t>
                      </a:r>
                      <a:endParaRPr lang="en-US" sz="1000">
                        <a:solidFill>
                          <a:srgbClr val="1F1F1F"/>
                        </a:solidFill>
                        <a:effectLst/>
                        <a:latin typeface="+mn-lt"/>
                      </a:endParaRPr>
                    </a:p>
                  </a:txBody>
                  <a:tcPr marL="28865" marR="28865" marT="19243" marB="19243" anchor="ctr"/>
                </a:tc>
                <a:tc>
                  <a:txBody>
                    <a:bodyPr/>
                    <a:lstStyle/>
                    <a:p>
                      <a:pPr rtl="0">
                        <a:buNone/>
                      </a:pPr>
                      <a:r>
                        <a:rPr lang="en-US" sz="1000" dirty="0">
                          <a:solidFill>
                            <a:srgbClr val="1F1F1F"/>
                          </a:solidFill>
                          <a:effectLst/>
                        </a:rPr>
                        <a:t>1,584 (16.29)</a:t>
                      </a:r>
                      <a:endParaRPr lang="en-US" sz="1000" dirty="0">
                        <a:solidFill>
                          <a:srgbClr val="1F1F1F"/>
                        </a:solidFill>
                        <a:effectLst/>
                        <a:latin typeface="+mn-lt"/>
                      </a:endParaRPr>
                    </a:p>
                  </a:txBody>
                  <a:tcPr marL="28865" marR="28865" marT="19243" marB="19243" anchor="ctr"/>
                </a:tc>
                <a:extLst>
                  <a:ext uri="{0D108BD9-81ED-4DB2-BD59-A6C34878D82A}">
                    <a16:rowId xmlns:a16="http://schemas.microsoft.com/office/drawing/2014/main" val="139255596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9E965-133C-0DFA-DFE2-38F97A2C3F1F}"/>
              </a:ext>
            </a:extLst>
          </p:cNvPr>
          <p:cNvSpPr>
            <a:spLocks noGrp="1"/>
          </p:cNvSpPr>
          <p:nvPr>
            <p:ph type="title"/>
          </p:nvPr>
        </p:nvSpPr>
        <p:spPr/>
        <p:txBody>
          <a:bodyPr/>
          <a:lstStyle/>
          <a:p>
            <a:r>
              <a:rPr lang="en-US" dirty="0"/>
              <a:t>Descriptive Statistics: Table 1</a:t>
            </a:r>
          </a:p>
        </p:txBody>
      </p:sp>
      <p:sp>
        <p:nvSpPr>
          <p:cNvPr id="3" name="Content Placeholder 2">
            <a:extLst>
              <a:ext uri="{FF2B5EF4-FFF2-40B4-BE49-F238E27FC236}">
                <a16:creationId xmlns:a16="http://schemas.microsoft.com/office/drawing/2014/main" id="{368591CE-B97B-E47B-799A-DC7B053AF8A2}"/>
              </a:ext>
            </a:extLst>
          </p:cNvPr>
          <p:cNvSpPr>
            <a:spLocks noGrp="1"/>
          </p:cNvSpPr>
          <p:nvPr>
            <p:ph idx="1"/>
          </p:nvPr>
        </p:nvSpPr>
        <p:spPr/>
        <p:txBody>
          <a:bodyPr>
            <a:normAutofit fontScale="55000" lnSpcReduction="20000"/>
          </a:bodyPr>
          <a:lstStyle/>
          <a:p>
            <a:r>
              <a:rPr lang="en-US" b="1" dirty="0"/>
              <a:t>Sample Composition: </a:t>
            </a:r>
            <a:r>
              <a:rPr lang="en-US" dirty="0"/>
              <a:t>The analytic sample includes 9,722 children ages 6–17. Over the study period, the proportion of Hispanic children decreased (35.4% in 2021 vs. 29.5% in 2023), while the proportion of Non-Hispanic Asian children increased (4.5% in 2021 vs. 6.2% in 2023).</a:t>
            </a:r>
          </a:p>
          <a:p>
            <a:endParaRPr lang="en-US" dirty="0"/>
          </a:p>
          <a:p>
            <a:r>
              <a:rPr lang="en-US" b="1" dirty="0"/>
              <a:t>Socioeconomic Trends: </a:t>
            </a:r>
            <a:r>
              <a:rPr lang="en-US" dirty="0"/>
              <a:t>The unweighted sample shows a shift toward higher socioeconomic status over time. The proportion of children in high-income families (&gt;400% FPL) grew (26.2% in 2021 vs. 30.0% in 2023), and private insurance coverage also increased (48.3% in 2021 vs. 53.6% in 2023).</a:t>
            </a:r>
          </a:p>
          <a:p>
            <a:endParaRPr lang="en-US" b="1" dirty="0"/>
          </a:p>
          <a:p>
            <a:r>
              <a:rPr lang="en-US" b="1" dirty="0"/>
              <a:t>Health Needs: </a:t>
            </a:r>
            <a:r>
              <a:rPr lang="en-US" dirty="0"/>
              <a:t>The prevalence of children identified with Special Health Care Needs (CSHCN) showed a steady increase during the post-pandemic period (17.5% in 2021 vs. 21.1% in 2023).</a:t>
            </a:r>
          </a:p>
          <a:p>
            <a:endParaRPr lang="en-US" dirty="0"/>
          </a:p>
          <a:p>
            <a:r>
              <a:rPr lang="en-US" b="1" dirty="0"/>
              <a:t>Access Barriers: </a:t>
            </a:r>
            <a:r>
              <a:rPr lang="en-US" dirty="0"/>
              <a:t>The proportion of interviews conducted in a language other than English—a proxy for potential language barriers—decreased over the three years (18.3% in 2021 vs. 13.1% in 2023).</a:t>
            </a:r>
          </a:p>
        </p:txBody>
      </p:sp>
    </p:spTree>
    <p:extLst>
      <p:ext uri="{BB962C8B-B14F-4D97-AF65-F5344CB8AC3E}">
        <p14:creationId xmlns:p14="http://schemas.microsoft.com/office/powerpoint/2010/main" val="1570970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EBE1C-198C-BCEB-07AE-A7ADFCDAA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A1CA4-E585-95A2-8B58-589EA7585DD6}"/>
              </a:ext>
            </a:extLst>
          </p:cNvPr>
          <p:cNvSpPr>
            <a:spLocks noGrp="1"/>
          </p:cNvSpPr>
          <p:nvPr>
            <p:ph type="title"/>
          </p:nvPr>
        </p:nvSpPr>
        <p:spPr/>
        <p:txBody>
          <a:bodyPr>
            <a:normAutofit/>
          </a:bodyPr>
          <a:lstStyle/>
          <a:p>
            <a:r>
              <a:rPr lang="en-US" dirty="0"/>
              <a:t>Descriptive Statistics: Trends</a:t>
            </a:r>
          </a:p>
        </p:txBody>
      </p:sp>
      <p:sp>
        <p:nvSpPr>
          <p:cNvPr id="5" name="Content Placeholder 4">
            <a:extLst>
              <a:ext uri="{FF2B5EF4-FFF2-40B4-BE49-F238E27FC236}">
                <a16:creationId xmlns:a16="http://schemas.microsoft.com/office/drawing/2014/main" id="{C5987C25-576B-70C0-E506-F17103C681BB}"/>
              </a:ext>
            </a:extLst>
          </p:cNvPr>
          <p:cNvSpPr>
            <a:spLocks noGrp="1"/>
          </p:cNvSpPr>
          <p:nvPr>
            <p:ph idx="1"/>
          </p:nvPr>
        </p:nvSpPr>
        <p:spPr>
          <a:xfrm>
            <a:off x="457200" y="5492634"/>
            <a:ext cx="8229600" cy="799783"/>
          </a:xfrm>
        </p:spPr>
        <p:txBody>
          <a:bodyPr>
            <a:normAutofit fontScale="85000" lnSpcReduction="20000"/>
          </a:bodyPr>
          <a:lstStyle/>
          <a:p>
            <a:pPr marL="0" indent="0">
              <a:buNone/>
            </a:pPr>
            <a:r>
              <a:rPr lang="en-US" i="1" dirty="0"/>
              <a:t>"Weighted telehealth use declined from 7.9% in 2021 to 6.1% in 2022 and stabilized in 2023."</a:t>
            </a:r>
          </a:p>
          <a:p>
            <a:pPr marL="0" indent="0">
              <a:buNone/>
            </a:pPr>
            <a:endParaRPr lang="en-US" dirty="0"/>
          </a:p>
        </p:txBody>
      </p:sp>
      <p:pic>
        <p:nvPicPr>
          <p:cNvPr id="7" name="Picture 6">
            <a:extLst>
              <a:ext uri="{FF2B5EF4-FFF2-40B4-BE49-F238E27FC236}">
                <a16:creationId xmlns:a16="http://schemas.microsoft.com/office/drawing/2014/main" id="{D11DC4D7-0C62-F03E-E272-9812E6808E5C}"/>
              </a:ext>
            </a:extLst>
          </p:cNvPr>
          <p:cNvPicPr>
            <a:picLocks noChangeAspect="1"/>
          </p:cNvPicPr>
          <p:nvPr/>
        </p:nvPicPr>
        <p:blipFill>
          <a:blip r:embed="rId3"/>
          <a:stretch>
            <a:fillRect/>
          </a:stretch>
        </p:blipFill>
        <p:spPr>
          <a:xfrm>
            <a:off x="457199" y="1263073"/>
            <a:ext cx="7985795" cy="3946236"/>
          </a:xfrm>
          <a:prstGeom prst="rect">
            <a:avLst/>
          </a:prstGeom>
        </p:spPr>
      </p:pic>
      <p:sp>
        <p:nvSpPr>
          <p:cNvPr id="3" name="TextBox 2">
            <a:extLst>
              <a:ext uri="{FF2B5EF4-FFF2-40B4-BE49-F238E27FC236}">
                <a16:creationId xmlns:a16="http://schemas.microsoft.com/office/drawing/2014/main" id="{145DDAD8-4E2F-A00C-5312-05D1FAB93BCE}"/>
              </a:ext>
            </a:extLst>
          </p:cNvPr>
          <p:cNvSpPr txBox="1"/>
          <p:nvPr/>
        </p:nvSpPr>
        <p:spPr>
          <a:xfrm>
            <a:off x="6498616" y="4895193"/>
            <a:ext cx="1944378" cy="369332"/>
          </a:xfrm>
          <a:prstGeom prst="rect">
            <a:avLst/>
          </a:prstGeom>
          <a:noFill/>
        </p:spPr>
        <p:txBody>
          <a:bodyPr wrap="none" rtlCol="0">
            <a:spAutoFit/>
          </a:bodyPr>
          <a:lstStyle/>
          <a:p>
            <a:r>
              <a:rPr lang="en-US" dirty="0"/>
              <a:t>Time (in years) ---&gt;</a:t>
            </a:r>
          </a:p>
        </p:txBody>
      </p:sp>
    </p:spTree>
    <p:extLst>
      <p:ext uri="{BB962C8B-B14F-4D97-AF65-F5344CB8AC3E}">
        <p14:creationId xmlns:p14="http://schemas.microsoft.com/office/powerpoint/2010/main" val="407817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F923-01F6-176D-ADBC-5E3F09BB02C1}"/>
              </a:ext>
            </a:extLst>
          </p:cNvPr>
          <p:cNvSpPr>
            <a:spLocks noGrp="1"/>
          </p:cNvSpPr>
          <p:nvPr>
            <p:ph type="title"/>
          </p:nvPr>
        </p:nvSpPr>
        <p:spPr/>
        <p:txBody>
          <a:bodyPr>
            <a:normAutofit fontScale="90000"/>
          </a:bodyPr>
          <a:lstStyle/>
          <a:p>
            <a:r>
              <a:rPr lang="en-US" b="1" dirty="0"/>
              <a:t>Panel C: Disparities in Healthcare Utilization (Weighted Means)</a:t>
            </a:r>
            <a:endParaRPr lang="en-US" dirty="0"/>
          </a:p>
        </p:txBody>
      </p:sp>
      <p:graphicFrame>
        <p:nvGraphicFramePr>
          <p:cNvPr id="4" name="Content Placeholder 3">
            <a:extLst>
              <a:ext uri="{FF2B5EF4-FFF2-40B4-BE49-F238E27FC236}">
                <a16:creationId xmlns:a16="http://schemas.microsoft.com/office/drawing/2014/main" id="{02B58533-EFBA-1292-14F8-6C988EA4EBF7}"/>
              </a:ext>
            </a:extLst>
          </p:cNvPr>
          <p:cNvGraphicFramePr>
            <a:graphicFrameLocks noGrp="1"/>
          </p:cNvGraphicFramePr>
          <p:nvPr>
            <p:ph idx="1"/>
            <p:extLst>
              <p:ext uri="{D42A27DB-BD31-4B8C-83A1-F6EECF244321}">
                <p14:modId xmlns:p14="http://schemas.microsoft.com/office/powerpoint/2010/main" val="1288960419"/>
              </p:ext>
            </p:extLst>
          </p:nvPr>
        </p:nvGraphicFramePr>
        <p:xfrm>
          <a:off x="457200" y="1475513"/>
          <a:ext cx="8229600" cy="5285146"/>
        </p:xfrm>
        <a:graphic>
          <a:graphicData uri="http://schemas.openxmlformats.org/drawingml/2006/table">
            <a:tbl>
              <a:tblPr>
                <a:tableStyleId>{616DA210-FB5B-4158-B5E0-FEB733F419BA}</a:tableStyleId>
              </a:tblPr>
              <a:tblGrid>
                <a:gridCol w="2057400">
                  <a:extLst>
                    <a:ext uri="{9D8B030D-6E8A-4147-A177-3AD203B41FA5}">
                      <a16:colId xmlns:a16="http://schemas.microsoft.com/office/drawing/2014/main" val="4174327971"/>
                    </a:ext>
                  </a:extLst>
                </a:gridCol>
                <a:gridCol w="2057400">
                  <a:extLst>
                    <a:ext uri="{9D8B030D-6E8A-4147-A177-3AD203B41FA5}">
                      <a16:colId xmlns:a16="http://schemas.microsoft.com/office/drawing/2014/main" val="1705269009"/>
                    </a:ext>
                  </a:extLst>
                </a:gridCol>
                <a:gridCol w="2057400">
                  <a:extLst>
                    <a:ext uri="{9D8B030D-6E8A-4147-A177-3AD203B41FA5}">
                      <a16:colId xmlns:a16="http://schemas.microsoft.com/office/drawing/2014/main" val="718062133"/>
                    </a:ext>
                  </a:extLst>
                </a:gridCol>
                <a:gridCol w="2057400">
                  <a:extLst>
                    <a:ext uri="{9D8B030D-6E8A-4147-A177-3AD203B41FA5}">
                      <a16:colId xmlns:a16="http://schemas.microsoft.com/office/drawing/2014/main" val="3373696145"/>
                    </a:ext>
                  </a:extLst>
                </a:gridCol>
              </a:tblGrid>
              <a:tr h="247262">
                <a:tc>
                  <a:txBody>
                    <a:bodyPr/>
                    <a:lstStyle/>
                    <a:p>
                      <a:pPr rtl="0">
                        <a:buNone/>
                      </a:pPr>
                      <a:r>
                        <a:rPr lang="en-US" sz="1050" b="1">
                          <a:solidFill>
                            <a:srgbClr val="1F1F1F"/>
                          </a:solidFill>
                          <a:effectLst/>
                        </a:rPr>
                        <a:t>Group</a:t>
                      </a:r>
                      <a:endParaRPr lang="en-US" sz="1050">
                        <a:solidFill>
                          <a:srgbClr val="1F1F1F"/>
                        </a:solidFill>
                        <a:effectLst/>
                        <a:latin typeface="+mn-lt"/>
                      </a:endParaRPr>
                    </a:p>
                  </a:txBody>
                  <a:tcPr marL="40314" marR="40314" marT="26876" marB="26876" anchor="ctr"/>
                </a:tc>
                <a:tc>
                  <a:txBody>
                    <a:bodyPr/>
                    <a:lstStyle/>
                    <a:p>
                      <a:pPr rtl="0">
                        <a:buNone/>
                      </a:pPr>
                      <a:r>
                        <a:rPr lang="en-US" sz="1050" b="1">
                          <a:solidFill>
                            <a:srgbClr val="1F1F1F"/>
                          </a:solidFill>
                          <a:effectLst/>
                        </a:rPr>
                        <a:t>Any Telehealth Use</a:t>
                      </a:r>
                      <a:endParaRPr lang="en-US" sz="1050">
                        <a:solidFill>
                          <a:srgbClr val="1F1F1F"/>
                        </a:solidFill>
                        <a:effectLst/>
                        <a:latin typeface="+mn-lt"/>
                      </a:endParaRPr>
                    </a:p>
                  </a:txBody>
                  <a:tcPr marL="40314" marR="40314" marT="26876" marB="26876" anchor="ctr"/>
                </a:tc>
                <a:tc>
                  <a:txBody>
                    <a:bodyPr/>
                    <a:lstStyle/>
                    <a:p>
                      <a:pPr rtl="0">
                        <a:buNone/>
                      </a:pPr>
                      <a:r>
                        <a:rPr lang="en-US" sz="1050" b="1">
                          <a:solidFill>
                            <a:srgbClr val="1F1F1F"/>
                          </a:solidFill>
                          <a:effectLst/>
                        </a:rPr>
                        <a:t>Mean Telehealth Visits</a:t>
                      </a:r>
                      <a:endParaRPr lang="en-US" sz="1050">
                        <a:solidFill>
                          <a:srgbClr val="1F1F1F"/>
                        </a:solidFill>
                        <a:effectLst/>
                        <a:latin typeface="+mn-lt"/>
                      </a:endParaRPr>
                    </a:p>
                  </a:txBody>
                  <a:tcPr marL="40314" marR="40314" marT="26876" marB="26876" anchor="ctr"/>
                </a:tc>
                <a:tc>
                  <a:txBody>
                    <a:bodyPr/>
                    <a:lstStyle/>
                    <a:p>
                      <a:pPr rtl="0">
                        <a:buNone/>
                      </a:pPr>
                      <a:r>
                        <a:rPr lang="en-US" sz="1050" b="1">
                          <a:solidFill>
                            <a:srgbClr val="1F1F1F"/>
                          </a:solidFill>
                          <a:effectLst/>
                        </a:rPr>
                        <a:t>Mean In-Person Visits</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1158889362"/>
                  </a:ext>
                </a:extLst>
              </a:tr>
              <a:tr h="150507">
                <a:tc>
                  <a:txBody>
                    <a:bodyPr/>
                    <a:lstStyle/>
                    <a:p>
                      <a:pPr rtl="0">
                        <a:buNone/>
                      </a:pPr>
                      <a:r>
                        <a:rPr lang="en-US" sz="1050" b="1">
                          <a:solidFill>
                            <a:srgbClr val="1F1F1F"/>
                          </a:solidFill>
                          <a:effectLst/>
                        </a:rPr>
                        <a:t>Poverty Status</a:t>
                      </a: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3171789553"/>
                  </a:ext>
                </a:extLst>
              </a:tr>
              <a:tr h="247262">
                <a:tc>
                  <a:txBody>
                    <a:bodyPr/>
                    <a:lstStyle/>
                    <a:p>
                      <a:pPr rtl="0">
                        <a:buNone/>
                      </a:pPr>
                      <a:r>
                        <a:rPr lang="en-US" sz="1050">
                          <a:solidFill>
                            <a:srgbClr val="1F1F1F"/>
                          </a:solidFill>
                          <a:effectLst/>
                        </a:rPr>
                        <a:t>    &lt;100% FPL (Poor)</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0.043</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0.23</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3.25</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3849991346"/>
                  </a:ext>
                </a:extLst>
              </a:tr>
              <a:tr h="247262">
                <a:tc>
                  <a:txBody>
                    <a:bodyPr/>
                    <a:lstStyle/>
                    <a:p>
                      <a:pPr rtl="0">
                        <a:buNone/>
                      </a:pPr>
                      <a:r>
                        <a:rPr lang="en-US" sz="1050">
                          <a:solidFill>
                            <a:srgbClr val="1F1F1F"/>
                          </a:solidFill>
                          <a:effectLst/>
                        </a:rPr>
                        <a:t>    100–199% FPL (Low)</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0.056</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0.41</a:t>
                      </a:r>
                      <a:endParaRPr lang="en-US" sz="1050">
                        <a:solidFill>
                          <a:srgbClr val="1F1F1F"/>
                        </a:solidFill>
                        <a:effectLst/>
                        <a:latin typeface="+mn-lt"/>
                      </a:endParaRPr>
                    </a:p>
                  </a:txBody>
                  <a:tcPr marL="40314" marR="40314" marT="26876" marB="26876" anchor="ctr"/>
                </a:tc>
                <a:tc>
                  <a:txBody>
                    <a:bodyPr/>
                    <a:lstStyle/>
                    <a:p>
                      <a:pPr rtl="0">
                        <a:buNone/>
                      </a:pPr>
                      <a:r>
                        <a:rPr lang="en-US" sz="1050" dirty="0">
                          <a:solidFill>
                            <a:srgbClr val="1F1F1F"/>
                          </a:solidFill>
                          <a:effectLst/>
                        </a:rPr>
                        <a:t>3.64</a:t>
                      </a:r>
                      <a:endParaRPr lang="en-US" sz="1050" dirty="0">
                        <a:solidFill>
                          <a:srgbClr val="1F1F1F"/>
                        </a:solidFill>
                        <a:effectLst/>
                        <a:latin typeface="+mn-lt"/>
                      </a:endParaRPr>
                    </a:p>
                  </a:txBody>
                  <a:tcPr marL="40314" marR="40314" marT="26876" marB="26876" anchor="ctr"/>
                </a:tc>
                <a:extLst>
                  <a:ext uri="{0D108BD9-81ED-4DB2-BD59-A6C34878D82A}">
                    <a16:rowId xmlns:a16="http://schemas.microsoft.com/office/drawing/2014/main" val="3700833180"/>
                  </a:ext>
                </a:extLst>
              </a:tr>
              <a:tr h="247262">
                <a:tc>
                  <a:txBody>
                    <a:bodyPr/>
                    <a:lstStyle/>
                    <a:p>
                      <a:pPr rtl="0">
                        <a:buNone/>
                      </a:pPr>
                      <a:r>
                        <a:rPr lang="en-US" sz="1050">
                          <a:solidFill>
                            <a:srgbClr val="1F1F1F"/>
                          </a:solidFill>
                          <a:effectLst/>
                        </a:rPr>
                        <a:t>    200–399% FPL (Middle)</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0.064</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0.52</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3.64</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3830374911"/>
                  </a:ext>
                </a:extLst>
              </a:tr>
              <a:tr h="150507">
                <a:tc>
                  <a:txBody>
                    <a:bodyPr/>
                    <a:lstStyle/>
                    <a:p>
                      <a:pPr rtl="0">
                        <a:buNone/>
                      </a:pPr>
                      <a:r>
                        <a:rPr lang="en-US" sz="1050">
                          <a:solidFill>
                            <a:srgbClr val="1F1F1F"/>
                          </a:solidFill>
                          <a:effectLst/>
                        </a:rPr>
                        <a:t>    ≥400% FPL (High)</a:t>
                      </a:r>
                      <a:endParaRPr lang="en-US" sz="1050">
                        <a:solidFill>
                          <a:srgbClr val="1F1F1F"/>
                        </a:solidFill>
                        <a:effectLst/>
                        <a:latin typeface="+mn-lt"/>
                      </a:endParaRPr>
                    </a:p>
                  </a:txBody>
                  <a:tcPr marL="40314" marR="40314" marT="26876" marB="26876" anchor="ctr"/>
                </a:tc>
                <a:tc>
                  <a:txBody>
                    <a:bodyPr/>
                    <a:lstStyle/>
                    <a:p>
                      <a:pPr rtl="0">
                        <a:buNone/>
                      </a:pPr>
                      <a:r>
                        <a:rPr lang="en-US" sz="1050" b="1">
                          <a:solidFill>
                            <a:srgbClr val="1F1F1F"/>
                          </a:solidFill>
                          <a:effectLst/>
                          <a:highlight>
                            <a:srgbClr val="FFFF00"/>
                          </a:highlight>
                        </a:rPr>
                        <a:t>0.088</a:t>
                      </a:r>
                      <a:endParaRPr lang="en-US" sz="1050">
                        <a:solidFill>
                          <a:srgbClr val="1F1F1F"/>
                        </a:solidFill>
                        <a:effectLst/>
                        <a:highlight>
                          <a:srgbClr val="FFFF00"/>
                        </a:highlight>
                        <a:latin typeface="+mn-lt"/>
                      </a:endParaRPr>
                    </a:p>
                  </a:txBody>
                  <a:tcPr marL="40314" marR="40314" marT="26876" marB="26876" anchor="ctr"/>
                </a:tc>
                <a:tc>
                  <a:txBody>
                    <a:bodyPr/>
                    <a:lstStyle/>
                    <a:p>
                      <a:pPr rtl="0">
                        <a:buNone/>
                      </a:pPr>
                      <a:r>
                        <a:rPr lang="en-US" sz="1050" b="1">
                          <a:solidFill>
                            <a:srgbClr val="1F1F1F"/>
                          </a:solidFill>
                          <a:effectLst/>
                          <a:highlight>
                            <a:srgbClr val="FFFF00"/>
                          </a:highlight>
                        </a:rPr>
                        <a:t>0.51</a:t>
                      </a:r>
                      <a:endParaRPr lang="en-US" sz="1050">
                        <a:solidFill>
                          <a:srgbClr val="1F1F1F"/>
                        </a:solidFill>
                        <a:effectLst/>
                        <a:highlight>
                          <a:srgbClr val="FFFF00"/>
                        </a:highlight>
                        <a:latin typeface="+mn-lt"/>
                      </a:endParaRPr>
                    </a:p>
                  </a:txBody>
                  <a:tcPr marL="40314" marR="40314" marT="26876" marB="26876" anchor="ctr"/>
                </a:tc>
                <a:tc>
                  <a:txBody>
                    <a:bodyPr/>
                    <a:lstStyle/>
                    <a:p>
                      <a:pPr rtl="0">
                        <a:buNone/>
                      </a:pPr>
                      <a:r>
                        <a:rPr lang="en-US" sz="1050" b="1" dirty="0">
                          <a:solidFill>
                            <a:srgbClr val="1F1F1F"/>
                          </a:solidFill>
                          <a:effectLst/>
                          <a:highlight>
                            <a:srgbClr val="FFFF00"/>
                          </a:highlight>
                        </a:rPr>
                        <a:t>5.10</a:t>
                      </a:r>
                      <a:endParaRPr lang="en-US" sz="1050" dirty="0">
                        <a:solidFill>
                          <a:srgbClr val="1F1F1F"/>
                        </a:solidFill>
                        <a:effectLst/>
                        <a:highlight>
                          <a:srgbClr val="FFFF00"/>
                        </a:highlight>
                        <a:latin typeface="+mn-lt"/>
                      </a:endParaRPr>
                    </a:p>
                  </a:txBody>
                  <a:tcPr marL="40314" marR="40314" marT="26876" marB="26876" anchor="ctr"/>
                </a:tc>
                <a:extLst>
                  <a:ext uri="{0D108BD9-81ED-4DB2-BD59-A6C34878D82A}">
                    <a16:rowId xmlns:a16="http://schemas.microsoft.com/office/drawing/2014/main" val="1993785979"/>
                  </a:ext>
                </a:extLst>
              </a:tr>
              <a:tr h="150507">
                <a:tc>
                  <a:txBody>
                    <a:bodyPr/>
                    <a:lstStyle/>
                    <a:p>
                      <a:pPr rtl="0">
                        <a:buNone/>
                      </a:pPr>
                      <a:r>
                        <a:rPr lang="en-US" sz="1050" b="1">
                          <a:solidFill>
                            <a:srgbClr val="1F1F1F"/>
                          </a:solidFill>
                          <a:effectLst/>
                        </a:rPr>
                        <a:t>Insurance Status</a:t>
                      </a: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tc>
                  <a:txBody>
                    <a:bodyPr/>
                    <a:lstStyle/>
                    <a:p>
                      <a:pPr rtl="0">
                        <a:buNone/>
                      </a:pPr>
                      <a:endParaRPr lang="en-US" sz="1050" dirty="0">
                        <a:solidFill>
                          <a:srgbClr val="1F1F1F"/>
                        </a:solidFill>
                        <a:effectLst/>
                        <a:latin typeface="+mn-lt"/>
                      </a:endParaRPr>
                    </a:p>
                  </a:txBody>
                  <a:tcPr marL="40314" marR="40314" marT="26876" marB="26876" anchor="ctr"/>
                </a:tc>
                <a:extLst>
                  <a:ext uri="{0D108BD9-81ED-4DB2-BD59-A6C34878D82A}">
                    <a16:rowId xmlns:a16="http://schemas.microsoft.com/office/drawing/2014/main" val="163626487"/>
                  </a:ext>
                </a:extLst>
              </a:tr>
              <a:tr h="150507">
                <a:tc>
                  <a:txBody>
                    <a:bodyPr/>
                    <a:lstStyle/>
                    <a:p>
                      <a:pPr rtl="0">
                        <a:buNone/>
                      </a:pPr>
                      <a:r>
                        <a:rPr lang="en-US" sz="1050">
                          <a:solidFill>
                            <a:srgbClr val="1F1F1F"/>
                          </a:solidFill>
                          <a:effectLst/>
                        </a:rPr>
                        <a:t>    Private</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0.080</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0.50</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4.59</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116132562"/>
                  </a:ext>
                </a:extLst>
              </a:tr>
              <a:tr h="150507">
                <a:tc>
                  <a:txBody>
                    <a:bodyPr/>
                    <a:lstStyle/>
                    <a:p>
                      <a:pPr rtl="0">
                        <a:buNone/>
                      </a:pPr>
                      <a:r>
                        <a:rPr lang="en-US" sz="1050" dirty="0">
                          <a:solidFill>
                            <a:srgbClr val="1F1F1F"/>
                          </a:solidFill>
                          <a:effectLst/>
                        </a:rPr>
                        <a:t>    Public Only</a:t>
                      </a:r>
                      <a:endParaRPr lang="en-US" sz="1050" dirty="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0.054</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0.40</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3.49</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764174219"/>
                  </a:ext>
                </a:extLst>
              </a:tr>
              <a:tr h="150507">
                <a:tc>
                  <a:txBody>
                    <a:bodyPr/>
                    <a:lstStyle/>
                    <a:p>
                      <a:pPr rtl="0">
                        <a:buNone/>
                      </a:pPr>
                      <a:r>
                        <a:rPr lang="en-US" sz="1050" dirty="0">
                          <a:solidFill>
                            <a:srgbClr val="1F1F1F"/>
                          </a:solidFill>
                          <a:effectLst/>
                        </a:rPr>
                        <a:t>    Uninsured</a:t>
                      </a:r>
                      <a:endParaRPr lang="en-US" sz="1050" dirty="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0.014</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0.01</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2.03</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2323917777"/>
                  </a:ext>
                </a:extLst>
              </a:tr>
              <a:tr h="150507">
                <a:tc>
                  <a:txBody>
                    <a:bodyPr/>
                    <a:lstStyle/>
                    <a:p>
                      <a:pPr rtl="0">
                        <a:buNone/>
                      </a:pPr>
                      <a:r>
                        <a:rPr lang="en-US" sz="1050" b="1">
                          <a:solidFill>
                            <a:srgbClr val="1F1F1F"/>
                          </a:solidFill>
                          <a:effectLst/>
                        </a:rPr>
                        <a:t>Race &amp; Ethnicity</a:t>
                      </a: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3730762336"/>
                  </a:ext>
                </a:extLst>
              </a:tr>
              <a:tr h="150507">
                <a:tc>
                  <a:txBody>
                    <a:bodyPr/>
                    <a:lstStyle/>
                    <a:p>
                      <a:pPr rtl="0">
                        <a:buNone/>
                      </a:pPr>
                      <a:r>
                        <a:rPr lang="en-US" sz="1050">
                          <a:solidFill>
                            <a:srgbClr val="1F1F1F"/>
                          </a:solidFill>
                          <a:effectLst/>
                        </a:rPr>
                        <a:t>    Hispanic</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0.062</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0.36</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3.61</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990386458"/>
                  </a:ext>
                </a:extLst>
              </a:tr>
              <a:tr h="247262">
                <a:tc>
                  <a:txBody>
                    <a:bodyPr/>
                    <a:lstStyle/>
                    <a:p>
                      <a:pPr rtl="0">
                        <a:buNone/>
                      </a:pPr>
                      <a:r>
                        <a:rPr lang="en-US" sz="1050">
                          <a:solidFill>
                            <a:srgbClr val="1F1F1F"/>
                          </a:solidFill>
                          <a:effectLst/>
                        </a:rPr>
                        <a:t>    Non-Hispanic White</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0.084</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0.61</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5.20</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1902482304"/>
                  </a:ext>
                </a:extLst>
              </a:tr>
              <a:tr h="247262">
                <a:tc>
                  <a:txBody>
                    <a:bodyPr/>
                    <a:lstStyle/>
                    <a:p>
                      <a:pPr rtl="0">
                        <a:buNone/>
                      </a:pPr>
                      <a:r>
                        <a:rPr lang="en-US" sz="1050">
                          <a:solidFill>
                            <a:srgbClr val="1F1F1F"/>
                          </a:solidFill>
                          <a:effectLst/>
                        </a:rPr>
                        <a:t>    Non-Hispanic Black</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0.031</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0.19</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2.08</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3208184754"/>
                  </a:ext>
                </a:extLst>
              </a:tr>
              <a:tr h="247262">
                <a:tc>
                  <a:txBody>
                    <a:bodyPr/>
                    <a:lstStyle/>
                    <a:p>
                      <a:pPr rtl="0">
                        <a:buNone/>
                      </a:pPr>
                      <a:r>
                        <a:rPr lang="en-US" sz="1050">
                          <a:solidFill>
                            <a:srgbClr val="1F1F1F"/>
                          </a:solidFill>
                          <a:effectLst/>
                        </a:rPr>
                        <a:t>    Non-Hispanic Asian</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0.040</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0.07</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2.60</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217544379"/>
                  </a:ext>
                </a:extLst>
              </a:tr>
              <a:tr h="150507">
                <a:tc>
                  <a:txBody>
                    <a:bodyPr/>
                    <a:lstStyle/>
                    <a:p>
                      <a:pPr rtl="0">
                        <a:buNone/>
                      </a:pPr>
                      <a:r>
                        <a:rPr lang="en-US" sz="1050" b="1">
                          <a:solidFill>
                            <a:srgbClr val="1F1F1F"/>
                          </a:solidFill>
                          <a:effectLst/>
                        </a:rPr>
                        <a:t>Health Need</a:t>
                      </a: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2849079116"/>
                  </a:ext>
                </a:extLst>
              </a:tr>
              <a:tr h="150507">
                <a:tc>
                  <a:txBody>
                    <a:bodyPr/>
                    <a:lstStyle/>
                    <a:p>
                      <a:pPr rtl="0">
                        <a:buNone/>
                      </a:pPr>
                      <a:r>
                        <a:rPr lang="en-US" sz="1050">
                          <a:solidFill>
                            <a:srgbClr val="1F1F1F"/>
                          </a:solidFill>
                          <a:effectLst/>
                        </a:rPr>
                        <a:t>    CSHCN: Yes</a:t>
                      </a:r>
                      <a:endParaRPr lang="en-US" sz="1050">
                        <a:solidFill>
                          <a:srgbClr val="1F1F1F"/>
                        </a:solidFill>
                        <a:effectLst/>
                        <a:latin typeface="+mn-lt"/>
                      </a:endParaRPr>
                    </a:p>
                  </a:txBody>
                  <a:tcPr marL="40314" marR="40314" marT="26876" marB="26876" anchor="ctr"/>
                </a:tc>
                <a:tc>
                  <a:txBody>
                    <a:bodyPr/>
                    <a:lstStyle/>
                    <a:p>
                      <a:pPr rtl="0">
                        <a:buNone/>
                      </a:pPr>
                      <a:r>
                        <a:rPr lang="en-US" sz="1050" b="1" dirty="0">
                          <a:solidFill>
                            <a:srgbClr val="1F1F1F"/>
                          </a:solidFill>
                          <a:effectLst/>
                          <a:highlight>
                            <a:srgbClr val="FFFF00"/>
                          </a:highlight>
                        </a:rPr>
                        <a:t>0.187</a:t>
                      </a:r>
                      <a:endParaRPr lang="en-US" sz="1050" dirty="0">
                        <a:solidFill>
                          <a:srgbClr val="1F1F1F"/>
                        </a:solidFill>
                        <a:effectLst/>
                        <a:highlight>
                          <a:srgbClr val="FFFF00"/>
                        </a:highlight>
                        <a:latin typeface="+mn-lt"/>
                      </a:endParaRPr>
                    </a:p>
                  </a:txBody>
                  <a:tcPr marL="40314" marR="40314" marT="26876" marB="26876" anchor="ctr"/>
                </a:tc>
                <a:tc>
                  <a:txBody>
                    <a:bodyPr/>
                    <a:lstStyle/>
                    <a:p>
                      <a:pPr rtl="0">
                        <a:buNone/>
                      </a:pPr>
                      <a:r>
                        <a:rPr lang="en-US" sz="1050" b="1">
                          <a:solidFill>
                            <a:srgbClr val="1F1F1F"/>
                          </a:solidFill>
                          <a:effectLst/>
                          <a:highlight>
                            <a:srgbClr val="FFFF00"/>
                          </a:highlight>
                        </a:rPr>
                        <a:t>1.58</a:t>
                      </a:r>
                      <a:endParaRPr lang="en-US" sz="1050">
                        <a:solidFill>
                          <a:srgbClr val="1F1F1F"/>
                        </a:solidFill>
                        <a:effectLst/>
                        <a:highlight>
                          <a:srgbClr val="FFFF00"/>
                        </a:highlight>
                        <a:latin typeface="+mn-lt"/>
                      </a:endParaRPr>
                    </a:p>
                  </a:txBody>
                  <a:tcPr marL="40314" marR="40314" marT="26876" marB="26876" anchor="ctr"/>
                </a:tc>
                <a:tc>
                  <a:txBody>
                    <a:bodyPr/>
                    <a:lstStyle/>
                    <a:p>
                      <a:pPr rtl="0">
                        <a:buNone/>
                      </a:pPr>
                      <a:r>
                        <a:rPr lang="en-US" sz="1050" b="1" dirty="0">
                          <a:solidFill>
                            <a:srgbClr val="1F1F1F"/>
                          </a:solidFill>
                          <a:effectLst/>
                          <a:highlight>
                            <a:srgbClr val="FFFF00"/>
                          </a:highlight>
                        </a:rPr>
                        <a:t>11.44</a:t>
                      </a:r>
                      <a:endParaRPr lang="en-US" sz="1050" dirty="0">
                        <a:solidFill>
                          <a:srgbClr val="1F1F1F"/>
                        </a:solidFill>
                        <a:effectLst/>
                        <a:highlight>
                          <a:srgbClr val="FFFF00"/>
                        </a:highlight>
                        <a:latin typeface="+mn-lt"/>
                      </a:endParaRPr>
                    </a:p>
                  </a:txBody>
                  <a:tcPr marL="40314" marR="40314" marT="26876" marB="26876" anchor="ctr"/>
                </a:tc>
                <a:extLst>
                  <a:ext uri="{0D108BD9-81ED-4DB2-BD59-A6C34878D82A}">
                    <a16:rowId xmlns:a16="http://schemas.microsoft.com/office/drawing/2014/main" val="3229963155"/>
                  </a:ext>
                </a:extLst>
              </a:tr>
              <a:tr h="150507">
                <a:tc>
                  <a:txBody>
                    <a:bodyPr/>
                    <a:lstStyle/>
                    <a:p>
                      <a:pPr rtl="0">
                        <a:buNone/>
                      </a:pPr>
                      <a:r>
                        <a:rPr lang="en-US" sz="1050">
                          <a:solidFill>
                            <a:srgbClr val="1F1F1F"/>
                          </a:solidFill>
                          <a:effectLst/>
                        </a:rPr>
                        <a:t>    CSHCN: No</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0.041</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0.18</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2.39</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4168029584"/>
                  </a:ext>
                </a:extLst>
              </a:tr>
              <a:tr h="247262">
                <a:tc>
                  <a:txBody>
                    <a:bodyPr/>
                    <a:lstStyle/>
                    <a:p>
                      <a:pPr rtl="0">
                        <a:buNone/>
                      </a:pPr>
                      <a:r>
                        <a:rPr lang="en-US" sz="1050">
                          <a:solidFill>
                            <a:srgbClr val="1F1F1F"/>
                          </a:solidFill>
                          <a:effectLst/>
                        </a:rPr>
                        <a:t>    Mental Health: Fair/Poor</a:t>
                      </a:r>
                      <a:endParaRPr lang="en-US" sz="1050">
                        <a:solidFill>
                          <a:srgbClr val="1F1F1F"/>
                        </a:solidFill>
                        <a:effectLst/>
                        <a:latin typeface="+mn-lt"/>
                      </a:endParaRPr>
                    </a:p>
                  </a:txBody>
                  <a:tcPr marL="40314" marR="40314" marT="26876" marB="26876" anchor="ctr"/>
                </a:tc>
                <a:tc>
                  <a:txBody>
                    <a:bodyPr/>
                    <a:lstStyle/>
                    <a:p>
                      <a:pPr rtl="0">
                        <a:buNone/>
                      </a:pPr>
                      <a:r>
                        <a:rPr lang="en-US" sz="1050" b="1">
                          <a:solidFill>
                            <a:srgbClr val="1F1F1F"/>
                          </a:solidFill>
                          <a:effectLst/>
                          <a:highlight>
                            <a:srgbClr val="FFFF00"/>
                          </a:highlight>
                        </a:rPr>
                        <a:t>0.234</a:t>
                      </a:r>
                      <a:endParaRPr lang="en-US" sz="1050">
                        <a:solidFill>
                          <a:srgbClr val="1F1F1F"/>
                        </a:solidFill>
                        <a:effectLst/>
                        <a:highlight>
                          <a:srgbClr val="FFFF00"/>
                        </a:highlight>
                        <a:latin typeface="+mn-lt"/>
                      </a:endParaRPr>
                    </a:p>
                  </a:txBody>
                  <a:tcPr marL="40314" marR="40314" marT="26876" marB="26876" anchor="ctr"/>
                </a:tc>
                <a:tc>
                  <a:txBody>
                    <a:bodyPr/>
                    <a:lstStyle/>
                    <a:p>
                      <a:pPr rtl="0">
                        <a:buNone/>
                      </a:pPr>
                      <a:r>
                        <a:rPr lang="en-US" sz="1050" b="1">
                          <a:solidFill>
                            <a:srgbClr val="1F1F1F"/>
                          </a:solidFill>
                          <a:effectLst/>
                          <a:highlight>
                            <a:srgbClr val="FFFF00"/>
                          </a:highlight>
                        </a:rPr>
                        <a:t>1.99</a:t>
                      </a:r>
                      <a:endParaRPr lang="en-US" sz="1050">
                        <a:solidFill>
                          <a:srgbClr val="1F1F1F"/>
                        </a:solidFill>
                        <a:effectLst/>
                        <a:highlight>
                          <a:srgbClr val="FFFF00"/>
                        </a:highlight>
                        <a:latin typeface="+mn-lt"/>
                      </a:endParaRPr>
                    </a:p>
                  </a:txBody>
                  <a:tcPr marL="40314" marR="40314" marT="26876" marB="26876" anchor="ctr"/>
                </a:tc>
                <a:tc>
                  <a:txBody>
                    <a:bodyPr/>
                    <a:lstStyle/>
                    <a:p>
                      <a:pPr rtl="0">
                        <a:buNone/>
                      </a:pPr>
                      <a:r>
                        <a:rPr lang="en-US" sz="1050" b="1" dirty="0">
                          <a:solidFill>
                            <a:srgbClr val="1F1F1F"/>
                          </a:solidFill>
                          <a:effectLst/>
                          <a:highlight>
                            <a:srgbClr val="FFFF00"/>
                          </a:highlight>
                        </a:rPr>
                        <a:t>11.91</a:t>
                      </a:r>
                      <a:endParaRPr lang="en-US" sz="1050" dirty="0">
                        <a:solidFill>
                          <a:srgbClr val="1F1F1F"/>
                        </a:solidFill>
                        <a:effectLst/>
                        <a:highlight>
                          <a:srgbClr val="FFFF00"/>
                        </a:highlight>
                        <a:latin typeface="+mn-lt"/>
                      </a:endParaRPr>
                    </a:p>
                  </a:txBody>
                  <a:tcPr marL="40314" marR="40314" marT="26876" marB="26876" anchor="ctr"/>
                </a:tc>
                <a:extLst>
                  <a:ext uri="{0D108BD9-81ED-4DB2-BD59-A6C34878D82A}">
                    <a16:rowId xmlns:a16="http://schemas.microsoft.com/office/drawing/2014/main" val="1136332252"/>
                  </a:ext>
                </a:extLst>
              </a:tr>
              <a:tr h="247262">
                <a:tc>
                  <a:txBody>
                    <a:bodyPr/>
                    <a:lstStyle/>
                    <a:p>
                      <a:pPr rtl="0">
                        <a:buNone/>
                      </a:pPr>
                      <a:r>
                        <a:rPr lang="en-US" sz="1050">
                          <a:solidFill>
                            <a:srgbClr val="1F1F1F"/>
                          </a:solidFill>
                          <a:effectLst/>
                        </a:rPr>
                        <a:t>    Mental Health: Good+</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0.061</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0.38</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3.76</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188620887"/>
                  </a:ext>
                </a:extLst>
              </a:tr>
              <a:tr h="150507">
                <a:tc>
                  <a:txBody>
                    <a:bodyPr/>
                    <a:lstStyle/>
                    <a:p>
                      <a:pPr rtl="0">
                        <a:buNone/>
                      </a:pPr>
                      <a:r>
                        <a:rPr lang="en-US" sz="1050" b="1">
                          <a:solidFill>
                            <a:srgbClr val="1F1F1F"/>
                          </a:solidFill>
                          <a:effectLst/>
                        </a:rPr>
                        <a:t>Access</a:t>
                      </a: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tc>
                  <a:txBody>
                    <a:bodyPr/>
                    <a:lstStyle/>
                    <a:p>
                      <a:pPr rtl="0">
                        <a:buNone/>
                      </a:pP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838153951"/>
                  </a:ext>
                </a:extLst>
              </a:tr>
              <a:tr h="247262">
                <a:tc>
                  <a:txBody>
                    <a:bodyPr/>
                    <a:lstStyle/>
                    <a:p>
                      <a:pPr rtl="0">
                        <a:buNone/>
                      </a:pPr>
                      <a:r>
                        <a:rPr lang="en-US" sz="1050">
                          <a:solidFill>
                            <a:srgbClr val="1F1F1F"/>
                          </a:solidFill>
                          <a:effectLst/>
                        </a:rPr>
                        <a:t>    Language Barrier: Yes</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0.042</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0.24</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2.96</a:t>
                      </a:r>
                      <a:endParaRPr lang="en-US" sz="1050">
                        <a:solidFill>
                          <a:srgbClr val="1F1F1F"/>
                        </a:solidFill>
                        <a:effectLst/>
                        <a:latin typeface="+mn-lt"/>
                      </a:endParaRPr>
                    </a:p>
                  </a:txBody>
                  <a:tcPr marL="40314" marR="40314" marT="26876" marB="26876" anchor="ctr"/>
                </a:tc>
                <a:extLst>
                  <a:ext uri="{0D108BD9-81ED-4DB2-BD59-A6C34878D82A}">
                    <a16:rowId xmlns:a16="http://schemas.microsoft.com/office/drawing/2014/main" val="2597428853"/>
                  </a:ext>
                </a:extLst>
              </a:tr>
              <a:tr h="247262">
                <a:tc>
                  <a:txBody>
                    <a:bodyPr/>
                    <a:lstStyle/>
                    <a:p>
                      <a:pPr rtl="0">
                        <a:buNone/>
                      </a:pPr>
                      <a:r>
                        <a:rPr lang="en-US" sz="1050">
                          <a:solidFill>
                            <a:srgbClr val="1F1F1F"/>
                          </a:solidFill>
                          <a:effectLst/>
                        </a:rPr>
                        <a:t>    Language Barrier: No</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0.072</a:t>
                      </a:r>
                      <a:endParaRPr lang="en-US" sz="1050">
                        <a:solidFill>
                          <a:srgbClr val="1F1F1F"/>
                        </a:solidFill>
                        <a:effectLst/>
                        <a:latin typeface="+mn-lt"/>
                      </a:endParaRPr>
                    </a:p>
                  </a:txBody>
                  <a:tcPr marL="40314" marR="40314" marT="26876" marB="26876" anchor="ctr"/>
                </a:tc>
                <a:tc>
                  <a:txBody>
                    <a:bodyPr/>
                    <a:lstStyle/>
                    <a:p>
                      <a:pPr rtl="0">
                        <a:buNone/>
                      </a:pPr>
                      <a:r>
                        <a:rPr lang="en-US" sz="1050">
                          <a:solidFill>
                            <a:srgbClr val="1F1F1F"/>
                          </a:solidFill>
                          <a:effectLst/>
                        </a:rPr>
                        <a:t>0.48</a:t>
                      </a:r>
                      <a:endParaRPr lang="en-US" sz="1050">
                        <a:solidFill>
                          <a:srgbClr val="1F1F1F"/>
                        </a:solidFill>
                        <a:effectLst/>
                        <a:latin typeface="+mn-lt"/>
                      </a:endParaRPr>
                    </a:p>
                  </a:txBody>
                  <a:tcPr marL="40314" marR="40314" marT="26876" marB="26876" anchor="ctr"/>
                </a:tc>
                <a:tc>
                  <a:txBody>
                    <a:bodyPr/>
                    <a:lstStyle/>
                    <a:p>
                      <a:pPr rtl="0">
                        <a:buNone/>
                      </a:pPr>
                      <a:r>
                        <a:rPr lang="en-US" sz="1050" dirty="0">
                          <a:solidFill>
                            <a:srgbClr val="1F1F1F"/>
                          </a:solidFill>
                          <a:effectLst/>
                        </a:rPr>
                        <a:t>4.26</a:t>
                      </a:r>
                      <a:endParaRPr lang="en-US" sz="1050" dirty="0">
                        <a:solidFill>
                          <a:srgbClr val="1F1F1F"/>
                        </a:solidFill>
                        <a:effectLst/>
                        <a:latin typeface="+mn-lt"/>
                      </a:endParaRPr>
                    </a:p>
                  </a:txBody>
                  <a:tcPr marL="40314" marR="40314" marT="26876" marB="26876" anchor="ctr"/>
                </a:tc>
                <a:extLst>
                  <a:ext uri="{0D108BD9-81ED-4DB2-BD59-A6C34878D82A}">
                    <a16:rowId xmlns:a16="http://schemas.microsoft.com/office/drawing/2014/main" val="308194441"/>
                  </a:ext>
                </a:extLst>
              </a:tr>
            </a:tbl>
          </a:graphicData>
        </a:graphic>
      </p:graphicFrame>
    </p:spTree>
    <p:extLst>
      <p:ext uri="{BB962C8B-B14F-4D97-AF65-F5344CB8AC3E}">
        <p14:creationId xmlns:p14="http://schemas.microsoft.com/office/powerpoint/2010/main" val="3978165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Inferential Statistics</a:t>
            </a:r>
            <a:endParaRPr dirty="0"/>
          </a:p>
        </p:txBody>
      </p:sp>
      <p:sp>
        <p:nvSpPr>
          <p:cNvPr id="5" name="Content Placeholder 4">
            <a:extLst>
              <a:ext uri="{FF2B5EF4-FFF2-40B4-BE49-F238E27FC236}">
                <a16:creationId xmlns:a16="http://schemas.microsoft.com/office/drawing/2014/main" id="{B9705C58-FB6E-AD5B-5D4E-3C79D4A2E02F}"/>
              </a:ext>
            </a:extLst>
          </p:cNvPr>
          <p:cNvSpPr>
            <a:spLocks noGrp="1"/>
          </p:cNvSpPr>
          <p:nvPr>
            <p:ph idx="1"/>
          </p:nvPr>
        </p:nvSpPr>
        <p:spPr>
          <a:xfrm>
            <a:off x="457200" y="1600200"/>
            <a:ext cx="8229600" cy="801255"/>
          </a:xfrm>
        </p:spPr>
        <p:txBody>
          <a:bodyPr>
            <a:normAutofit fontScale="85000" lnSpcReduction="20000"/>
          </a:bodyPr>
          <a:lstStyle/>
          <a:p>
            <a:pPr marL="0" indent="0">
              <a:buNone/>
            </a:pPr>
            <a:r>
              <a:rPr lang="en-US" dirty="0"/>
              <a:t>Four distinct models to capture the extensive and intensive margins of care.</a:t>
            </a:r>
          </a:p>
        </p:txBody>
      </p:sp>
      <p:pic>
        <p:nvPicPr>
          <p:cNvPr id="7" name="Picture 6">
            <a:extLst>
              <a:ext uri="{FF2B5EF4-FFF2-40B4-BE49-F238E27FC236}">
                <a16:creationId xmlns:a16="http://schemas.microsoft.com/office/drawing/2014/main" id="{48D0CDEA-46C7-9475-6643-FBB25F648C12}"/>
              </a:ext>
            </a:extLst>
          </p:cNvPr>
          <p:cNvPicPr>
            <a:picLocks noChangeAspect="1"/>
          </p:cNvPicPr>
          <p:nvPr/>
        </p:nvPicPr>
        <p:blipFill>
          <a:blip r:embed="rId3"/>
          <a:srcRect l="867" r="1112" b="14543"/>
          <a:stretch>
            <a:fillRect/>
          </a:stretch>
        </p:blipFill>
        <p:spPr>
          <a:xfrm>
            <a:off x="307295" y="2521717"/>
            <a:ext cx="8529410" cy="2319059"/>
          </a:xfrm>
          <a:prstGeom prst="rect">
            <a:avLst/>
          </a:prstGeom>
        </p:spPr>
      </p:pic>
      <p:sp>
        <p:nvSpPr>
          <p:cNvPr id="8" name="Rectangle 1">
            <a:extLst>
              <a:ext uri="{FF2B5EF4-FFF2-40B4-BE49-F238E27FC236}">
                <a16:creationId xmlns:a16="http://schemas.microsoft.com/office/drawing/2014/main" id="{800894CD-5E1E-42A4-661C-6A81F0F83D85}"/>
              </a:ext>
            </a:extLst>
          </p:cNvPr>
          <p:cNvSpPr>
            <a:spLocks noChangeArrowheads="1"/>
          </p:cNvSpPr>
          <p:nvPr/>
        </p:nvSpPr>
        <p:spPr bwMode="auto">
          <a:xfrm>
            <a:off x="701566" y="5158407"/>
            <a:ext cx="7905224"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ctr"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All models apply MEPS survey weights</a:t>
            </a:r>
          </a:p>
          <a:p>
            <a:pPr lvl="0" algn="ctr" defTabSz="914400" eaLnBrk="0" fontAlgn="base" hangingPunct="0">
              <a:spcBef>
                <a:spcPct val="0"/>
              </a:spcBef>
              <a:spcAft>
                <a:spcPct val="0"/>
              </a:spcAft>
            </a:pPr>
            <a:r>
              <a:rPr lang="en-US" altLang="en-US" sz="1400" i="1" dirty="0">
                <a:latin typeface="Courier New" panose="02070309020205020404" pitchFamily="49" charset="0"/>
                <a:cs typeface="Courier New" panose="02070309020205020404" pitchFamily="49" charset="0"/>
              </a:rPr>
              <a:t>survey weights (</a:t>
            </a:r>
            <a:r>
              <a:rPr lang="en-US" altLang="en-US" sz="1400" i="1" dirty="0" err="1">
                <a:latin typeface="Courier New" panose="02070309020205020404" pitchFamily="49" charset="0"/>
                <a:cs typeface="Courier New" panose="02070309020205020404" pitchFamily="49" charset="0"/>
              </a:rPr>
              <a:t>PERWTxxF</a:t>
            </a:r>
            <a:r>
              <a:rPr lang="en-US" altLang="en-US" sz="1400" i="1" dirty="0">
                <a:latin typeface="Courier New" panose="02070309020205020404" pitchFamily="49" charset="0"/>
                <a:cs typeface="Courier New" panose="02070309020205020404" pitchFamily="49" charset="0"/>
              </a:rPr>
              <a:t>), variance strata (VARSTR), and PSU (VARPSU).</a:t>
            </a:r>
          </a:p>
          <a:p>
            <a:pPr marR="0" lvl="0" algn="ctr" defTabSz="914400" rtl="0" eaLnBrk="0" fontAlgn="base" latinLnBrk="0" hangingPunct="0">
              <a:lnSpc>
                <a:spcPct val="100000"/>
              </a:lnSpc>
              <a:spcBef>
                <a:spcPct val="0"/>
              </a:spcBef>
              <a:spcAft>
                <a:spcPct val="0"/>
              </a:spcAft>
              <a:buClrTx/>
              <a:buSzTx/>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F477-17F4-2987-54C9-C5CAD1AB6F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507BF-68FA-66E8-CB42-E1A463116005}"/>
              </a:ext>
            </a:extLst>
          </p:cNvPr>
          <p:cNvSpPr>
            <a:spLocks noGrp="1"/>
          </p:cNvSpPr>
          <p:nvPr>
            <p:ph type="title"/>
          </p:nvPr>
        </p:nvSpPr>
        <p:spPr/>
        <p:txBody>
          <a:bodyPr>
            <a:normAutofit/>
          </a:bodyPr>
          <a:lstStyle/>
          <a:p>
            <a:r>
              <a:rPr lang="en-US" sz="2800" dirty="0"/>
              <a:t>Access (Model 1): Barriers to Telehealth Access </a:t>
            </a:r>
            <a:br>
              <a:rPr lang="en-US" sz="2800" dirty="0"/>
            </a:br>
            <a:r>
              <a:rPr lang="en-US" sz="2800" dirty="0"/>
              <a:t>(Logistic Regression)</a:t>
            </a:r>
            <a:endParaRPr sz="2800" dirty="0"/>
          </a:p>
        </p:txBody>
      </p:sp>
      <p:pic>
        <p:nvPicPr>
          <p:cNvPr id="5" name="Picture 4">
            <a:extLst>
              <a:ext uri="{FF2B5EF4-FFF2-40B4-BE49-F238E27FC236}">
                <a16:creationId xmlns:a16="http://schemas.microsoft.com/office/drawing/2014/main" id="{1954E2C2-F9E7-8067-B231-207E8592780D}"/>
              </a:ext>
            </a:extLst>
          </p:cNvPr>
          <p:cNvPicPr>
            <a:picLocks noChangeAspect="1"/>
          </p:cNvPicPr>
          <p:nvPr/>
        </p:nvPicPr>
        <p:blipFill>
          <a:blip r:embed="rId3"/>
          <a:stretch>
            <a:fillRect/>
          </a:stretch>
        </p:blipFill>
        <p:spPr>
          <a:xfrm>
            <a:off x="563880" y="2541948"/>
            <a:ext cx="7772400" cy="409073"/>
          </a:xfrm>
          <a:prstGeom prst="rect">
            <a:avLst/>
          </a:prstGeom>
        </p:spPr>
      </p:pic>
      <p:sp>
        <p:nvSpPr>
          <p:cNvPr id="9" name="TextBox 8">
            <a:extLst>
              <a:ext uri="{FF2B5EF4-FFF2-40B4-BE49-F238E27FC236}">
                <a16:creationId xmlns:a16="http://schemas.microsoft.com/office/drawing/2014/main" id="{D3F84279-A090-836C-13CC-A5FE1E03FD4C}"/>
              </a:ext>
            </a:extLst>
          </p:cNvPr>
          <p:cNvSpPr txBox="1"/>
          <p:nvPr/>
        </p:nvSpPr>
        <p:spPr>
          <a:xfrm>
            <a:off x="457200" y="1417638"/>
            <a:ext cx="8324088" cy="646331"/>
          </a:xfrm>
          <a:prstGeom prst="rect">
            <a:avLst/>
          </a:prstGeom>
          <a:noFill/>
        </p:spPr>
        <p:txBody>
          <a:bodyPr wrap="square" rtlCol="0">
            <a:spAutoFit/>
          </a:bodyPr>
          <a:lstStyle/>
          <a:p>
            <a:r>
              <a:rPr lang="en-US" b="1" dirty="0"/>
              <a:t>Research Question: </a:t>
            </a:r>
            <a:r>
              <a:rPr lang="en-US" dirty="0"/>
              <a:t>What socioeconomic and demographic factors predict whether a child uses any telehealth services?</a:t>
            </a:r>
          </a:p>
        </p:txBody>
      </p:sp>
      <p:sp>
        <p:nvSpPr>
          <p:cNvPr id="11" name="TextBox 10">
            <a:extLst>
              <a:ext uri="{FF2B5EF4-FFF2-40B4-BE49-F238E27FC236}">
                <a16:creationId xmlns:a16="http://schemas.microsoft.com/office/drawing/2014/main" id="{07D18EF2-3F35-A0C2-FF13-7BD66605F55C}"/>
              </a:ext>
            </a:extLst>
          </p:cNvPr>
          <p:cNvSpPr txBox="1"/>
          <p:nvPr/>
        </p:nvSpPr>
        <p:spPr>
          <a:xfrm>
            <a:off x="457200" y="3429000"/>
            <a:ext cx="8324088" cy="2862322"/>
          </a:xfrm>
          <a:prstGeom prst="rect">
            <a:avLst/>
          </a:prstGeom>
          <a:noFill/>
        </p:spPr>
        <p:txBody>
          <a:bodyPr wrap="square">
            <a:spAutoFit/>
          </a:bodyPr>
          <a:lstStyle/>
          <a:p>
            <a:pPr>
              <a:buNone/>
            </a:pPr>
            <a:r>
              <a:rPr lang="en-US" b="1" dirty="0">
                <a:effectLst/>
                <a:latin typeface="Google Sans Text"/>
              </a:rPr>
              <a:t>Key Findings:</a:t>
            </a:r>
            <a:endParaRPr lang="en-US" dirty="0">
              <a:effectLst/>
              <a:latin typeface="Google Sans Text"/>
            </a:endParaRPr>
          </a:p>
          <a:p>
            <a:pPr marL="285750" indent="-285750">
              <a:buFont typeface="Arial" panose="020B0604020202020204" pitchFamily="34" charset="0"/>
              <a:buChar char="•"/>
            </a:pPr>
            <a:r>
              <a:rPr lang="en-US" b="1" dirty="0">
                <a:effectLst/>
                <a:latin typeface="Google Sans Text"/>
              </a:rPr>
              <a:t>Digital Divide Persists:</a:t>
            </a:r>
            <a:r>
              <a:rPr lang="en-US" dirty="0">
                <a:effectLst/>
                <a:latin typeface="Google Sans Text"/>
              </a:rPr>
              <a:t> High-income children (&gt;400% FPL) had significantly higher odds of using telehealth compared to poor children ($\beta$=0.72, $p$=0.003), even after controlling for health needs.</a:t>
            </a:r>
          </a:p>
          <a:p>
            <a:pPr marL="285750" indent="-285750">
              <a:buFont typeface="Arial" panose="020B0604020202020204" pitchFamily="34" charset="0"/>
              <a:buChar char="•"/>
            </a:pPr>
            <a:r>
              <a:rPr lang="en-US" b="1" dirty="0">
                <a:effectLst/>
                <a:latin typeface="Google Sans Text"/>
              </a:rPr>
              <a:t>Racial Barrier:</a:t>
            </a:r>
            <a:r>
              <a:rPr lang="en-US" dirty="0">
                <a:effectLst/>
                <a:latin typeface="Google Sans Text"/>
              </a:rPr>
              <a:t> Non-Hispanic Black children were significantly less likely to access telehealth than Hispanic children ($\beta$=-0.70, $p$=0.013), suggesting structural barriers beyond income.</a:t>
            </a:r>
          </a:p>
          <a:p>
            <a:pPr marL="285750" indent="-285750">
              <a:buFont typeface="Arial" panose="020B0604020202020204" pitchFamily="34" charset="0"/>
              <a:buChar char="•"/>
            </a:pPr>
            <a:r>
              <a:rPr lang="en-US" b="1" dirty="0">
                <a:effectLst/>
                <a:latin typeface="Google Sans Text"/>
              </a:rPr>
              <a:t>Driven by Need:</a:t>
            </a:r>
            <a:r>
              <a:rPr lang="en-US" dirty="0">
                <a:effectLst/>
                <a:latin typeface="Google Sans Text"/>
              </a:rPr>
              <a:t> Children with Special Health Care Needs (CSHCN) and fair/poor mental health were the strongest predictors of use ($p$&lt;0.001), confirming telehealth's role for vulnerable clinical populations.</a:t>
            </a:r>
          </a:p>
        </p:txBody>
      </p:sp>
    </p:spTree>
    <p:extLst>
      <p:ext uri="{BB962C8B-B14F-4D97-AF65-F5344CB8AC3E}">
        <p14:creationId xmlns:p14="http://schemas.microsoft.com/office/powerpoint/2010/main" val="1621384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65DE9-78EC-76D2-4CD0-9B87741158B6}"/>
              </a:ext>
            </a:extLst>
          </p:cNvPr>
          <p:cNvSpPr>
            <a:spLocks noGrp="1"/>
          </p:cNvSpPr>
          <p:nvPr>
            <p:ph type="title"/>
          </p:nvPr>
        </p:nvSpPr>
        <p:spPr/>
        <p:txBody>
          <a:bodyPr/>
          <a:lstStyle/>
          <a:p>
            <a:r>
              <a:rPr lang="en-US" dirty="0" err="1"/>
              <a:t>marginsplot</a:t>
            </a:r>
            <a:endParaRPr lang="en-US" dirty="0"/>
          </a:p>
        </p:txBody>
      </p:sp>
      <p:pic>
        <p:nvPicPr>
          <p:cNvPr id="4" name="Picture 3">
            <a:extLst>
              <a:ext uri="{FF2B5EF4-FFF2-40B4-BE49-F238E27FC236}">
                <a16:creationId xmlns:a16="http://schemas.microsoft.com/office/drawing/2014/main" id="{1A16A4F3-8034-9D4B-BF05-BE9B846688B7}"/>
              </a:ext>
            </a:extLst>
          </p:cNvPr>
          <p:cNvPicPr>
            <a:picLocks noChangeAspect="1"/>
          </p:cNvPicPr>
          <p:nvPr/>
        </p:nvPicPr>
        <p:blipFill>
          <a:blip r:embed="rId3"/>
          <a:stretch>
            <a:fillRect/>
          </a:stretch>
        </p:blipFill>
        <p:spPr>
          <a:xfrm>
            <a:off x="347472" y="1664207"/>
            <a:ext cx="8339328" cy="5003597"/>
          </a:xfrm>
          <a:prstGeom prst="rect">
            <a:avLst/>
          </a:prstGeom>
        </p:spPr>
      </p:pic>
    </p:spTree>
    <p:extLst>
      <p:ext uri="{BB962C8B-B14F-4D97-AF65-F5344CB8AC3E}">
        <p14:creationId xmlns:p14="http://schemas.microsoft.com/office/powerpoint/2010/main" val="2013852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83EEA-1FCD-A546-5759-97008A9A6E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6C584-9629-AE47-78AA-ECB7C793DCC9}"/>
              </a:ext>
            </a:extLst>
          </p:cNvPr>
          <p:cNvSpPr>
            <a:spLocks noGrp="1"/>
          </p:cNvSpPr>
          <p:nvPr>
            <p:ph type="title"/>
          </p:nvPr>
        </p:nvSpPr>
        <p:spPr/>
        <p:txBody>
          <a:bodyPr>
            <a:normAutofit/>
          </a:bodyPr>
          <a:lstStyle/>
          <a:p>
            <a:r>
              <a:rPr lang="en-US" sz="2800" dirty="0"/>
              <a:t>Intensity (Model 2): Telehealth Visit Intensity</a:t>
            </a:r>
            <a:br>
              <a:rPr lang="en-US" sz="2800" dirty="0"/>
            </a:br>
            <a:r>
              <a:rPr lang="en-US" sz="2800" dirty="0"/>
              <a:t>(Negative Binomial Regression)</a:t>
            </a:r>
            <a:endParaRPr sz="2800" dirty="0"/>
          </a:p>
        </p:txBody>
      </p:sp>
      <p:sp>
        <p:nvSpPr>
          <p:cNvPr id="9" name="TextBox 8">
            <a:extLst>
              <a:ext uri="{FF2B5EF4-FFF2-40B4-BE49-F238E27FC236}">
                <a16:creationId xmlns:a16="http://schemas.microsoft.com/office/drawing/2014/main" id="{B09A5DC0-6C82-4693-4E41-12173C9EED38}"/>
              </a:ext>
            </a:extLst>
          </p:cNvPr>
          <p:cNvSpPr txBox="1"/>
          <p:nvPr/>
        </p:nvSpPr>
        <p:spPr>
          <a:xfrm>
            <a:off x="457200" y="1417638"/>
            <a:ext cx="8324088" cy="646331"/>
          </a:xfrm>
          <a:prstGeom prst="rect">
            <a:avLst/>
          </a:prstGeom>
          <a:noFill/>
        </p:spPr>
        <p:txBody>
          <a:bodyPr wrap="square" rtlCol="0">
            <a:spAutoFit/>
          </a:bodyPr>
          <a:lstStyle/>
          <a:p>
            <a:r>
              <a:rPr lang="en-US" b="1" dirty="0"/>
              <a:t>Research Question: </a:t>
            </a:r>
            <a:r>
              <a:rPr lang="en-US" dirty="0"/>
              <a:t>Do socioeconomic and demographic factors shape how many telehealth visits a child receives among users?</a:t>
            </a:r>
          </a:p>
        </p:txBody>
      </p:sp>
      <p:sp>
        <p:nvSpPr>
          <p:cNvPr id="11" name="TextBox 10">
            <a:extLst>
              <a:ext uri="{FF2B5EF4-FFF2-40B4-BE49-F238E27FC236}">
                <a16:creationId xmlns:a16="http://schemas.microsoft.com/office/drawing/2014/main" id="{73BC9FCC-F22E-D234-0826-028276030147}"/>
              </a:ext>
            </a:extLst>
          </p:cNvPr>
          <p:cNvSpPr txBox="1"/>
          <p:nvPr/>
        </p:nvSpPr>
        <p:spPr>
          <a:xfrm>
            <a:off x="457200" y="3444041"/>
            <a:ext cx="8324088" cy="3139321"/>
          </a:xfrm>
          <a:prstGeom prst="rect">
            <a:avLst/>
          </a:prstGeom>
          <a:noFill/>
        </p:spPr>
        <p:txBody>
          <a:bodyPr wrap="square">
            <a:spAutoFit/>
          </a:bodyPr>
          <a:lstStyle/>
          <a:p>
            <a:r>
              <a:rPr lang="en-US" b="1" dirty="0">
                <a:effectLst/>
                <a:latin typeface="Google Sans Text"/>
              </a:rPr>
              <a:t>Strong SES Gradient:</a:t>
            </a:r>
          </a:p>
          <a:p>
            <a:r>
              <a:rPr lang="en-US" dirty="0">
                <a:effectLst/>
                <a:latin typeface="Google Sans Text"/>
              </a:rPr>
              <a:t>Higher-income children (&gt;400% FPL) had ~3× more visits than poor children (IRR = 2.84, p = 0.016). Low- and middle-income groups also showed significantly higher use.</a:t>
            </a:r>
          </a:p>
          <a:p>
            <a:r>
              <a:rPr lang="en-US" b="1" dirty="0">
                <a:effectLst/>
                <a:latin typeface="Google Sans Text"/>
              </a:rPr>
              <a:t>Insurance Gap:</a:t>
            </a:r>
          </a:p>
          <a:p>
            <a:r>
              <a:rPr lang="en-US" dirty="0">
                <a:effectLst/>
                <a:latin typeface="Google Sans Text"/>
              </a:rPr>
              <a:t>Uninsured children had near-zero telehealth volume (IRR = 0.06, p &lt; 0.001).</a:t>
            </a:r>
          </a:p>
          <a:p>
            <a:r>
              <a:rPr lang="en-US" dirty="0">
                <a:effectLst/>
                <a:latin typeface="Google Sans Text"/>
              </a:rPr>
              <a:t>Public-only ≈ Private (ns).</a:t>
            </a:r>
          </a:p>
          <a:p>
            <a:r>
              <a:rPr lang="en-US" b="1" dirty="0">
                <a:effectLst/>
                <a:latin typeface="Google Sans Text"/>
              </a:rPr>
              <a:t>Racial Differences:</a:t>
            </a:r>
          </a:p>
          <a:p>
            <a:r>
              <a:rPr lang="en-US" dirty="0">
                <a:effectLst/>
                <a:latin typeface="Google Sans Text"/>
              </a:rPr>
              <a:t>NH Black (IRR = 0.41) and NH Asian (IRR = 0.19) children had substantially fewer visits than Hispanic children.</a:t>
            </a:r>
          </a:p>
          <a:p>
            <a:r>
              <a:rPr lang="en-US" b="1" dirty="0">
                <a:effectLst/>
                <a:latin typeface="Google Sans Text"/>
              </a:rPr>
              <a:t>Clinical Need Dominates:</a:t>
            </a:r>
          </a:p>
          <a:p>
            <a:r>
              <a:rPr lang="en-US" dirty="0">
                <a:effectLst/>
                <a:latin typeface="Google Sans Text"/>
              </a:rPr>
              <a:t>CSHCN had ~10× more visits (p &lt; 0.001); poor mental health ~2.5× (p = 0.001).</a:t>
            </a:r>
          </a:p>
        </p:txBody>
      </p:sp>
      <p:pic>
        <p:nvPicPr>
          <p:cNvPr id="4" name="Picture 3">
            <a:extLst>
              <a:ext uri="{FF2B5EF4-FFF2-40B4-BE49-F238E27FC236}">
                <a16:creationId xmlns:a16="http://schemas.microsoft.com/office/drawing/2014/main" id="{225DDC5D-B0C3-A814-C580-1FC3D2450A08}"/>
              </a:ext>
            </a:extLst>
          </p:cNvPr>
          <p:cNvPicPr>
            <a:picLocks noChangeAspect="1"/>
          </p:cNvPicPr>
          <p:nvPr/>
        </p:nvPicPr>
        <p:blipFill>
          <a:blip r:embed="rId3"/>
          <a:stretch>
            <a:fillRect/>
          </a:stretch>
        </p:blipFill>
        <p:spPr>
          <a:xfrm>
            <a:off x="733044" y="2174959"/>
            <a:ext cx="7772400" cy="548771"/>
          </a:xfrm>
          <a:prstGeom prst="rect">
            <a:avLst/>
          </a:prstGeom>
        </p:spPr>
      </p:pic>
      <p:sp>
        <p:nvSpPr>
          <p:cNvPr id="7" name="TextBox 6">
            <a:extLst>
              <a:ext uri="{FF2B5EF4-FFF2-40B4-BE49-F238E27FC236}">
                <a16:creationId xmlns:a16="http://schemas.microsoft.com/office/drawing/2014/main" id="{F2EE4C62-059A-6052-705B-25479514B5C2}"/>
              </a:ext>
            </a:extLst>
          </p:cNvPr>
          <p:cNvSpPr txBox="1"/>
          <p:nvPr/>
        </p:nvSpPr>
        <p:spPr>
          <a:xfrm>
            <a:off x="457200" y="2767496"/>
            <a:ext cx="8324088" cy="369332"/>
          </a:xfrm>
          <a:prstGeom prst="rect">
            <a:avLst/>
          </a:prstGeom>
          <a:noFill/>
        </p:spPr>
        <p:txBody>
          <a:bodyPr wrap="square">
            <a:spAutoFit/>
          </a:bodyPr>
          <a:lstStyle/>
          <a:p>
            <a:r>
              <a:rPr lang="en-US" b="1" dirty="0">
                <a:effectLst/>
                <a:latin typeface="Google Sans Text"/>
              </a:rPr>
              <a:t>Why Negative Binomial?    </a:t>
            </a:r>
            <a:r>
              <a:rPr lang="en-US" dirty="0">
                <a:effectLst/>
                <a:latin typeface="Google Sans Text"/>
              </a:rPr>
              <a:t>In-person visit counts are over-dispersed (variance &gt; mean)</a:t>
            </a:r>
          </a:p>
        </p:txBody>
      </p:sp>
    </p:spTree>
    <p:extLst>
      <p:ext uri="{BB962C8B-B14F-4D97-AF65-F5344CB8AC3E}">
        <p14:creationId xmlns:p14="http://schemas.microsoft.com/office/powerpoint/2010/main" val="73782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2: Telehealth Visits Counts</a:t>
            </a:r>
            <a:endParaRPr dirty="0"/>
          </a:p>
        </p:txBody>
      </p:sp>
      <p:pic>
        <p:nvPicPr>
          <p:cNvPr id="6" name="Picture 5">
            <a:extLst>
              <a:ext uri="{FF2B5EF4-FFF2-40B4-BE49-F238E27FC236}">
                <a16:creationId xmlns:a16="http://schemas.microsoft.com/office/drawing/2014/main" id="{8C3D67CD-6C9D-FC4A-1079-635A0D5AF678}"/>
              </a:ext>
            </a:extLst>
          </p:cNvPr>
          <p:cNvPicPr>
            <a:picLocks noChangeAspect="1"/>
          </p:cNvPicPr>
          <p:nvPr/>
        </p:nvPicPr>
        <p:blipFill>
          <a:blip r:embed="rId3"/>
          <a:stretch>
            <a:fillRect/>
          </a:stretch>
        </p:blipFill>
        <p:spPr>
          <a:xfrm>
            <a:off x="584200" y="1569565"/>
            <a:ext cx="8258640" cy="3048617"/>
          </a:xfrm>
          <a:prstGeom prst="rect">
            <a:avLst/>
          </a:prstGeom>
        </p:spPr>
      </p:pic>
      <p:sp>
        <p:nvSpPr>
          <p:cNvPr id="8" name="TextBox 7">
            <a:extLst>
              <a:ext uri="{FF2B5EF4-FFF2-40B4-BE49-F238E27FC236}">
                <a16:creationId xmlns:a16="http://schemas.microsoft.com/office/drawing/2014/main" id="{2D3E1EF2-B959-7AE6-F2DB-1799ABE01E3E}"/>
              </a:ext>
            </a:extLst>
          </p:cNvPr>
          <p:cNvSpPr txBox="1"/>
          <p:nvPr/>
        </p:nvSpPr>
        <p:spPr>
          <a:xfrm>
            <a:off x="518160" y="4770109"/>
            <a:ext cx="8168640" cy="2031325"/>
          </a:xfrm>
          <a:prstGeom prst="rect">
            <a:avLst/>
          </a:prstGeom>
          <a:noFill/>
        </p:spPr>
        <p:txBody>
          <a:bodyPr wrap="square">
            <a:spAutoFit/>
          </a:bodyPr>
          <a:lstStyle/>
          <a:p>
            <a:r>
              <a:rPr lang="en-US" b="1" i="0" u="none" strike="noStrike" dirty="0">
                <a:solidFill>
                  <a:srgbClr val="000000"/>
                </a:solidFill>
                <a:effectLst/>
                <a:latin typeface="Roboto" panose="02000000000000000000" pitchFamily="2" charset="0"/>
              </a:rPr>
              <a:t>Interpretation:</a:t>
            </a:r>
            <a:r>
              <a:rPr lang="en-US" b="0" i="0" u="none" strike="noStrike" dirty="0">
                <a:solidFill>
                  <a:srgbClr val="000000"/>
                </a:solidFill>
                <a:effectLst/>
                <a:latin typeface="Roboto" panose="02000000000000000000" pitchFamily="2" charset="0"/>
              </a:rPr>
              <a:t> Higher-income children had </a:t>
            </a:r>
            <a:r>
              <a:rPr lang="en-US" b="1" dirty="0">
                <a:solidFill>
                  <a:srgbClr val="000000"/>
                </a:solidFill>
                <a:latin typeface="Roboto" panose="02000000000000000000" pitchFamily="2" charset="0"/>
              </a:rPr>
              <a:t>3</a:t>
            </a:r>
            <a:r>
              <a:rPr lang="en-US" b="1" i="0" u="none" strike="noStrike" dirty="0">
                <a:effectLst/>
                <a:latin typeface="Roboto" panose="02000000000000000000" pitchFamily="2" charset="0"/>
              </a:rPr>
              <a:t>×</a:t>
            </a:r>
            <a:r>
              <a:rPr lang="en-US" b="0" i="0" u="none" strike="noStrike" dirty="0">
                <a:solidFill>
                  <a:srgbClr val="000000"/>
                </a:solidFill>
                <a:effectLst/>
                <a:latin typeface="Roboto" panose="02000000000000000000" pitchFamily="2" charset="0"/>
              </a:rPr>
              <a:t> more telehealth visits than the lowest-income group. Uninsured children had </a:t>
            </a:r>
            <a:r>
              <a:rPr lang="en-US" b="1" i="0" u="none" strike="noStrike" dirty="0">
                <a:effectLst/>
                <a:latin typeface="Roboto" panose="02000000000000000000" pitchFamily="2" charset="0"/>
              </a:rPr>
              <a:t>97% fewer</a:t>
            </a:r>
            <a:r>
              <a:rPr lang="en-US" b="0" i="0" u="none" strike="noStrike" dirty="0">
                <a:solidFill>
                  <a:srgbClr val="000000"/>
                </a:solidFill>
                <a:effectLst/>
                <a:latin typeface="Roboto" panose="02000000000000000000" pitchFamily="2" charset="0"/>
              </a:rPr>
              <a:t> visits.</a:t>
            </a:r>
          </a:p>
          <a:p>
            <a:endParaRPr lang="en-US" dirty="0">
              <a:solidFill>
                <a:srgbClr val="000000"/>
              </a:solidFill>
              <a:latin typeface="Roboto" panose="02000000000000000000" pitchFamily="2" charset="0"/>
            </a:endParaRPr>
          </a:p>
          <a:p>
            <a:r>
              <a:rPr lang="en-US" b="1" dirty="0">
                <a:latin typeface="Google Sans Text"/>
              </a:rPr>
              <a:t>Post-2021 Collapse:</a:t>
            </a:r>
          </a:p>
          <a:p>
            <a:r>
              <a:rPr lang="en-US" dirty="0">
                <a:latin typeface="Google Sans Text"/>
              </a:rPr>
              <a:t>Visit intensity drops sharply in 2022 (IRR = 0.43) and 2023 (IRR = 0.34), confirming a broad contraction in telehealth use.</a:t>
            </a:r>
          </a:p>
          <a:p>
            <a:endParaRPr lang="en-US" dirty="0"/>
          </a:p>
        </p:txBody>
      </p:sp>
      <p:sp>
        <p:nvSpPr>
          <p:cNvPr id="3" name="Oval 2">
            <a:extLst>
              <a:ext uri="{FF2B5EF4-FFF2-40B4-BE49-F238E27FC236}">
                <a16:creationId xmlns:a16="http://schemas.microsoft.com/office/drawing/2014/main" id="{D3F1F30A-7802-B293-BF5D-C536AAC27971}"/>
              </a:ext>
            </a:extLst>
          </p:cNvPr>
          <p:cNvSpPr/>
          <p:nvPr/>
        </p:nvSpPr>
        <p:spPr>
          <a:xfrm>
            <a:off x="4474464" y="3755136"/>
            <a:ext cx="499872" cy="35356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B798E-D782-E580-9E19-7A352785B126}"/>
              </a:ext>
            </a:extLst>
          </p:cNvPr>
          <p:cNvSpPr>
            <a:spLocks noGrp="1"/>
          </p:cNvSpPr>
          <p:nvPr>
            <p:ph type="title"/>
          </p:nvPr>
        </p:nvSpPr>
        <p:spPr/>
        <p:txBody>
          <a:bodyPr/>
          <a:lstStyle/>
          <a:p>
            <a:r>
              <a:rPr lang="en-US" dirty="0" err="1"/>
              <a:t>marginsplot</a:t>
            </a:r>
            <a:endParaRPr lang="en-US" dirty="0"/>
          </a:p>
        </p:txBody>
      </p:sp>
      <p:pic>
        <p:nvPicPr>
          <p:cNvPr id="4" name="Picture 3">
            <a:extLst>
              <a:ext uri="{FF2B5EF4-FFF2-40B4-BE49-F238E27FC236}">
                <a16:creationId xmlns:a16="http://schemas.microsoft.com/office/drawing/2014/main" id="{202C0D4D-F8D1-C9F2-3DB4-25B78BB8D2B2}"/>
              </a:ext>
            </a:extLst>
          </p:cNvPr>
          <p:cNvPicPr>
            <a:picLocks noChangeAspect="1"/>
          </p:cNvPicPr>
          <p:nvPr/>
        </p:nvPicPr>
        <p:blipFill>
          <a:blip r:embed="rId2"/>
          <a:stretch>
            <a:fillRect/>
          </a:stretch>
        </p:blipFill>
        <p:spPr>
          <a:xfrm>
            <a:off x="200925" y="1198182"/>
            <a:ext cx="8742150" cy="5245290"/>
          </a:xfrm>
          <a:prstGeom prst="rect">
            <a:avLst/>
          </a:prstGeom>
        </p:spPr>
      </p:pic>
    </p:spTree>
    <p:extLst>
      <p:ext uri="{BB962C8B-B14F-4D97-AF65-F5344CB8AC3E}">
        <p14:creationId xmlns:p14="http://schemas.microsoft.com/office/powerpoint/2010/main" val="3037621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CBDB4-9926-C26F-1CEF-621BACE5F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E553F-8DC0-746D-4E99-259F541534FA}"/>
              </a:ext>
            </a:extLst>
          </p:cNvPr>
          <p:cNvSpPr>
            <a:spLocks noGrp="1"/>
          </p:cNvSpPr>
          <p:nvPr>
            <p:ph type="title"/>
          </p:nvPr>
        </p:nvSpPr>
        <p:spPr/>
        <p:txBody>
          <a:bodyPr>
            <a:normAutofit/>
          </a:bodyPr>
          <a:lstStyle/>
          <a:p>
            <a:r>
              <a:rPr lang="en-US" sz="2800" dirty="0"/>
              <a:t>Supplementation (Model 3): In-Person Visit Intensity</a:t>
            </a:r>
            <a:br>
              <a:rPr lang="en-US" sz="2800" dirty="0"/>
            </a:br>
            <a:r>
              <a:rPr lang="en-US" sz="2800" dirty="0"/>
              <a:t>(Negative Binomial Regression)</a:t>
            </a:r>
            <a:endParaRPr sz="2800" dirty="0"/>
          </a:p>
        </p:txBody>
      </p:sp>
      <p:sp>
        <p:nvSpPr>
          <p:cNvPr id="9" name="TextBox 8">
            <a:extLst>
              <a:ext uri="{FF2B5EF4-FFF2-40B4-BE49-F238E27FC236}">
                <a16:creationId xmlns:a16="http://schemas.microsoft.com/office/drawing/2014/main" id="{B223C604-8E56-4ABA-E309-1EA9482CAB73}"/>
              </a:ext>
            </a:extLst>
          </p:cNvPr>
          <p:cNvSpPr txBox="1"/>
          <p:nvPr/>
        </p:nvSpPr>
        <p:spPr>
          <a:xfrm>
            <a:off x="457200" y="1417638"/>
            <a:ext cx="8324088" cy="923330"/>
          </a:xfrm>
          <a:prstGeom prst="rect">
            <a:avLst/>
          </a:prstGeom>
          <a:noFill/>
        </p:spPr>
        <p:txBody>
          <a:bodyPr wrap="square" rtlCol="0">
            <a:spAutoFit/>
          </a:bodyPr>
          <a:lstStyle/>
          <a:p>
            <a:r>
              <a:rPr lang="en-US" b="1" dirty="0"/>
              <a:t>Research Question: </a:t>
            </a:r>
            <a:r>
              <a:rPr lang="en-US" dirty="0"/>
              <a:t>Do socioeconomic and insurance groups differ in how many in-person visits children receive, and does this pattern indicate substitution (telehealth replacing care) or supplementation (telehealth adding onto care)?</a:t>
            </a:r>
          </a:p>
        </p:txBody>
      </p:sp>
      <p:sp>
        <p:nvSpPr>
          <p:cNvPr id="11" name="TextBox 10">
            <a:extLst>
              <a:ext uri="{FF2B5EF4-FFF2-40B4-BE49-F238E27FC236}">
                <a16:creationId xmlns:a16="http://schemas.microsoft.com/office/drawing/2014/main" id="{3E3120F9-8AB8-3235-3EAA-1B66547DD7DE}"/>
              </a:ext>
            </a:extLst>
          </p:cNvPr>
          <p:cNvSpPr txBox="1"/>
          <p:nvPr/>
        </p:nvSpPr>
        <p:spPr>
          <a:xfrm>
            <a:off x="409956" y="3427257"/>
            <a:ext cx="8324088" cy="369332"/>
          </a:xfrm>
          <a:prstGeom prst="rect">
            <a:avLst/>
          </a:prstGeom>
          <a:noFill/>
        </p:spPr>
        <p:txBody>
          <a:bodyPr wrap="square">
            <a:spAutoFit/>
          </a:bodyPr>
          <a:lstStyle/>
          <a:p>
            <a:r>
              <a:rPr lang="en-US" b="1" dirty="0">
                <a:effectLst/>
                <a:latin typeface="Google Sans Text"/>
              </a:rPr>
              <a:t>Why Negative Binomial?    </a:t>
            </a:r>
            <a:r>
              <a:rPr lang="en-US" dirty="0">
                <a:effectLst/>
                <a:latin typeface="Google Sans Text"/>
              </a:rPr>
              <a:t>In-person visit counts are over-dispersed (variance &gt; mean)</a:t>
            </a:r>
          </a:p>
        </p:txBody>
      </p:sp>
      <p:pic>
        <p:nvPicPr>
          <p:cNvPr id="5" name="Picture 4">
            <a:extLst>
              <a:ext uri="{FF2B5EF4-FFF2-40B4-BE49-F238E27FC236}">
                <a16:creationId xmlns:a16="http://schemas.microsoft.com/office/drawing/2014/main" id="{9F0492B5-2BDA-55E1-C069-DBB93F9DEA89}"/>
              </a:ext>
            </a:extLst>
          </p:cNvPr>
          <p:cNvPicPr>
            <a:picLocks noChangeAspect="1"/>
          </p:cNvPicPr>
          <p:nvPr/>
        </p:nvPicPr>
        <p:blipFill>
          <a:blip r:embed="rId3"/>
          <a:stretch>
            <a:fillRect/>
          </a:stretch>
        </p:blipFill>
        <p:spPr>
          <a:xfrm>
            <a:off x="551688" y="2474348"/>
            <a:ext cx="7772400" cy="421519"/>
          </a:xfrm>
          <a:prstGeom prst="rect">
            <a:avLst/>
          </a:prstGeom>
        </p:spPr>
      </p:pic>
      <p:sp>
        <p:nvSpPr>
          <p:cNvPr id="6" name="TextBox 5">
            <a:extLst>
              <a:ext uri="{FF2B5EF4-FFF2-40B4-BE49-F238E27FC236}">
                <a16:creationId xmlns:a16="http://schemas.microsoft.com/office/drawing/2014/main" id="{17686A96-371C-B0B6-0BAE-E1E8AF919323}"/>
              </a:ext>
            </a:extLst>
          </p:cNvPr>
          <p:cNvSpPr txBox="1"/>
          <p:nvPr/>
        </p:nvSpPr>
        <p:spPr>
          <a:xfrm>
            <a:off x="409956" y="4327979"/>
            <a:ext cx="8276844" cy="2031325"/>
          </a:xfrm>
          <a:prstGeom prst="rect">
            <a:avLst/>
          </a:prstGeom>
          <a:noFill/>
        </p:spPr>
        <p:txBody>
          <a:bodyPr wrap="square" rtlCol="0">
            <a:spAutoFit/>
          </a:bodyPr>
          <a:lstStyle/>
          <a:p>
            <a:r>
              <a:rPr lang="en-US" b="1" dirty="0"/>
              <a:t>RESULT</a:t>
            </a:r>
          </a:p>
          <a:p>
            <a:pPr marL="285750" indent="-285750">
              <a:buFont typeface="Arial" panose="020B0604020202020204" pitchFamily="34" charset="0"/>
              <a:buChar char="•"/>
            </a:pPr>
            <a:r>
              <a:rPr lang="en-US" dirty="0"/>
              <a:t>Higher-income children (&gt;400% FPL) have ~60% more in-person visits than poor children (IRR = 1.60, p &lt; 0.001). Low- and middle-income groups also show significantly higher use (IRR ≈ 1.24–1.25)</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CSHCN children have 4× more visits (IRR = 4.13, p &lt; 0.001), and poor health status and poor mental health significantly increase in-person utilization..</a:t>
            </a:r>
          </a:p>
        </p:txBody>
      </p:sp>
    </p:spTree>
    <p:extLst>
      <p:ext uri="{BB962C8B-B14F-4D97-AF65-F5344CB8AC3E}">
        <p14:creationId xmlns:p14="http://schemas.microsoft.com/office/powerpoint/2010/main" val="105708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0D60A-FA6D-21B0-E283-A8E0FC76C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EBABC-9890-3078-AF6C-5589A3AA4F8C}"/>
              </a:ext>
            </a:extLst>
          </p:cNvPr>
          <p:cNvSpPr>
            <a:spLocks noGrp="1"/>
          </p:cNvSpPr>
          <p:nvPr>
            <p:ph type="title"/>
          </p:nvPr>
        </p:nvSpPr>
        <p:spPr/>
        <p:txBody>
          <a:bodyPr>
            <a:normAutofit/>
          </a:bodyPr>
          <a:lstStyle/>
          <a:p>
            <a:r>
              <a:rPr lang="en-US" sz="2800" dirty="0"/>
              <a:t>Composition (Model 4): Telehealth Share of Care</a:t>
            </a:r>
            <a:endParaRPr sz="2800" dirty="0"/>
          </a:p>
        </p:txBody>
      </p:sp>
      <p:sp>
        <p:nvSpPr>
          <p:cNvPr id="9" name="TextBox 8">
            <a:extLst>
              <a:ext uri="{FF2B5EF4-FFF2-40B4-BE49-F238E27FC236}">
                <a16:creationId xmlns:a16="http://schemas.microsoft.com/office/drawing/2014/main" id="{528D64B5-CB73-BF8D-9170-401C65D9402A}"/>
              </a:ext>
            </a:extLst>
          </p:cNvPr>
          <p:cNvSpPr txBox="1"/>
          <p:nvPr/>
        </p:nvSpPr>
        <p:spPr>
          <a:xfrm>
            <a:off x="457200" y="1417638"/>
            <a:ext cx="8324088" cy="923330"/>
          </a:xfrm>
          <a:prstGeom prst="rect">
            <a:avLst/>
          </a:prstGeom>
          <a:noFill/>
        </p:spPr>
        <p:txBody>
          <a:bodyPr wrap="square" rtlCol="0">
            <a:spAutoFit/>
          </a:bodyPr>
          <a:lstStyle/>
          <a:p>
            <a:r>
              <a:rPr lang="en-US" b="1" dirty="0"/>
              <a:t>Research Question: </a:t>
            </a:r>
            <a:r>
              <a:rPr lang="en-US" dirty="0"/>
              <a:t>Does socioeconomic status or insurance predict the proportion of all outpatient care that children receive via telehealth (telehealth share = telehealth visits ÷ total visits)?</a:t>
            </a:r>
          </a:p>
        </p:txBody>
      </p:sp>
      <p:sp>
        <p:nvSpPr>
          <p:cNvPr id="11" name="TextBox 10">
            <a:extLst>
              <a:ext uri="{FF2B5EF4-FFF2-40B4-BE49-F238E27FC236}">
                <a16:creationId xmlns:a16="http://schemas.microsoft.com/office/drawing/2014/main" id="{BF9FF4D4-275D-014F-B8F8-7797FC31A875}"/>
              </a:ext>
            </a:extLst>
          </p:cNvPr>
          <p:cNvSpPr txBox="1"/>
          <p:nvPr/>
        </p:nvSpPr>
        <p:spPr>
          <a:xfrm>
            <a:off x="4850892" y="3150257"/>
            <a:ext cx="3930396" cy="923330"/>
          </a:xfrm>
          <a:prstGeom prst="rect">
            <a:avLst/>
          </a:prstGeom>
          <a:noFill/>
        </p:spPr>
        <p:txBody>
          <a:bodyPr wrap="square">
            <a:spAutoFit/>
          </a:bodyPr>
          <a:lstStyle/>
          <a:p>
            <a:r>
              <a:rPr lang="en-US" b="1" dirty="0">
                <a:effectLst/>
                <a:latin typeface="Google Sans Text"/>
              </a:rPr>
              <a:t>Why Tobit? </a:t>
            </a:r>
            <a:r>
              <a:rPr lang="en-US" dirty="0" err="1">
                <a:effectLst/>
                <a:latin typeface="Google Sans Text"/>
              </a:rPr>
              <a:t>tele_share</a:t>
            </a:r>
            <a:r>
              <a:rPr lang="en-US" dirty="0">
                <a:effectLst/>
                <a:latin typeface="Google Sans Text"/>
              </a:rPr>
              <a:t> is bounded (0–1), heavily left-censored at 0, and occasionally right-censored at 1.</a:t>
            </a:r>
          </a:p>
        </p:txBody>
      </p:sp>
      <p:sp>
        <p:nvSpPr>
          <p:cNvPr id="6" name="TextBox 5">
            <a:extLst>
              <a:ext uri="{FF2B5EF4-FFF2-40B4-BE49-F238E27FC236}">
                <a16:creationId xmlns:a16="http://schemas.microsoft.com/office/drawing/2014/main" id="{CAD99F2D-93F9-B401-316A-20AC788674E1}"/>
              </a:ext>
            </a:extLst>
          </p:cNvPr>
          <p:cNvSpPr txBox="1"/>
          <p:nvPr/>
        </p:nvSpPr>
        <p:spPr>
          <a:xfrm>
            <a:off x="409956" y="4132267"/>
            <a:ext cx="8276844" cy="2862322"/>
          </a:xfrm>
          <a:prstGeom prst="rect">
            <a:avLst/>
          </a:prstGeom>
          <a:noFill/>
        </p:spPr>
        <p:txBody>
          <a:bodyPr wrap="square" rtlCol="0">
            <a:spAutoFit/>
          </a:bodyPr>
          <a:lstStyle/>
          <a:p>
            <a:r>
              <a:rPr lang="en-US" b="1" dirty="0"/>
              <a:t>RESULT</a:t>
            </a:r>
          </a:p>
          <a:p>
            <a:pPr marL="285750" indent="-285750">
              <a:buFont typeface="Arial" panose="020B0604020202020204" pitchFamily="34" charset="0"/>
              <a:buChar char="•"/>
            </a:pPr>
            <a:r>
              <a:rPr lang="en-US" b="1" dirty="0"/>
              <a:t>SES Gradient: </a:t>
            </a:r>
            <a:r>
              <a:rPr lang="en-US" dirty="0"/>
              <a:t>High-Income Children Use Telehealth for a Larger Share of Care</a:t>
            </a:r>
          </a:p>
          <a:p>
            <a:r>
              <a:rPr lang="en-US" dirty="0"/>
              <a:t>	Children &gt;400% FPL have significantly higher telehealth share (</a:t>
            </a:r>
            <a:r>
              <a:rPr lang="el-GR" dirty="0"/>
              <a:t>β = 0.28, </a:t>
            </a:r>
            <a:r>
              <a:rPr lang="en-US" dirty="0"/>
              <a:t>p = 0.022). Middle-income is borderline significant (</a:t>
            </a:r>
            <a:r>
              <a:rPr lang="el-GR" dirty="0"/>
              <a:t>β ≈ 0.19, </a:t>
            </a:r>
            <a:r>
              <a:rPr lang="en-US" dirty="0"/>
              <a:t>p = 0.091).</a:t>
            </a:r>
          </a:p>
          <a:p>
            <a:pPr marL="285750" indent="-285750">
              <a:buFont typeface="Arial" panose="020B0604020202020204" pitchFamily="34" charset="0"/>
              <a:buChar char="•"/>
            </a:pPr>
            <a:r>
              <a:rPr lang="en-US" b="1" dirty="0"/>
              <a:t>Insurance Gap: </a:t>
            </a:r>
            <a:r>
              <a:rPr lang="en-US" dirty="0"/>
              <a:t>Uninsured Children Rely Least on Telehealth</a:t>
            </a:r>
          </a:p>
          <a:p>
            <a:pPr marL="285750" indent="-285750">
              <a:buFont typeface="Arial" panose="020B0604020202020204" pitchFamily="34" charset="0"/>
              <a:buChar char="•"/>
            </a:pPr>
            <a:r>
              <a:rPr lang="en-US" b="1" dirty="0"/>
              <a:t>Racial Differences Are Evident. </a:t>
            </a:r>
            <a:r>
              <a:rPr lang="en-US" dirty="0"/>
              <a:t>NH Black children have significantly lower telehealth share (</a:t>
            </a:r>
            <a:r>
              <a:rPr lang="el-GR" dirty="0"/>
              <a:t>β = –0.31, </a:t>
            </a:r>
            <a:r>
              <a:rPr lang="en-US" dirty="0"/>
              <a:t>p = 0.016). Asian differences are directionally similar but not significant.</a:t>
            </a:r>
          </a:p>
          <a:p>
            <a:pPr marL="285750" indent="-285750">
              <a:buFont typeface="Arial" panose="020B0604020202020204" pitchFamily="34" charset="0"/>
              <a:buChar char="•"/>
            </a:pPr>
            <a:r>
              <a:rPr lang="en-US" b="1" dirty="0"/>
              <a:t>High Clinical Need Strongly Increases Telehealth Share</a:t>
            </a:r>
          </a:p>
          <a:p>
            <a:endParaRPr lang="en-US" dirty="0"/>
          </a:p>
        </p:txBody>
      </p:sp>
      <p:pic>
        <p:nvPicPr>
          <p:cNvPr id="4" name="Picture 3">
            <a:extLst>
              <a:ext uri="{FF2B5EF4-FFF2-40B4-BE49-F238E27FC236}">
                <a16:creationId xmlns:a16="http://schemas.microsoft.com/office/drawing/2014/main" id="{CD5BA302-DAF5-8D16-A520-2701BD84DD61}"/>
              </a:ext>
            </a:extLst>
          </p:cNvPr>
          <p:cNvPicPr>
            <a:picLocks noChangeAspect="1"/>
          </p:cNvPicPr>
          <p:nvPr/>
        </p:nvPicPr>
        <p:blipFill>
          <a:blip r:embed="rId3"/>
          <a:stretch>
            <a:fillRect/>
          </a:stretch>
        </p:blipFill>
        <p:spPr>
          <a:xfrm>
            <a:off x="662178" y="2340968"/>
            <a:ext cx="7772400" cy="653431"/>
          </a:xfrm>
          <a:prstGeom prst="rect">
            <a:avLst/>
          </a:prstGeom>
        </p:spPr>
      </p:pic>
      <p:pic>
        <p:nvPicPr>
          <p:cNvPr id="7" name="Picture 6">
            <a:extLst>
              <a:ext uri="{FF2B5EF4-FFF2-40B4-BE49-F238E27FC236}">
                <a16:creationId xmlns:a16="http://schemas.microsoft.com/office/drawing/2014/main" id="{10F82F6B-438B-7DD1-B0FA-37CC80C053F8}"/>
              </a:ext>
            </a:extLst>
          </p:cNvPr>
          <p:cNvPicPr>
            <a:picLocks noChangeAspect="1"/>
          </p:cNvPicPr>
          <p:nvPr/>
        </p:nvPicPr>
        <p:blipFill>
          <a:blip r:embed="rId4"/>
          <a:stretch>
            <a:fillRect/>
          </a:stretch>
        </p:blipFill>
        <p:spPr>
          <a:xfrm>
            <a:off x="409956" y="3091578"/>
            <a:ext cx="4290388" cy="1040689"/>
          </a:xfrm>
          <a:prstGeom prst="rect">
            <a:avLst/>
          </a:prstGeom>
        </p:spPr>
      </p:pic>
    </p:spTree>
    <p:extLst>
      <p:ext uri="{BB962C8B-B14F-4D97-AF65-F5344CB8AC3E}">
        <p14:creationId xmlns:p14="http://schemas.microsoft.com/office/powerpoint/2010/main" val="1325967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endParaRPr dirty="0"/>
          </a:p>
        </p:txBody>
      </p:sp>
      <p:sp>
        <p:nvSpPr>
          <p:cNvPr id="3" name="Rectangle 1">
            <a:extLst>
              <a:ext uri="{FF2B5EF4-FFF2-40B4-BE49-F238E27FC236}">
                <a16:creationId xmlns:a16="http://schemas.microsoft.com/office/drawing/2014/main" id="{EA1D06E8-3099-1D33-80D2-6A368987934F}"/>
              </a:ext>
            </a:extLst>
          </p:cNvPr>
          <p:cNvSpPr>
            <a:spLocks noChangeArrowheads="1"/>
          </p:cNvSpPr>
          <p:nvPr/>
        </p:nvSpPr>
        <p:spPr bwMode="auto">
          <a:xfrm>
            <a:off x="457200" y="1475476"/>
            <a:ext cx="8229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rgbClr val="000000"/>
                </a:solidFill>
                <a:effectLst/>
              </a:rPr>
              <a:t>High-income children had </a:t>
            </a:r>
            <a:r>
              <a:rPr kumimoji="0" lang="en-US" altLang="en-US" sz="2400" b="1" i="0" u="none" strike="noStrike" cap="none" normalizeH="0" baseline="0" dirty="0">
                <a:ln>
                  <a:noFill/>
                </a:ln>
                <a:solidFill>
                  <a:srgbClr val="000000"/>
                </a:solidFill>
                <a:effectLst/>
              </a:rPr>
              <a:t>~3× more telehealth visits</a:t>
            </a:r>
            <a:r>
              <a:rPr kumimoji="0" lang="en-US" altLang="en-US" sz="2400" b="0" i="0" u="none" strike="noStrike" cap="none" normalizeH="0" baseline="0" dirty="0">
                <a:ln>
                  <a:noFill/>
                </a:ln>
                <a:solidFill>
                  <a:srgbClr val="000000"/>
                </a:solidFill>
                <a:effectLst/>
              </a:rPr>
              <a:t> and </a:t>
            </a:r>
            <a:r>
              <a:rPr kumimoji="0" lang="en-US" altLang="en-US" sz="2400" b="1" i="0" u="none" strike="noStrike" cap="none" normalizeH="0" baseline="0" dirty="0">
                <a:ln>
                  <a:noFill/>
                </a:ln>
                <a:solidFill>
                  <a:srgbClr val="000000"/>
                </a:solidFill>
                <a:effectLst/>
              </a:rPr>
              <a:t>~60% more in-person visits</a:t>
            </a:r>
            <a:r>
              <a:rPr kumimoji="0" lang="en-US" altLang="en-US" sz="2400" b="0" i="0" u="none" strike="noStrike" cap="none" normalizeH="0" baseline="0" dirty="0">
                <a:ln>
                  <a:noFill/>
                </a:ln>
                <a:solidFill>
                  <a:srgbClr val="000000"/>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rgbClr val="000000"/>
                </a:solidFill>
                <a:effectLst/>
              </a:rPr>
              <a:t>Uninsured children had </a:t>
            </a:r>
            <a:r>
              <a:rPr kumimoji="0" lang="en-US" altLang="en-US" sz="2400" b="1" i="0" u="none" strike="noStrike" cap="none" normalizeH="0" baseline="0" dirty="0">
                <a:ln>
                  <a:noFill/>
                </a:ln>
                <a:solidFill>
                  <a:srgbClr val="000000"/>
                </a:solidFill>
                <a:effectLst/>
              </a:rPr>
              <a:t>~94% fewer telehealth visits</a:t>
            </a:r>
            <a:r>
              <a:rPr kumimoji="0" lang="en-US" altLang="en-US" sz="2400" b="0" i="0" u="none" strike="noStrike" cap="none" normalizeH="0" baseline="0" dirty="0">
                <a:ln>
                  <a:noFill/>
                </a:ln>
                <a:solidFill>
                  <a:srgbClr val="000000"/>
                </a:solidFill>
                <a:effectLst/>
              </a:rPr>
              <a:t> (IRR ≈ 0.06).</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rgbClr val="000000"/>
                </a:solidFill>
                <a:effectLst/>
              </a:rPr>
              <a:t>NH Black children had </a:t>
            </a:r>
            <a:r>
              <a:rPr kumimoji="0" lang="en-US" altLang="en-US" sz="2400" b="1" i="0" u="none" strike="noStrike" cap="none" normalizeH="0" baseline="0" dirty="0">
                <a:ln>
                  <a:noFill/>
                </a:ln>
                <a:solidFill>
                  <a:srgbClr val="000000"/>
                </a:solidFill>
                <a:effectLst/>
              </a:rPr>
              <a:t>30–60% lower</a:t>
            </a:r>
            <a:r>
              <a:rPr kumimoji="0" lang="en-US" altLang="en-US" sz="2400" b="0" i="0" u="none" strike="noStrike" cap="none" normalizeH="0" baseline="0" dirty="0">
                <a:ln>
                  <a:noFill/>
                </a:ln>
                <a:solidFill>
                  <a:srgbClr val="000000"/>
                </a:solidFill>
                <a:effectLst/>
              </a:rPr>
              <a:t> use across models.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rgbClr val="000000"/>
                </a:solidFill>
                <a:effectLst/>
              </a:rPr>
              <a:t>CSHCN children had </a:t>
            </a:r>
            <a:r>
              <a:rPr kumimoji="0" lang="en-US" altLang="en-US" sz="2400" b="1" i="0" u="none" strike="noStrike" cap="none" normalizeH="0" baseline="0" dirty="0">
                <a:ln>
                  <a:noFill/>
                </a:ln>
                <a:solidFill>
                  <a:srgbClr val="000000"/>
                </a:solidFill>
                <a:effectLst/>
              </a:rPr>
              <a:t>4× more in-person visits</a:t>
            </a:r>
            <a:r>
              <a:rPr kumimoji="0" lang="en-US" altLang="en-US" sz="2400" b="0" i="0" u="none" strike="noStrike" cap="none" normalizeH="0" baseline="0" dirty="0">
                <a:ln>
                  <a:noFill/>
                </a:ln>
                <a:solidFill>
                  <a:srgbClr val="000000"/>
                </a:solidFill>
                <a:effectLst/>
              </a:rPr>
              <a:t> and </a:t>
            </a:r>
            <a:r>
              <a:rPr kumimoji="0" lang="en-US" altLang="en-US" sz="2400" b="1" i="0" u="none" strike="noStrike" cap="none" normalizeH="0" baseline="0" dirty="0">
                <a:ln>
                  <a:noFill/>
                </a:ln>
                <a:solidFill>
                  <a:srgbClr val="000000"/>
                </a:solidFill>
                <a:effectLst/>
              </a:rPr>
              <a:t>10× more telehealth visits</a:t>
            </a:r>
            <a:r>
              <a:rPr kumimoji="0" lang="en-US" altLang="en-US" sz="2400" b="0" i="0" u="none" strike="noStrike" cap="none" normalizeH="0" baseline="0" dirty="0">
                <a:ln>
                  <a:noFill/>
                </a:ln>
                <a:solidFill>
                  <a:srgbClr val="000000"/>
                </a:solidFill>
                <a:effectLst/>
              </a:rPr>
              <a:t>.</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rgbClr val="000000"/>
                </a:solidFill>
                <a:effectLst/>
              </a:rPr>
              <a:t>Telehealth share dropped from </a:t>
            </a:r>
            <a:r>
              <a:rPr kumimoji="0" lang="en-US" altLang="en-US" sz="2400" b="1" i="0" u="none" strike="noStrike" cap="none" normalizeH="0" baseline="0" dirty="0">
                <a:ln>
                  <a:noFill/>
                </a:ln>
                <a:solidFill>
                  <a:srgbClr val="000000"/>
                </a:solidFill>
                <a:effectLst/>
              </a:rPr>
              <a:t>~4–10% (2021)</a:t>
            </a:r>
            <a:r>
              <a:rPr kumimoji="0" lang="en-US" altLang="en-US" sz="2400" b="0" i="0" u="none" strike="noStrike" cap="none" normalizeH="0" baseline="0" dirty="0">
                <a:ln>
                  <a:noFill/>
                </a:ln>
                <a:solidFill>
                  <a:srgbClr val="000000"/>
                </a:solidFill>
                <a:effectLst/>
              </a:rPr>
              <a:t> to </a:t>
            </a:r>
            <a:r>
              <a:rPr kumimoji="0" lang="en-US" altLang="en-US" sz="2400" b="1" i="0" u="none" strike="noStrike" cap="none" normalizeH="0" baseline="0" dirty="0">
                <a:ln>
                  <a:noFill/>
                </a:ln>
                <a:solidFill>
                  <a:srgbClr val="000000"/>
                </a:solidFill>
                <a:effectLst/>
              </a:rPr>
              <a:t>~2–4% (2023)</a:t>
            </a:r>
            <a:r>
              <a:rPr kumimoji="0" lang="en-US" altLang="en-US" sz="2400" b="0" i="0" u="none" strike="noStrike" cap="none" normalizeH="0" baseline="0" dirty="0">
                <a:ln>
                  <a:noFill/>
                </a:ln>
                <a:solidFill>
                  <a:srgbClr val="000000"/>
                </a:solidFill>
                <a:effectLst/>
              </a:rPr>
              <a:t> across SES groups.</a:t>
            </a:r>
            <a:endParaRPr kumimoji="0" lang="en-US" altLang="en-US" sz="2400" b="0" i="0" u="none" strike="noStrike" cap="none" normalizeH="0" baseline="0" dirty="0">
              <a:ln>
                <a:noFill/>
              </a:ln>
              <a:solidFill>
                <a:schemeClr val="tx1"/>
              </a:solidFill>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BE8E5-9CDB-2AD1-5BCE-9A0CADEE0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DC1A50-6693-E878-ED70-C4071E6D2C92}"/>
              </a:ext>
            </a:extLst>
          </p:cNvPr>
          <p:cNvSpPr>
            <a:spLocks noGrp="1"/>
          </p:cNvSpPr>
          <p:nvPr>
            <p:ph type="title"/>
          </p:nvPr>
        </p:nvSpPr>
        <p:spPr/>
        <p:txBody>
          <a:bodyPr>
            <a:normAutofit/>
          </a:bodyPr>
          <a:lstStyle/>
          <a:p>
            <a:r>
              <a:rPr lang="en-US" sz="2800" dirty="0"/>
              <a:t>Model 5: Poverty × Year Interaction (Telehealth Visits)</a:t>
            </a:r>
            <a:endParaRPr sz="2800" dirty="0"/>
          </a:p>
        </p:txBody>
      </p:sp>
      <p:sp>
        <p:nvSpPr>
          <p:cNvPr id="9" name="TextBox 8">
            <a:extLst>
              <a:ext uri="{FF2B5EF4-FFF2-40B4-BE49-F238E27FC236}">
                <a16:creationId xmlns:a16="http://schemas.microsoft.com/office/drawing/2014/main" id="{28F9177C-2D91-A96D-42F4-EFBB19129DBD}"/>
              </a:ext>
            </a:extLst>
          </p:cNvPr>
          <p:cNvSpPr txBox="1"/>
          <p:nvPr/>
        </p:nvSpPr>
        <p:spPr>
          <a:xfrm>
            <a:off x="457200" y="1417638"/>
            <a:ext cx="8324088" cy="646331"/>
          </a:xfrm>
          <a:prstGeom prst="rect">
            <a:avLst/>
          </a:prstGeom>
          <a:noFill/>
        </p:spPr>
        <p:txBody>
          <a:bodyPr wrap="square" rtlCol="0">
            <a:spAutoFit/>
          </a:bodyPr>
          <a:lstStyle/>
          <a:p>
            <a:r>
              <a:rPr lang="en-US" b="1" dirty="0"/>
              <a:t>Research Question: </a:t>
            </a:r>
            <a:r>
              <a:rPr lang="en-US" dirty="0"/>
              <a:t>Is the SES gap in telehealth visit counts narrowing, widening, or stable from 2021–2023?</a:t>
            </a:r>
          </a:p>
        </p:txBody>
      </p:sp>
      <p:sp>
        <p:nvSpPr>
          <p:cNvPr id="6" name="TextBox 5">
            <a:extLst>
              <a:ext uri="{FF2B5EF4-FFF2-40B4-BE49-F238E27FC236}">
                <a16:creationId xmlns:a16="http://schemas.microsoft.com/office/drawing/2014/main" id="{8461981F-8B79-2307-C0C2-C0AADBD21353}"/>
              </a:ext>
            </a:extLst>
          </p:cNvPr>
          <p:cNvSpPr txBox="1"/>
          <p:nvPr/>
        </p:nvSpPr>
        <p:spPr>
          <a:xfrm>
            <a:off x="457200" y="3184979"/>
            <a:ext cx="8276844" cy="2031325"/>
          </a:xfrm>
          <a:prstGeom prst="rect">
            <a:avLst/>
          </a:prstGeom>
          <a:noFill/>
        </p:spPr>
        <p:txBody>
          <a:bodyPr wrap="square" rtlCol="0">
            <a:spAutoFit/>
          </a:bodyPr>
          <a:lstStyle/>
          <a:p>
            <a:r>
              <a:rPr lang="en-US" b="1" dirty="0"/>
              <a:t>RESULTS</a:t>
            </a:r>
          </a:p>
          <a:p>
            <a:pPr marL="285750" indent="-285750">
              <a:buFont typeface="Arial" panose="020B0604020202020204" pitchFamily="34" charset="0"/>
              <a:buChar char="•"/>
            </a:pPr>
            <a:r>
              <a:rPr lang="en-US" dirty="0"/>
              <a:t>Telehealth visits fall sharply for all poverty groups over time.</a:t>
            </a:r>
          </a:p>
          <a:p>
            <a:pPr marL="285750" indent="-285750">
              <a:buFont typeface="Arial" panose="020B0604020202020204" pitchFamily="34" charset="0"/>
              <a:buChar char="•"/>
            </a:pPr>
            <a:r>
              <a:rPr lang="en-US" dirty="0"/>
              <a:t>No Poverty × Year interaction is significant → gaps do not narrow or widen.</a:t>
            </a:r>
          </a:p>
          <a:p>
            <a:pPr marL="285750" indent="-285750">
              <a:buFont typeface="Arial" panose="020B0604020202020204" pitchFamily="34" charset="0"/>
              <a:buChar char="•"/>
            </a:pPr>
            <a:r>
              <a:rPr lang="en-US" dirty="0"/>
              <a:t>High-income children consistently have the highest use, poor children the lowest.</a:t>
            </a:r>
          </a:p>
          <a:p>
            <a:pPr marL="285750" indent="-285750">
              <a:buFont typeface="Arial" panose="020B0604020202020204" pitchFamily="34" charset="0"/>
              <a:buChar char="•"/>
            </a:pPr>
            <a:r>
              <a:rPr lang="en-US" dirty="0"/>
              <a:t>Decline is parallel across SES groups, indicating a system-wide contraction, not SES-specific change.</a:t>
            </a:r>
          </a:p>
          <a:p>
            <a:pPr marL="285750" indent="-285750">
              <a:buFont typeface="Arial" panose="020B0604020202020204" pitchFamily="34" charset="0"/>
              <a:buChar char="•"/>
            </a:pPr>
            <a:endParaRPr lang="en-US" dirty="0"/>
          </a:p>
        </p:txBody>
      </p:sp>
      <p:pic>
        <p:nvPicPr>
          <p:cNvPr id="7" name="Picture 6">
            <a:extLst>
              <a:ext uri="{FF2B5EF4-FFF2-40B4-BE49-F238E27FC236}">
                <a16:creationId xmlns:a16="http://schemas.microsoft.com/office/drawing/2014/main" id="{CC8CBF52-219C-8A80-CE49-D625C429F402}"/>
              </a:ext>
            </a:extLst>
          </p:cNvPr>
          <p:cNvPicPr>
            <a:picLocks noChangeAspect="1"/>
          </p:cNvPicPr>
          <p:nvPr/>
        </p:nvPicPr>
        <p:blipFill>
          <a:blip r:embed="rId3"/>
          <a:stretch>
            <a:fillRect/>
          </a:stretch>
        </p:blipFill>
        <p:spPr>
          <a:xfrm>
            <a:off x="457200" y="2223975"/>
            <a:ext cx="7772400" cy="521637"/>
          </a:xfrm>
          <a:prstGeom prst="rect">
            <a:avLst/>
          </a:prstGeom>
        </p:spPr>
      </p:pic>
    </p:spTree>
    <p:extLst>
      <p:ext uri="{BB962C8B-B14F-4D97-AF65-F5344CB8AC3E}">
        <p14:creationId xmlns:p14="http://schemas.microsoft.com/office/powerpoint/2010/main" val="4148108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EB2D3-9B79-6198-8D7A-D3CAA8EE6307}"/>
              </a:ext>
            </a:extLst>
          </p:cNvPr>
          <p:cNvSpPr>
            <a:spLocks noGrp="1"/>
          </p:cNvSpPr>
          <p:nvPr>
            <p:ph type="title"/>
          </p:nvPr>
        </p:nvSpPr>
        <p:spPr/>
        <p:txBody>
          <a:bodyPr/>
          <a:lstStyle/>
          <a:p>
            <a:r>
              <a:rPr lang="en-US" dirty="0"/>
              <a:t>The “Killer” Finding</a:t>
            </a:r>
          </a:p>
        </p:txBody>
      </p:sp>
      <p:pic>
        <p:nvPicPr>
          <p:cNvPr id="4" name="Content Placeholder 3">
            <a:extLst>
              <a:ext uri="{FF2B5EF4-FFF2-40B4-BE49-F238E27FC236}">
                <a16:creationId xmlns:a16="http://schemas.microsoft.com/office/drawing/2014/main" id="{70BC75B1-2FB5-F567-B960-9BF66C0C2D23}"/>
              </a:ext>
            </a:extLst>
          </p:cNvPr>
          <p:cNvPicPr>
            <a:picLocks noGrp="1" noChangeAspect="1"/>
          </p:cNvPicPr>
          <p:nvPr>
            <p:ph idx="1"/>
          </p:nvPr>
        </p:nvPicPr>
        <p:blipFill>
          <a:blip r:embed="rId3"/>
          <a:stretch>
            <a:fillRect/>
          </a:stretch>
        </p:blipFill>
        <p:spPr>
          <a:xfrm>
            <a:off x="984504" y="1066800"/>
            <a:ext cx="7174992" cy="4304995"/>
          </a:xfrm>
          <a:prstGeom prst="rect">
            <a:avLst/>
          </a:prstGeom>
        </p:spPr>
      </p:pic>
      <p:sp>
        <p:nvSpPr>
          <p:cNvPr id="6" name="TextBox 5">
            <a:extLst>
              <a:ext uri="{FF2B5EF4-FFF2-40B4-BE49-F238E27FC236}">
                <a16:creationId xmlns:a16="http://schemas.microsoft.com/office/drawing/2014/main" id="{D7493860-A300-4497-5CC5-44F9D43E729A}"/>
              </a:ext>
            </a:extLst>
          </p:cNvPr>
          <p:cNvSpPr txBox="1"/>
          <p:nvPr/>
        </p:nvSpPr>
        <p:spPr>
          <a:xfrm>
            <a:off x="359664" y="5371795"/>
            <a:ext cx="8327136" cy="923330"/>
          </a:xfrm>
          <a:prstGeom prst="rect">
            <a:avLst/>
          </a:prstGeom>
          <a:noFill/>
        </p:spPr>
        <p:txBody>
          <a:bodyPr wrap="square">
            <a:spAutoFit/>
          </a:bodyPr>
          <a:lstStyle/>
          <a:p>
            <a:r>
              <a:rPr lang="en-US" b="1" dirty="0"/>
              <a:t>Key Takeaway:</a:t>
            </a:r>
            <a:endParaRPr lang="en-US" dirty="0"/>
          </a:p>
          <a:p>
            <a:pPr lvl="1"/>
            <a:r>
              <a:rPr lang="en-US" dirty="0"/>
              <a:t>The "relative gap" doubled from </a:t>
            </a:r>
            <a:r>
              <a:rPr lang="en-US" b="1" dirty="0"/>
              <a:t>2.2x</a:t>
            </a:r>
            <a:r>
              <a:rPr lang="en-US" dirty="0"/>
              <a:t> (2021) to </a:t>
            </a:r>
            <a:r>
              <a:rPr lang="en-US" b="1" dirty="0"/>
              <a:t>4.5x</a:t>
            </a:r>
            <a:r>
              <a:rPr lang="en-US" dirty="0"/>
              <a:t> (2023).</a:t>
            </a:r>
          </a:p>
          <a:p>
            <a:pPr lvl="1"/>
            <a:r>
              <a:rPr lang="en-US" dirty="0"/>
              <a:t>Telehealth is not bridging the access gap; it is becoming a luxury good.</a:t>
            </a:r>
          </a:p>
        </p:txBody>
      </p:sp>
    </p:spTree>
    <p:extLst>
      <p:ext uri="{BB962C8B-B14F-4D97-AF65-F5344CB8AC3E}">
        <p14:creationId xmlns:p14="http://schemas.microsoft.com/office/powerpoint/2010/main" val="824026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olidFill>
                  <a:schemeClr val="tx1">
                    <a:lumMod val="85000"/>
                    <a:lumOff val="15000"/>
                  </a:schemeClr>
                </a:solidFill>
              </a:rPr>
              <a:t>Limitations</a:t>
            </a:r>
          </a:p>
        </p:txBody>
      </p:sp>
      <p:sp>
        <p:nvSpPr>
          <p:cNvPr id="5" name="Rectangle 2">
            <a:extLst>
              <a:ext uri="{FF2B5EF4-FFF2-40B4-BE49-F238E27FC236}">
                <a16:creationId xmlns:a16="http://schemas.microsoft.com/office/drawing/2014/main" id="{1F6D665E-44A9-A0B3-7620-344BCE41801C}"/>
              </a:ext>
            </a:extLst>
          </p:cNvPr>
          <p:cNvSpPr>
            <a:spLocks noGrp="1" noChangeArrowheads="1"/>
          </p:cNvSpPr>
          <p:nvPr>
            <p:ph idx="1"/>
          </p:nvPr>
        </p:nvSpPr>
        <p:spPr bwMode="auto">
          <a:xfrm>
            <a:off x="134112" y="1231691"/>
            <a:ext cx="8887968"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1" i="0" u="none" strike="noStrike" cap="none" normalizeH="0" baseline="0" dirty="0">
                <a:ln>
                  <a:noFill/>
                </a:ln>
                <a:solidFill>
                  <a:srgbClr val="000000"/>
                </a:solidFill>
                <a:effectLst/>
                <a:latin typeface="+mn-lt"/>
              </a:rPr>
              <a:t>Heavy Zero-Inflation &amp; Censoring</a:t>
            </a:r>
            <a:br>
              <a:rPr kumimoji="0" lang="en-US" altLang="en-US" sz="1400" b="0" i="0" u="none" strike="noStrike" cap="none" normalizeH="0" baseline="0" dirty="0">
                <a:ln>
                  <a:noFill/>
                </a:ln>
                <a:solidFill>
                  <a:srgbClr val="000000"/>
                </a:solidFill>
                <a:effectLst/>
                <a:latin typeface="+mn-lt"/>
              </a:rPr>
            </a:br>
            <a:r>
              <a:rPr kumimoji="0" lang="en-US" altLang="en-US" sz="1400" b="0" i="0" u="none" strike="noStrike" cap="none" normalizeH="0" baseline="0" dirty="0">
                <a:ln>
                  <a:noFill/>
                </a:ln>
                <a:solidFill>
                  <a:srgbClr val="000000"/>
                </a:solidFill>
                <a:effectLst/>
                <a:highlight>
                  <a:srgbClr val="FFFF00"/>
                </a:highlight>
                <a:latin typeface="+mn-lt"/>
              </a:rPr>
              <a:t>Most children had </a:t>
            </a:r>
            <a:r>
              <a:rPr kumimoji="0" lang="en-US" altLang="en-US" sz="1400" b="1" i="0" u="none" strike="noStrike" cap="none" normalizeH="0" baseline="0" dirty="0">
                <a:ln>
                  <a:noFill/>
                </a:ln>
                <a:solidFill>
                  <a:srgbClr val="000000"/>
                </a:solidFill>
                <a:effectLst/>
                <a:highlight>
                  <a:srgbClr val="FFFF00"/>
                </a:highlight>
                <a:latin typeface="+mn-lt"/>
              </a:rPr>
              <a:t>zero telehealth visits</a:t>
            </a:r>
            <a:r>
              <a:rPr kumimoji="0" lang="en-US" altLang="en-US" sz="1400" b="0" i="0" u="none" strike="noStrike" cap="none" normalizeH="0" baseline="0" dirty="0">
                <a:ln>
                  <a:noFill/>
                </a:ln>
                <a:solidFill>
                  <a:srgbClr val="000000"/>
                </a:solidFill>
                <a:effectLst/>
                <a:latin typeface="+mn-lt"/>
              </a:rPr>
              <a:t>, creating strong left-censoring for Tobit and overdispersion for count models; estimates are stable but inherently imprecise for rare users.</a:t>
            </a:r>
            <a:endParaRPr kumimoji="0" lang="en-US" altLang="en-US" sz="1400" b="0" i="0" u="none" strike="noStrike" cap="none" normalizeH="0" baseline="0" dirty="0">
              <a:ln>
                <a:noFill/>
              </a:ln>
              <a:solidFill>
                <a:schemeClr val="tx1"/>
              </a:solidFill>
              <a:effectLst/>
              <a:latin typeface="+mn-lt"/>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1" i="0" u="none" strike="noStrike" cap="none" normalizeH="0" baseline="0" dirty="0">
                <a:ln>
                  <a:noFill/>
                </a:ln>
                <a:solidFill>
                  <a:srgbClr val="000000"/>
                </a:solidFill>
                <a:effectLst/>
                <a:latin typeface="+mn-lt"/>
              </a:rPr>
              <a:t>SES &amp; Insurance Misclassification</a:t>
            </a:r>
            <a:br>
              <a:rPr kumimoji="0" lang="en-US" altLang="en-US" sz="1400" b="0" i="0" u="none" strike="noStrike" cap="none" normalizeH="0" baseline="0" dirty="0">
                <a:ln>
                  <a:noFill/>
                </a:ln>
                <a:solidFill>
                  <a:srgbClr val="000000"/>
                </a:solidFill>
                <a:effectLst/>
                <a:latin typeface="+mn-lt"/>
              </a:rPr>
            </a:br>
            <a:r>
              <a:rPr kumimoji="0" lang="en-US" altLang="en-US" sz="1400" b="0" i="0" u="none" strike="noStrike" cap="none" normalizeH="0" baseline="0" dirty="0">
                <a:ln>
                  <a:noFill/>
                </a:ln>
                <a:solidFill>
                  <a:srgbClr val="000000"/>
                </a:solidFill>
                <a:effectLst/>
                <a:latin typeface="+mn-lt"/>
              </a:rPr>
              <a:t>MEPS captures </a:t>
            </a:r>
            <a:r>
              <a:rPr kumimoji="0" lang="en-US" altLang="en-US" sz="1400" b="1" i="0" u="none" strike="noStrike" cap="none" normalizeH="0" baseline="0" dirty="0">
                <a:ln>
                  <a:noFill/>
                </a:ln>
                <a:solidFill>
                  <a:srgbClr val="000000"/>
                </a:solidFill>
                <a:effectLst/>
                <a:latin typeface="+mn-lt"/>
              </a:rPr>
              <a:t>current annual insurance</a:t>
            </a:r>
            <a:r>
              <a:rPr kumimoji="0" lang="en-US" altLang="en-US" sz="1400" b="0" i="0" u="none" strike="noStrike" cap="none" normalizeH="0" baseline="0" dirty="0">
                <a:ln>
                  <a:noFill/>
                </a:ln>
                <a:solidFill>
                  <a:srgbClr val="000000"/>
                </a:solidFill>
                <a:effectLst/>
                <a:latin typeface="+mn-lt"/>
              </a:rPr>
              <a:t> and family income, not month-to-month churn or precise eligibility thresholds, limiting sensitivity of SES contrasts.</a:t>
            </a:r>
            <a:endParaRPr kumimoji="0" lang="en-US" altLang="en-US" sz="1400" b="0" i="0" u="none" strike="noStrike" cap="none" normalizeH="0" baseline="0" dirty="0">
              <a:ln>
                <a:noFill/>
              </a:ln>
              <a:solidFill>
                <a:schemeClr val="tx1"/>
              </a:solidFill>
              <a:effectLst/>
              <a:latin typeface="+mn-lt"/>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1" i="0" u="none" strike="noStrike" cap="none" normalizeH="0" baseline="0" dirty="0">
                <a:ln>
                  <a:noFill/>
                </a:ln>
                <a:solidFill>
                  <a:srgbClr val="000000"/>
                </a:solidFill>
                <a:effectLst/>
                <a:latin typeface="+mn-lt"/>
              </a:rPr>
              <a:t>Behavioral vs. Non-Behavioral Care Cannot Be Cleanly Separated</a:t>
            </a:r>
            <a:br>
              <a:rPr kumimoji="0" lang="en-US" altLang="en-US" sz="1400" b="0" i="0" u="none" strike="noStrike" cap="none" normalizeH="0" baseline="0" dirty="0">
                <a:ln>
                  <a:noFill/>
                </a:ln>
                <a:solidFill>
                  <a:srgbClr val="000000"/>
                </a:solidFill>
                <a:effectLst/>
                <a:latin typeface="+mn-lt"/>
              </a:rPr>
            </a:br>
            <a:r>
              <a:rPr kumimoji="0" lang="en-US" altLang="en-US" sz="1400" b="0" i="0" u="none" strike="noStrike" cap="none" normalizeH="0" baseline="0" dirty="0">
                <a:ln>
                  <a:noFill/>
                </a:ln>
                <a:solidFill>
                  <a:srgbClr val="000000"/>
                </a:solidFill>
                <a:effectLst/>
                <a:latin typeface="+mn-lt"/>
              </a:rPr>
              <a:t>MEPS does not reliably distinguish </a:t>
            </a:r>
            <a:r>
              <a:rPr kumimoji="0" lang="en-US" altLang="en-US" sz="1400" b="1" i="0" u="none" strike="noStrike" cap="none" normalizeH="0" baseline="0" dirty="0">
                <a:ln>
                  <a:noFill/>
                </a:ln>
                <a:solidFill>
                  <a:srgbClr val="000000"/>
                </a:solidFill>
                <a:effectLst/>
                <a:latin typeface="+mn-lt"/>
              </a:rPr>
              <a:t>mental/behavioral telehealth</a:t>
            </a:r>
            <a:r>
              <a:rPr kumimoji="0" lang="en-US" altLang="en-US" sz="1400" b="0" i="0" u="none" strike="noStrike" cap="none" normalizeH="0" baseline="0" dirty="0">
                <a:ln>
                  <a:noFill/>
                </a:ln>
                <a:solidFill>
                  <a:srgbClr val="000000"/>
                </a:solidFill>
                <a:effectLst/>
                <a:latin typeface="+mn-lt"/>
              </a:rPr>
              <a:t> from general medical telehealth, which matters because uptake patterns differ sharply by specialty.</a:t>
            </a:r>
            <a:endParaRPr kumimoji="0" lang="en-US" altLang="en-US" sz="1400" b="0" i="0" u="none" strike="noStrike" cap="none" normalizeH="0" baseline="0" dirty="0">
              <a:ln>
                <a:noFill/>
              </a:ln>
              <a:solidFill>
                <a:schemeClr val="tx1"/>
              </a:solidFill>
              <a:effectLst/>
              <a:latin typeface="+mn-lt"/>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1" i="0" u="none" strike="noStrike" cap="none" normalizeH="0" baseline="0" dirty="0">
                <a:ln>
                  <a:noFill/>
                </a:ln>
                <a:solidFill>
                  <a:srgbClr val="000000"/>
                </a:solidFill>
                <a:effectLst/>
                <a:latin typeface="+mn-lt"/>
              </a:rPr>
              <a:t>Cross-Sectional Pooled Design </a:t>
            </a:r>
            <a:r>
              <a:rPr kumimoji="0" lang="en-US" altLang="en-US" sz="1400" b="1" i="0" u="none" strike="noStrike" cap="none" normalizeH="0" baseline="0" dirty="0">
                <a:ln>
                  <a:noFill/>
                </a:ln>
                <a:solidFill>
                  <a:srgbClr val="000000"/>
                </a:solidFill>
                <a:effectLst/>
                <a:highlight>
                  <a:srgbClr val="FFFF00"/>
                </a:highlight>
                <a:latin typeface="+mn-lt"/>
              </a:rPr>
              <a:t>NOT Causal Inference </a:t>
            </a:r>
            <a:br>
              <a:rPr kumimoji="0" lang="en-US" altLang="en-US" sz="1400" b="0" i="0" u="none" strike="noStrike" cap="none" normalizeH="0" baseline="0" dirty="0">
                <a:ln>
                  <a:noFill/>
                </a:ln>
                <a:solidFill>
                  <a:srgbClr val="000000"/>
                </a:solidFill>
                <a:effectLst/>
                <a:latin typeface="+mn-lt"/>
              </a:rPr>
            </a:br>
            <a:r>
              <a:rPr kumimoji="0" lang="en-US" altLang="en-US" sz="1400" b="0" i="0" u="none" strike="noStrike" cap="none" normalizeH="0" baseline="0" dirty="0">
                <a:ln>
                  <a:noFill/>
                </a:ln>
                <a:solidFill>
                  <a:srgbClr val="000000"/>
                </a:solidFill>
                <a:effectLst/>
                <a:latin typeface="+mn-lt"/>
              </a:rPr>
              <a:t>Years 2021–2023 are pooled person-years; without panel tracking, </a:t>
            </a:r>
            <a:r>
              <a:rPr kumimoji="0" lang="en-US" altLang="en-US" sz="1400" b="1" i="0" u="none" strike="noStrike" cap="none" normalizeH="0" baseline="0" dirty="0">
                <a:ln>
                  <a:noFill/>
                </a:ln>
                <a:solidFill>
                  <a:srgbClr val="000000"/>
                </a:solidFill>
                <a:effectLst/>
                <a:latin typeface="+mn-lt"/>
              </a:rPr>
              <a:t>within-child changes</a:t>
            </a:r>
            <a:r>
              <a:rPr kumimoji="0" lang="en-US" altLang="en-US" sz="1400" b="0" i="0" u="none" strike="noStrike" cap="none" normalizeH="0" baseline="0" dirty="0">
                <a:ln>
                  <a:noFill/>
                </a:ln>
                <a:solidFill>
                  <a:srgbClr val="000000"/>
                </a:solidFill>
                <a:effectLst/>
                <a:latin typeface="+mn-lt"/>
              </a:rPr>
              <a:t> in telehealth use cannot be measured, and year effects remain descriptive, not causal.</a:t>
            </a:r>
            <a:endParaRPr kumimoji="0" lang="en-US" altLang="en-US" sz="1400" b="0" i="0" u="none" strike="noStrike" cap="none" normalizeH="0" baseline="0" dirty="0">
              <a:ln>
                <a:noFill/>
              </a:ln>
              <a:solidFill>
                <a:schemeClr val="tx1"/>
              </a:solidFill>
              <a:effectLst/>
              <a:latin typeface="+mn-lt"/>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1" i="0" u="none" strike="noStrike" cap="none" normalizeH="0" baseline="0" dirty="0">
                <a:ln>
                  <a:noFill/>
                </a:ln>
                <a:solidFill>
                  <a:srgbClr val="000000"/>
                </a:solidFill>
                <a:effectLst/>
                <a:latin typeface="+mn-lt"/>
              </a:rPr>
              <a:t>Potential Unmeasured Confounding</a:t>
            </a:r>
            <a:br>
              <a:rPr kumimoji="0" lang="en-US" altLang="en-US" sz="1400" b="0" i="0" u="none" strike="noStrike" cap="none" normalizeH="0" baseline="0" dirty="0">
                <a:ln>
                  <a:noFill/>
                </a:ln>
                <a:solidFill>
                  <a:srgbClr val="000000"/>
                </a:solidFill>
                <a:effectLst/>
                <a:latin typeface="+mn-lt"/>
              </a:rPr>
            </a:br>
            <a:r>
              <a:rPr kumimoji="0" lang="en-US" altLang="en-US" sz="1400" b="0" i="0" u="none" strike="noStrike" cap="none" normalizeH="0" baseline="0" dirty="0">
                <a:ln>
                  <a:noFill/>
                </a:ln>
                <a:solidFill>
                  <a:srgbClr val="000000"/>
                </a:solidFill>
                <a:effectLst/>
                <a:latin typeface="+mn-lt"/>
              </a:rPr>
              <a:t>Digital access (device availability, internet quality), parental work flexibility, provider telehealth policies, and state-level telehealth mandates are </a:t>
            </a:r>
            <a:r>
              <a:rPr kumimoji="0" lang="en-US" altLang="en-US" sz="1400" b="1" i="0" u="none" strike="noStrike" cap="none" normalizeH="0" baseline="0" dirty="0">
                <a:ln>
                  <a:noFill/>
                </a:ln>
                <a:solidFill>
                  <a:srgbClr val="000000"/>
                </a:solidFill>
                <a:effectLst/>
                <a:latin typeface="+mn-lt"/>
              </a:rPr>
              <a:t>not observed</a:t>
            </a:r>
            <a:r>
              <a:rPr kumimoji="0" lang="en-US" altLang="en-US" sz="1400" b="0" i="0" u="none" strike="noStrike" cap="none" normalizeH="0" baseline="0" dirty="0">
                <a:ln>
                  <a:noFill/>
                </a:ln>
                <a:solidFill>
                  <a:srgbClr val="000000"/>
                </a:solidFill>
                <a:effectLst/>
                <a:latin typeface="+mn-lt"/>
              </a:rPr>
              <a:t>, leaving residual confounding.</a:t>
            </a:r>
            <a:endParaRPr kumimoji="0" lang="en-US" altLang="en-US" sz="1400" b="0" i="0" u="none" strike="noStrike" cap="none" normalizeH="0" baseline="0" dirty="0">
              <a:ln>
                <a:noFill/>
              </a:ln>
              <a:solidFill>
                <a:schemeClr val="tx1"/>
              </a:solidFill>
              <a:effectLst/>
              <a:latin typeface="+mn-lt"/>
            </a:endParaRPr>
          </a:p>
          <a:p>
            <a:pPr lvl="0" defTabSz="914400">
              <a:buFont typeface="+mj-lt"/>
              <a:buAutoNum type="arabicPeriod"/>
            </a:pPr>
            <a:r>
              <a:rPr kumimoji="0" lang="en-US" altLang="en-US" sz="1400" b="1" i="0" u="none" strike="noStrike" cap="none" normalizeH="0" baseline="0" dirty="0">
                <a:ln>
                  <a:noFill/>
                </a:ln>
                <a:solidFill>
                  <a:srgbClr val="000000"/>
                </a:solidFill>
                <a:effectLst/>
                <a:latin typeface="+mn-lt"/>
              </a:rPr>
              <a:t>Small Telehealth Subsample</a:t>
            </a:r>
            <a:br>
              <a:rPr kumimoji="0" lang="en-US" altLang="en-US" sz="1400" b="0" i="0" u="none" strike="noStrike" cap="none" normalizeH="0" baseline="0" dirty="0">
                <a:ln>
                  <a:noFill/>
                </a:ln>
                <a:solidFill>
                  <a:srgbClr val="000000"/>
                </a:solidFill>
                <a:effectLst/>
                <a:latin typeface="+mn-lt"/>
              </a:rPr>
            </a:br>
            <a:r>
              <a:rPr kumimoji="0" lang="en-US" altLang="en-US" sz="1400" b="0" i="0" u="none" strike="noStrike" cap="none" normalizeH="0" baseline="0" dirty="0">
                <a:ln>
                  <a:noFill/>
                </a:ln>
                <a:solidFill>
                  <a:srgbClr val="000000"/>
                </a:solidFill>
                <a:effectLst/>
                <a:latin typeface="+mn-lt"/>
              </a:rPr>
              <a:t>The analytic sample collapses when conditioning on telehealth users; high-income and CSHCN groups disproportionately drive model precision, making subgroup comparisons less stable. </a:t>
            </a:r>
            <a:r>
              <a:rPr lang="en-US" sz="1400" dirty="0"/>
              <a:t>MEPS is a household survey. It </a:t>
            </a:r>
            <a:r>
              <a:rPr lang="en-US" sz="1400" b="1" dirty="0"/>
              <a:t>excludes</a:t>
            </a:r>
            <a:r>
              <a:rPr lang="en-US" sz="1400" dirty="0"/>
              <a:t> children in institutions</a:t>
            </a:r>
            <a:endParaRPr kumimoji="0" lang="en-US" altLang="en-US" sz="1400" b="0" i="0" u="none" strike="noStrike" cap="none" normalizeH="0" baseline="0" dirty="0">
              <a:ln>
                <a:noFill/>
              </a:ln>
              <a:solidFill>
                <a:schemeClr val="tx1"/>
              </a:solidFill>
              <a:effectLst/>
              <a:latin typeface="+mn-lt"/>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1" i="0" u="none" strike="noStrike" cap="none" normalizeH="0" baseline="0" dirty="0">
                <a:ln>
                  <a:noFill/>
                </a:ln>
                <a:solidFill>
                  <a:srgbClr val="000000"/>
                </a:solidFill>
                <a:effectLst/>
                <a:latin typeface="+mn-lt"/>
              </a:rPr>
              <a:t>Pandemic Recovery Context</a:t>
            </a:r>
            <a:br>
              <a:rPr kumimoji="0" lang="en-US" altLang="en-US" sz="1400" b="0" i="0" u="none" strike="noStrike" cap="none" normalizeH="0" baseline="0" dirty="0">
                <a:ln>
                  <a:noFill/>
                </a:ln>
                <a:solidFill>
                  <a:srgbClr val="000000"/>
                </a:solidFill>
                <a:effectLst/>
                <a:latin typeface="+mn-lt"/>
              </a:rPr>
            </a:br>
            <a:r>
              <a:rPr kumimoji="0" lang="en-US" altLang="en-US" sz="1400" b="0" i="0" u="none" strike="noStrike" cap="none" normalizeH="0" baseline="0" dirty="0">
                <a:ln>
                  <a:noFill/>
                </a:ln>
                <a:solidFill>
                  <a:srgbClr val="000000"/>
                </a:solidFill>
                <a:effectLst/>
                <a:latin typeface="+mn-lt"/>
              </a:rPr>
              <a:t>The period (2021–2023) reflects </a:t>
            </a:r>
            <a:r>
              <a:rPr kumimoji="0" lang="en-US" altLang="en-US" sz="1400" b="1" i="0" u="none" strike="noStrike" cap="none" normalizeH="0" baseline="0" dirty="0">
                <a:ln>
                  <a:noFill/>
                </a:ln>
                <a:solidFill>
                  <a:srgbClr val="000000"/>
                </a:solidFill>
                <a:effectLst/>
                <a:latin typeface="+mn-lt"/>
              </a:rPr>
              <a:t>post-COVID contraction</a:t>
            </a:r>
            <a:r>
              <a:rPr kumimoji="0" lang="en-US" altLang="en-US" sz="1400" b="0" i="0" u="none" strike="noStrike" cap="none" normalizeH="0" baseline="0" dirty="0">
                <a:ln>
                  <a:noFill/>
                </a:ln>
                <a:solidFill>
                  <a:srgbClr val="000000"/>
                </a:solidFill>
                <a:effectLst/>
                <a:latin typeface="+mn-lt"/>
              </a:rPr>
              <a:t> of telehealth; findings may not generalize to stable, post-policy environments.</a:t>
            </a:r>
          </a:p>
          <a:p>
            <a:pPr lvl="0" defTabSz="914400">
              <a:buFont typeface="+mj-lt"/>
              <a:buAutoNum type="arabicPeriod"/>
            </a:pPr>
            <a:r>
              <a:rPr lang="en-US" sz="1400" b="1" dirty="0"/>
              <a:t>The "Digital Redlining" Blind Spot (Omitted Variable Bias)</a:t>
            </a:r>
            <a:endParaRPr lang="en-US" sz="1400" b="1" dirty="0">
              <a:latin typeface="+mn-lt"/>
            </a:endParaRPr>
          </a:p>
          <a:p>
            <a:pPr marL="0" lvl="0" indent="0" defTabSz="914400">
              <a:buNone/>
            </a:pPr>
            <a:r>
              <a:rPr lang="en-US" sz="1400" dirty="0"/>
              <a:t>	Model does not control </a:t>
            </a:r>
            <a:r>
              <a:rPr lang="en-US" sz="1400" dirty="0">
                <a:highlight>
                  <a:srgbClr val="FFFF00"/>
                </a:highlight>
              </a:rPr>
              <a:t>for broadband access </a:t>
            </a:r>
            <a:r>
              <a:rPr lang="en-US" sz="1400" dirty="0"/>
              <a:t>or digital literacy.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and Policy Implications</a:t>
            </a:r>
            <a:endParaRPr dirty="0"/>
          </a:p>
        </p:txBody>
      </p:sp>
      <p:sp>
        <p:nvSpPr>
          <p:cNvPr id="3" name="Content Placeholder 2"/>
          <p:cNvSpPr>
            <a:spLocks noGrp="1"/>
          </p:cNvSpPr>
          <p:nvPr>
            <p:ph idx="1"/>
          </p:nvPr>
        </p:nvSpPr>
        <p:spPr>
          <a:xfrm>
            <a:off x="457200" y="1600201"/>
            <a:ext cx="8229600" cy="3055619"/>
          </a:xfrm>
        </p:spPr>
        <p:txBody>
          <a:bodyPr>
            <a:normAutofit/>
          </a:bodyPr>
          <a:lstStyle/>
          <a:p>
            <a:pPr marL="0" indent="0">
              <a:buNone/>
            </a:pPr>
            <a:r>
              <a:rPr lang="en-US" sz="2400" b="1" dirty="0"/>
              <a:t>The Digital Divide Persists</a:t>
            </a:r>
          </a:p>
          <a:p>
            <a:pPr marL="0" indent="0">
              <a:buNone/>
            </a:pPr>
            <a:r>
              <a:rPr lang="en-US" sz="2400" dirty="0"/>
              <a:t>Telehealth in the post-pandemic period primarily functioned as a "luxury" supplement for higher-income families, not a safety net for the vulnerable.</a:t>
            </a:r>
          </a:p>
          <a:p>
            <a:pPr marL="0" indent="0">
              <a:buNone/>
            </a:pPr>
            <a:r>
              <a:rPr lang="en-US" sz="2400" b="1" dirty="0"/>
              <a:t>Uninsured are Excluded</a:t>
            </a:r>
          </a:p>
          <a:p>
            <a:pPr marL="0" indent="0">
              <a:buNone/>
            </a:pPr>
            <a:r>
              <a:rPr lang="en-US" sz="2400" dirty="0"/>
              <a:t>Children without insurance are effectively locked out of the telehealth revolution, reinforcing disparities.</a:t>
            </a:r>
          </a:p>
          <a:p>
            <a:pPr marL="0" indent="0">
              <a:buNone/>
            </a:pPr>
            <a:endParaRPr lang="en-US" sz="2400" b="1" dirty="0"/>
          </a:p>
          <a:p>
            <a:pPr marL="0" indent="0">
              <a:buNone/>
            </a:pPr>
            <a:endParaRPr sz="2400" dirty="0"/>
          </a:p>
        </p:txBody>
      </p:sp>
      <p:sp>
        <p:nvSpPr>
          <p:cNvPr id="5" name="Rectangle 2">
            <a:extLst>
              <a:ext uri="{FF2B5EF4-FFF2-40B4-BE49-F238E27FC236}">
                <a16:creationId xmlns:a16="http://schemas.microsoft.com/office/drawing/2014/main" id="{E1BEEDC9-8B94-E586-93E5-4B18B8741E0E}"/>
              </a:ext>
            </a:extLst>
          </p:cNvPr>
          <p:cNvSpPr>
            <a:spLocks noChangeArrowheads="1"/>
          </p:cNvSpPr>
          <p:nvPr/>
        </p:nvSpPr>
        <p:spPr bwMode="auto">
          <a:xfrm>
            <a:off x="457200" y="5083462"/>
            <a:ext cx="8229600" cy="1384995"/>
          </a:xfrm>
          <a:prstGeom prst="rect">
            <a:avLst/>
          </a:prstGeom>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C000"/>
                </a:solidFill>
                <a:effectLst/>
                <a:latin typeface="+mn-lt"/>
              </a:rPr>
              <a:t>Policy Recommendation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n-lt"/>
              </a:rPr>
              <a:t>Without targeted policy action (broadband subsidies, reimbursement parity for safety-net providers), telehealth may </a:t>
            </a:r>
            <a:r>
              <a:rPr kumimoji="0" lang="en-US" altLang="en-US" sz="2000" b="1" i="0" u="none" strike="noStrike" cap="none" normalizeH="0" baseline="0" dirty="0">
                <a:ln>
                  <a:noFill/>
                </a:ln>
                <a:solidFill>
                  <a:schemeClr val="tx1"/>
                </a:solidFill>
                <a:effectLst/>
                <a:latin typeface="+mn-lt"/>
              </a:rPr>
              <a:t>reinforce rather than ameliorate</a:t>
            </a:r>
            <a:r>
              <a:rPr kumimoji="0" lang="en-US" altLang="en-US" sz="2000" b="0" i="0" u="none" strike="noStrike" cap="none" normalizeH="0" baseline="0" dirty="0">
                <a:ln>
                  <a:noFill/>
                </a:ln>
                <a:solidFill>
                  <a:schemeClr val="tx1"/>
                </a:solidFill>
                <a:effectLst/>
                <a:latin typeface="+mn-lt"/>
              </a:rPr>
              <a:t> socioeconomic disparities in pediatric care.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065508A-5663-A066-B797-6BE529F09F6C}"/>
              </a:ext>
            </a:extLst>
          </p:cNvPr>
          <p:cNvSpPr>
            <a:spLocks noGrp="1"/>
          </p:cNvSpPr>
          <p:nvPr>
            <p:ph type="body" idx="1"/>
          </p:nvPr>
        </p:nvSpPr>
        <p:spPr>
          <a:xfrm>
            <a:off x="1902236" y="915167"/>
            <a:ext cx="5339528" cy="1131895"/>
          </a:xfrm>
        </p:spPr>
        <p:txBody>
          <a:bodyPr>
            <a:normAutofit/>
          </a:bodyPr>
          <a:lstStyle/>
          <a:p>
            <a:pPr algn="ctr"/>
            <a:r>
              <a:rPr lang="en-US" sz="3600" dirty="0">
                <a:solidFill>
                  <a:schemeClr val="tx2"/>
                </a:solidFill>
              </a:rPr>
              <a:t>Thank You</a:t>
            </a:r>
          </a:p>
          <a:p>
            <a:pPr algn="ctr"/>
            <a:r>
              <a:rPr lang="en-US" dirty="0"/>
              <a:t>Questions?</a:t>
            </a:r>
          </a:p>
        </p:txBody>
      </p:sp>
      <p:sp>
        <p:nvSpPr>
          <p:cNvPr id="7" name="Rectangle 2">
            <a:extLst>
              <a:ext uri="{FF2B5EF4-FFF2-40B4-BE49-F238E27FC236}">
                <a16:creationId xmlns:a16="http://schemas.microsoft.com/office/drawing/2014/main" id="{5FABF613-4B50-E2C8-0E7D-CC23292A3DE7}"/>
              </a:ext>
            </a:extLst>
          </p:cNvPr>
          <p:cNvSpPr>
            <a:spLocks noGrp="1" noChangeArrowheads="1"/>
          </p:cNvSpPr>
          <p:nvPr>
            <p:ph type="title"/>
          </p:nvPr>
        </p:nvSpPr>
        <p:spPr bwMode="auto">
          <a:xfrm>
            <a:off x="722313" y="5388835"/>
            <a:ext cx="709841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6B7280"/>
                </a:solidFill>
                <a:effectLst/>
                <a:latin typeface="Roboto" panose="02000000000000000000" pitchFamily="2" charset="0"/>
              </a:rPr>
              <a:t>Source Material:</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6B7280"/>
                </a:solidFill>
                <a:effectLst/>
                <a:latin typeface="Roboto" panose="02000000000000000000" pitchFamily="2" charset="0"/>
              </a:rPr>
              <a:t>Khatiwada, P. (2025). "Disparities in Pediatric Telehealth Engagement and Care Substitution: A National </a:t>
            </a:r>
            <a:br>
              <a:rPr kumimoji="0" lang="en-US" altLang="en-US" sz="1000" b="0" i="0" u="none" strike="noStrike" cap="none" normalizeH="0" baseline="0" dirty="0">
                <a:ln>
                  <a:noFill/>
                </a:ln>
                <a:solidFill>
                  <a:srgbClr val="6B7280"/>
                </a:solidFill>
                <a:effectLst/>
                <a:latin typeface="Roboto" panose="02000000000000000000" pitchFamily="2" charset="0"/>
              </a:rPr>
            </a:br>
            <a:r>
              <a:rPr kumimoji="0" lang="en-US" altLang="en-US" sz="1000" b="0" i="0" u="none" strike="noStrike" cap="none" normalizeH="0" baseline="0" dirty="0">
                <a:ln>
                  <a:noFill/>
                </a:ln>
                <a:solidFill>
                  <a:srgbClr val="6B7280"/>
                </a:solidFill>
                <a:effectLst/>
                <a:latin typeface="Roboto" panose="02000000000000000000" pitchFamily="2" charset="0"/>
              </a:rPr>
              <a:t>Analysis, 2021–2023". </a:t>
            </a:r>
            <a:r>
              <a:rPr kumimoji="0" lang="en-US" altLang="en-US" sz="1000" b="0" i="0" u="none" strike="noStrike" cap="none" normalizeH="0" baseline="0" dirty="0">
                <a:ln>
                  <a:noFill/>
                </a:ln>
                <a:solidFill>
                  <a:srgbClr val="6B7280"/>
                </a:solidFill>
                <a:effectLst/>
                <a:highlight>
                  <a:srgbClr val="FFFF00"/>
                </a:highlight>
                <a:latin typeface="Roboto" panose="02000000000000000000" pitchFamily="2" charset="0"/>
              </a:rPr>
              <a:t>[Unpublished Class Project]. </a:t>
            </a:r>
            <a:r>
              <a:rPr kumimoji="0" lang="en-US" altLang="en-US" sz="1000" b="0" i="0" u="none" strike="noStrike" cap="none" normalizeH="0" baseline="0" dirty="0">
                <a:ln>
                  <a:noFill/>
                </a:ln>
                <a:solidFill>
                  <a:srgbClr val="6B7280"/>
                </a:solidFill>
                <a:effectLst/>
                <a:latin typeface="Roboto" panose="02000000000000000000" pitchFamily="2" charset="0"/>
              </a:rPr>
              <a:t>Medical Expenditure Panel Survey (MEPS) 2021-2023 Public Use Files.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75A64DE2-AD7E-9F31-C2E7-CD459C26F4A2}"/>
              </a:ext>
            </a:extLst>
          </p:cNvPr>
          <p:cNvSpPr txBox="1"/>
          <p:nvPr/>
        </p:nvSpPr>
        <p:spPr>
          <a:xfrm>
            <a:off x="722313" y="3429000"/>
            <a:ext cx="7873047" cy="1754326"/>
          </a:xfrm>
          <a:prstGeom prst="rect">
            <a:avLst/>
          </a:prstGeom>
          <a:noFill/>
        </p:spPr>
        <p:txBody>
          <a:bodyPr wrap="square">
            <a:spAutoFit/>
          </a:bodyPr>
          <a:lstStyle/>
          <a:p>
            <a:pPr algn="l">
              <a:buNone/>
            </a:pPr>
            <a:r>
              <a:rPr lang="en-US" b="1" i="0" u="none" strike="noStrike" dirty="0">
                <a:solidFill>
                  <a:srgbClr val="000000"/>
                </a:solidFill>
                <a:effectLst/>
              </a:rPr>
              <a:t>NEXT &gt;&gt;</a:t>
            </a:r>
          </a:p>
          <a:p>
            <a:r>
              <a:rPr lang="en-US" b="1" dirty="0">
                <a:solidFill>
                  <a:srgbClr val="000000"/>
                </a:solidFill>
              </a:rPr>
              <a:t>Step [Immediate] </a:t>
            </a:r>
            <a:r>
              <a:rPr lang="en-US" b="1" i="0" u="none" strike="noStrike" dirty="0">
                <a:solidFill>
                  <a:srgbClr val="000000"/>
                </a:solidFill>
                <a:effectLst/>
              </a:rPr>
              <a:t>to strengthen the paper:</a:t>
            </a:r>
            <a:br>
              <a:rPr lang="en-US" b="0" i="0" u="none" strike="noStrike" dirty="0">
                <a:solidFill>
                  <a:srgbClr val="000000"/>
                </a:solidFill>
                <a:effectLst/>
              </a:rPr>
            </a:br>
            <a:r>
              <a:rPr lang="en-US" b="0" i="0" u="none" strike="noStrike" dirty="0">
                <a:solidFill>
                  <a:srgbClr val="000000"/>
                </a:solidFill>
                <a:effectLst/>
              </a:rPr>
              <a:t>Add mechanisms + robustness checks + narrative/context explaining the decline.</a:t>
            </a:r>
          </a:p>
          <a:p>
            <a:pPr algn="l">
              <a:buNone/>
            </a:pPr>
            <a:r>
              <a:rPr lang="en-US" b="1" dirty="0">
                <a:solidFill>
                  <a:srgbClr val="000000"/>
                </a:solidFill>
              </a:rPr>
              <a:t>S</a:t>
            </a:r>
            <a:r>
              <a:rPr lang="en-US" b="1" i="0" u="none" strike="noStrike" dirty="0">
                <a:solidFill>
                  <a:srgbClr val="000000"/>
                </a:solidFill>
                <a:effectLst/>
              </a:rPr>
              <a:t>tep to deepen the research:</a:t>
            </a:r>
            <a:br>
              <a:rPr lang="en-US" b="0" i="0" u="none" strike="noStrike" dirty="0">
                <a:solidFill>
                  <a:srgbClr val="000000"/>
                </a:solidFill>
                <a:effectLst/>
              </a:rPr>
            </a:br>
            <a:r>
              <a:rPr lang="en-US" b="0" i="0" u="none" strike="noStrike" dirty="0">
                <a:solidFill>
                  <a:srgbClr val="000000"/>
                </a:solidFill>
                <a:effectLst/>
              </a:rPr>
              <a:t>Pull in new MEPS variables (digital access), merge state-level telehealth policy/broadband data, and situate findings in recent literature.</a:t>
            </a:r>
          </a:p>
        </p:txBody>
      </p:sp>
    </p:spTree>
    <p:extLst>
      <p:ext uri="{BB962C8B-B14F-4D97-AF65-F5344CB8AC3E}">
        <p14:creationId xmlns:p14="http://schemas.microsoft.com/office/powerpoint/2010/main" val="3122646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TotalTime>
  <Words>5065</Words>
  <Application>Microsoft Macintosh PowerPoint</Application>
  <PresentationFormat>On-screen Show (4:3)</PresentationFormat>
  <Paragraphs>495</Paragraphs>
  <Slides>26</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Arial</vt:lpstr>
      <vt:lpstr>Calibri</vt:lpstr>
      <vt:lpstr>Courier New</vt:lpstr>
      <vt:lpstr>Google Sans Text</vt:lpstr>
      <vt:lpstr>Roboto</vt:lpstr>
      <vt:lpstr>Wingdings</vt:lpstr>
      <vt:lpstr>Office Theme</vt:lpstr>
      <vt:lpstr>A National Analysis, 2021-2023</vt:lpstr>
      <vt:lpstr>Background and Context</vt:lpstr>
      <vt:lpstr>Research Gaps Identified</vt:lpstr>
      <vt:lpstr>Research Questions</vt:lpstr>
      <vt:lpstr>Study Hypotheses</vt:lpstr>
      <vt:lpstr>Conceptual Framework</vt:lpstr>
      <vt:lpstr>Data Source and Study Population</vt:lpstr>
      <vt:lpstr>Key Variables</vt:lpstr>
      <vt:lpstr>Descriptive Statistics: Table 1</vt:lpstr>
      <vt:lpstr>Descriptive Statistics: Table 1</vt:lpstr>
      <vt:lpstr>Descriptive Statistics: Trends</vt:lpstr>
      <vt:lpstr>Panel C: Disparities in Healthcare Utilization (Weighted Means)</vt:lpstr>
      <vt:lpstr>Inferential Statistics</vt:lpstr>
      <vt:lpstr>Access (Model 1): Barriers to Telehealth Access  (Logistic Regression)</vt:lpstr>
      <vt:lpstr>marginsplot</vt:lpstr>
      <vt:lpstr>Intensity (Model 2): Telehealth Visit Intensity (Negative Binomial Regression)</vt:lpstr>
      <vt:lpstr>Model 2: Telehealth Visits Counts</vt:lpstr>
      <vt:lpstr>marginsplot</vt:lpstr>
      <vt:lpstr>Supplementation (Model 3): In-Person Visit Intensity (Negative Binomial Regression)</vt:lpstr>
      <vt:lpstr>Composition (Model 4): Telehealth Share of Care</vt:lpstr>
      <vt:lpstr>Summary</vt:lpstr>
      <vt:lpstr>Model 5: Poverty × Year Interaction (Telehealth Visits)</vt:lpstr>
      <vt:lpstr>The “Killer” Finding</vt:lpstr>
      <vt:lpstr>Limitations</vt:lpstr>
      <vt:lpstr>Conclusion and Policy Implications</vt:lpstr>
      <vt:lpstr>Source Material: Khatiwada, P. (2025). "Disparities in Pediatric Telehealth Engagement and Care Substitution: A National  Analysis, 2021–2023". [Unpublished Class Project]. Medical Expenditure Panel Survey (MEPS) 2021-2023 Public Use Files.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Prashant Khatiwada</cp:lastModifiedBy>
  <cp:revision>1</cp:revision>
  <dcterms:created xsi:type="dcterms:W3CDTF">2013-01-27T09:14:16Z</dcterms:created>
  <dcterms:modified xsi:type="dcterms:W3CDTF">2025-12-07T20:34:18Z</dcterms:modified>
  <cp:category/>
</cp:coreProperties>
</file>